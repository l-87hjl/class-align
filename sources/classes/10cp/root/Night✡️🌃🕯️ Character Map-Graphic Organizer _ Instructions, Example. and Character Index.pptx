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47B2D0-FF39-4DC8-A9C3-F9EA9D060C33}">
  <a:tblStyle styleId="{8D47B2D0-FF39-4DC8-A9C3-F9EA9D060C3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26181f8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2526181f87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26181f8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2526181f87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5b4783f0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65b4783f03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5b4783f03_1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5b4783f03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5b4783f03_1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5b4783f03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26181f878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26181f87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737f592fc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2737f592fc9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3a108903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273a108903a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8" y="0"/>
            <a:ext cx="121807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7200"/>
              <a:buFont typeface="Arial"/>
              <a:buNone/>
              <a:defRPr b="0" i="0" sz="72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838200" y="17120"/>
            <a:ext cx="10515600" cy="12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38200" y="1535722"/>
            <a:ext cx="10515600" cy="482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8200" y="17120"/>
            <a:ext cx="10515600" cy="12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8200" y="1569308"/>
            <a:ext cx="5181600" cy="4769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6172200" y="1569308"/>
            <a:ext cx="5181600" cy="4769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838200" y="0"/>
            <a:ext cx="10515600" cy="1254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9788" y="1526705"/>
            <a:ext cx="5157787" cy="4627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839788" y="2162432"/>
            <a:ext cx="5157787" cy="4207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6172200" y="1526705"/>
            <a:ext cx="5183188" cy="4627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6172200" y="2162432"/>
            <a:ext cx="5183188" cy="4207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838200" y="17120"/>
            <a:ext cx="10515600" cy="12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838200" y="17120"/>
            <a:ext cx="10515600" cy="12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3683378" y="-1309455"/>
            <a:ext cx="482524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838200" y="17120"/>
            <a:ext cx="10515600" cy="12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4"/>
          <p:cNvGrpSpPr/>
          <p:nvPr/>
        </p:nvGrpSpPr>
        <p:grpSpPr>
          <a:xfrm>
            <a:off x="0" y="0"/>
            <a:ext cx="12192000" cy="6858000"/>
            <a:chOff x="403860" y="2040695"/>
            <a:chExt cx="914400" cy="1083505"/>
          </a:xfrm>
        </p:grpSpPr>
        <p:sp>
          <p:nvSpPr>
            <p:cNvPr id="92" name="Google Shape;92;p14"/>
            <p:cNvSpPr/>
            <p:nvPr/>
          </p:nvSpPr>
          <p:spPr>
            <a:xfrm>
              <a:off x="403860" y="2110740"/>
              <a:ext cx="914400" cy="914400"/>
            </a:xfrm>
            <a:prstGeom prst="rect">
              <a:avLst/>
            </a:prstGeom>
            <a:solidFill>
              <a:srgbClr val="1D59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403860" y="2040695"/>
              <a:ext cx="914400" cy="99060"/>
            </a:xfrm>
            <a:prstGeom prst="rect">
              <a:avLst/>
            </a:prstGeom>
            <a:solidFill>
              <a:srgbClr val="F5A1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03860" y="3025140"/>
              <a:ext cx="914400" cy="99060"/>
            </a:xfrm>
            <a:prstGeom prst="rect">
              <a:avLst/>
            </a:prstGeom>
            <a:solidFill>
              <a:srgbClr val="F5A1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4"/>
          <p:cNvSpPr txBox="1"/>
          <p:nvPr>
            <p:ph type="title"/>
          </p:nvPr>
        </p:nvSpPr>
        <p:spPr>
          <a:xfrm>
            <a:off x="838200" y="2718550"/>
            <a:ext cx="10515600" cy="12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1"/>
            <a:ext cx="12194328" cy="1447800"/>
            <a:chOff x="0" y="-1898"/>
            <a:chExt cx="12194328" cy="1608425"/>
          </a:xfrm>
        </p:grpSpPr>
        <p:sp>
          <p:nvSpPr>
            <p:cNvPr id="7" name="Google Shape;7;p1"/>
            <p:cNvSpPr/>
            <p:nvPr/>
          </p:nvSpPr>
          <p:spPr>
            <a:xfrm>
              <a:off x="0" y="-1898"/>
              <a:ext cx="12192000" cy="1495650"/>
            </a:xfrm>
            <a:prstGeom prst="rect">
              <a:avLst/>
            </a:prstGeom>
            <a:solidFill>
              <a:srgbClr val="1D59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5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28" y="1393803"/>
              <a:ext cx="12192000" cy="212724"/>
            </a:xfrm>
            <a:prstGeom prst="rect">
              <a:avLst/>
            </a:prstGeom>
            <a:solidFill>
              <a:srgbClr val="F5A1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9;p1"/>
          <p:cNvSpPr txBox="1"/>
          <p:nvPr>
            <p:ph type="title"/>
          </p:nvPr>
        </p:nvSpPr>
        <p:spPr>
          <a:xfrm>
            <a:off x="838200" y="17120"/>
            <a:ext cx="10515600" cy="12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838200" y="1535722"/>
            <a:ext cx="10515600" cy="482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2632387" y="6462482"/>
            <a:ext cx="949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038600" y="646248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610600" y="64624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8253" y="6465580"/>
            <a:ext cx="2116934" cy="36202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ctrTitle"/>
          </p:nvPr>
        </p:nvSpPr>
        <p:spPr>
          <a:xfrm>
            <a:off x="1070500" y="26156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Arial"/>
              <a:buNone/>
            </a:pPr>
            <a:r>
              <a:rPr b="0" i="1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Night</a:t>
            </a:r>
            <a:endParaRPr i="1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Arial"/>
              <a:buNone/>
            </a:pPr>
            <a:r>
              <a:rPr b="0" i="0" lang="en-US" sz="72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Character Map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Arial"/>
              <a:buNone/>
            </a:pPr>
            <a:r>
              <a:rPr lang="en-US"/>
              <a:t>Graphic Organizer</a:t>
            </a:r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5679235"/>
            <a:ext cx="5861935" cy="1002476"/>
          </a:xfrm>
          <a:prstGeom prst="rect">
            <a:avLst/>
          </a:prstGeom>
          <a:noFill/>
          <a:ln>
            <a:noFill/>
          </a:ln>
          <a:effectLst>
            <a:outerShdw blurRad="381000" rotWithShape="0" algn="ctr" dir="5400000" dist="266700">
              <a:schemeClr val="lt1">
                <a:alpha val="54900"/>
              </a:scheme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838200" y="17120"/>
            <a:ext cx="105156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/>
              <a:t>Directions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108075" y="1601950"/>
            <a:ext cx="11957400" cy="4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For each section (each slide has three sections), write one claim/conclusion, then include one or more supporting quotations from the text accompanied by a citation.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To receive credit on the character map, you must include </a:t>
            </a:r>
            <a:r>
              <a:rPr i="1" lang="en-US" sz="2200">
                <a:latin typeface="Georgia"/>
                <a:ea typeface="Georgia"/>
                <a:cs typeface="Georgia"/>
                <a:sym typeface="Georgia"/>
              </a:rPr>
              <a:t>at least one quotation</a:t>
            </a: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2200">
                <a:latin typeface="Georgia"/>
                <a:ea typeface="Georgia"/>
                <a:cs typeface="Georgia"/>
                <a:sym typeface="Georgia"/>
              </a:rPr>
              <a:t>with a citation</a:t>
            </a: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. If you forgot to add citations (page numbers), you can easily find the page numbers by searching up your quote in the digital version of the text.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838200" y="17120"/>
            <a:ext cx="105156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Akiba Drumer</a:t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36192"/>
            <a:ext cx="5340096" cy="4828031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17" name="Google Shape;117;p17"/>
          <p:cNvGraphicFramePr/>
          <p:nvPr/>
        </p:nvGraphicFramePr>
        <p:xfrm>
          <a:off x="5885825" y="159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{8D47B2D0-FF39-4DC8-A9C3-F9EA9D060C33}</a:tableStyleId>
              </a:tblPr>
              <a:tblGrid>
                <a:gridCol w="6125825"/>
              </a:tblGrid>
              <a:tr h="158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00B5">
                        <a:alpha val="57250"/>
                      </a:srgbClr>
                    </a:solidFill>
                  </a:tcPr>
                </a:tc>
              </a:tr>
              <a:tr h="158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17BBDA">
                        <a:alpha val="53730"/>
                      </a:srgbClr>
                    </a:solidFill>
                  </a:tcPr>
                </a:tc>
              </a:tr>
              <a:tr h="158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CFF00">
                        <a:alpha val="5725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17"/>
          <p:cNvSpPr txBox="1"/>
          <p:nvPr/>
        </p:nvSpPr>
        <p:spPr>
          <a:xfrm>
            <a:off x="2457625" y="2000975"/>
            <a:ext cx="32229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2457625" y="3680229"/>
            <a:ext cx="32229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457625" y="5062075"/>
            <a:ext cx="32229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 title="Night✡️🌃🕯️ Character Map-Graphic Organizer _ Instructions, Example. and Character Index.png"/>
          <p:cNvPicPr preferRelativeResize="0"/>
          <p:nvPr/>
        </p:nvPicPr>
        <p:blipFill rotWithShape="1">
          <a:blip r:embed="rId3">
            <a:alphaModFix/>
          </a:blip>
          <a:srcRect b="0" l="0" r="52119" t="0"/>
          <a:stretch/>
        </p:blipFill>
        <p:spPr>
          <a:xfrm>
            <a:off x="6350000" y="236138"/>
            <a:ext cx="5435600" cy="63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139700" y="203200"/>
            <a:ext cx="61215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Side Boxes:</a:t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These are for observations and connections — not claims.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190500" y="1625600"/>
            <a:ext cx="64644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Info / Traits</a:t>
            </a:r>
            <a:b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➤ Who is the character? What do they do? What are they like?</a:t>
            </a:r>
            <a:b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Effect on Elie (as a child or adult)</a:t>
            </a:r>
            <a:b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➤ How does this character affect Elie emotionally, psychologically, or morally?</a:t>
            </a:r>
            <a:b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Effect on Wiesel’s Faith</a:t>
            </a:r>
            <a:b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➤ How does this character’s experience or behavior shape Elie’s beliefs about God?</a:t>
            </a:r>
            <a:br>
              <a:rPr b="1" lang="en-US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139700" y="5537200"/>
            <a:ext cx="61215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These don’t need to be “arguments” — they are insights, patterns, or lessons that you notice. You’re just writing down what you see or think is important.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8"/>
          <p:cNvCxnSpPr/>
          <p:nvPr/>
        </p:nvCxnSpPr>
        <p:spPr>
          <a:xfrm>
            <a:off x="3454400" y="1955800"/>
            <a:ext cx="5765700" cy="4953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8"/>
          <p:cNvCxnSpPr/>
          <p:nvPr/>
        </p:nvCxnSpPr>
        <p:spPr>
          <a:xfrm>
            <a:off x="4495800" y="3181363"/>
            <a:ext cx="5143500" cy="844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8"/>
          <p:cNvCxnSpPr/>
          <p:nvPr/>
        </p:nvCxnSpPr>
        <p:spPr>
          <a:xfrm>
            <a:off x="3657600" y="4483100"/>
            <a:ext cx="6642000" cy="888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9" title="Night✡️🌃🕯️ Character Map-Graphic Organizer _ Instructions, Example. and Character Index.png"/>
          <p:cNvPicPr preferRelativeResize="0"/>
          <p:nvPr/>
        </p:nvPicPr>
        <p:blipFill rotWithShape="1">
          <a:blip r:embed="rId3">
            <a:alphaModFix/>
          </a:blip>
          <a:srcRect b="0" l="54034" r="0" t="0"/>
          <a:stretch/>
        </p:blipFill>
        <p:spPr>
          <a:xfrm>
            <a:off x="342900" y="236138"/>
            <a:ext cx="5218150" cy="63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5791200" y="158850"/>
            <a:ext cx="61215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Claim + Quote Section:</a:t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Do not just drop a quote. Write a complete sentence that makes a point. Then support your point with a quote and citation.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5842000" y="1581250"/>
            <a:ext cx="62739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Make a claim about the character — what they do, represent, or show.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Support it with a quote from the text that proves your claim.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Include a citation (Wiesel __).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5842000" y="3092550"/>
            <a:ext cx="62739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Make a claim about the character — what they do, represent, or show.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Support it with a quote from the text that proves your claim.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Include a citation (Wiesel __).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5842000" y="4699050"/>
            <a:ext cx="62739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Make a claim about the character — what they do, represent, or show.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Support it with a quote from the text that proves your claim.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Include a citation (Wiesel __).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41" name="Google Shape;141;p19"/>
          <p:cNvCxnSpPr>
            <a:stCxn id="138" idx="1"/>
          </p:cNvCxnSpPr>
          <p:nvPr/>
        </p:nvCxnSpPr>
        <p:spPr>
          <a:xfrm flipH="1">
            <a:off x="3352900" y="2384500"/>
            <a:ext cx="2489100" cy="15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9"/>
          <p:cNvCxnSpPr>
            <a:stCxn id="139" idx="1"/>
          </p:cNvCxnSpPr>
          <p:nvPr/>
        </p:nvCxnSpPr>
        <p:spPr>
          <a:xfrm flipH="1">
            <a:off x="3352900" y="3895800"/>
            <a:ext cx="2489100" cy="516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9"/>
          <p:cNvCxnSpPr>
            <a:stCxn id="140" idx="1"/>
          </p:cNvCxnSpPr>
          <p:nvPr/>
        </p:nvCxnSpPr>
        <p:spPr>
          <a:xfrm rot="10800000">
            <a:off x="3276700" y="5448300"/>
            <a:ext cx="2565300" cy="54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838200" y="17120"/>
            <a:ext cx="105156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/>
              <a:t>Character Index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108075" y="1601950"/>
            <a:ext cx="3777600" cy="4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1. Moishe the Beadle (p. 3-8)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2. Hilda (p. 4, 8)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3. Bea (p. 4)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4. Tzipora (p. 4, 19)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5. Eliezer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6. Malka (p. 7)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7. Tobie (p. 7)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8. Moishe Chaim Berkowitz (p. 9)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9. Mrs. Kahn (p. 10)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10. Ezra Malik (p. 12)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8006150" y="1601950"/>
            <a:ext cx="4120500" cy="51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22. Juliek (p. 49, 61-62, 93-95)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23. Louis (p. 49)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24. Hans (p. 49)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25. Franek (p. 49, 55-56)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26. Idek (p. 50, 53, 54, 56-58)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27. Yossi (p. 50, 71-72)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28. Tibi (p. 50, 71-72)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29. Alphonse (p. 51)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30. Zalman (p. 86)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31. Rabbi Eliahu (p. 90-91) 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Georgia"/>
              <a:buChar char="●"/>
            </a:pPr>
            <a:r>
              <a:rPr lang="en-US" sz="2200">
                <a:latin typeface="Georgia"/>
                <a:ea typeface="Georgia"/>
                <a:cs typeface="Georgia"/>
                <a:sym typeface="Georgia"/>
              </a:rPr>
              <a:t>32. Meir Katz (p. 37, 102-103)</a:t>
            </a:r>
            <a:endParaRPr sz="2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3885650" y="1602100"/>
            <a:ext cx="4120500" cy="51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11. Stern (p. 12, 37)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12. Batia Reich (p. 14)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13. Uncle Mendel (p. 20)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14. Maria (p. 20)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15. Mrs. Schächter (p. 24-28)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16. Béla Katz (p. 35)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17. Yehiel (p. 36)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18. Stein (p. 43-45)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19. Reizel (p. 43-45)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20. Akiba Drumer (p. 45, 51, 76)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Char char="●"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21. Hersh Genud (p. 45) </a:t>
            </a:r>
            <a:endParaRPr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838200" y="17120"/>
            <a:ext cx="105156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/>
              <a:t>Slide Completion Schedule</a:t>
            </a:r>
            <a:endParaRPr/>
          </a:p>
        </p:txBody>
      </p:sp>
      <p:sp>
        <p:nvSpPr>
          <p:cNvPr id="161" name="Google Shape;161;p22"/>
          <p:cNvSpPr txBox="1"/>
          <p:nvPr/>
        </p:nvSpPr>
        <p:spPr>
          <a:xfrm>
            <a:off x="108075" y="1601950"/>
            <a:ext cx="7488900" cy="4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Eliezer (Elie) Wiesel (</a:t>
            </a: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Elie’s Faith at the Beginning of The Novel (Chapter 1: pre-Holocaust)): </a:t>
            </a:r>
            <a:r>
              <a:rPr lang="en-US" sz="2000"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N/A</a:t>
            </a:r>
            <a:endParaRPr sz="2000">
              <a:highlight>
                <a:srgbClr val="FFFF00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Moishe the Beadle: </a:t>
            </a:r>
            <a:r>
              <a:rPr lang="en-US" sz="2000"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9/12</a:t>
            </a:r>
            <a:endParaRPr sz="2000">
              <a:highlight>
                <a:srgbClr val="FFFF00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Idek: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9/12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Franek: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9/12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Tibi &amp; Yosi: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9/19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Eliezer (Elie) Wiesel (Elie’s Faith at the Middle of The Novel):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9/19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Juliek: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9/26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Eliezer (Elie) Wiesel (Elie’s Faith at the End of The Novel):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9/26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Rabbi Eliahou: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10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/17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Georgia"/>
              <a:buChar char="●"/>
            </a:pP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Elie's Father (Shlomo Wiesel):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10/17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●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DUE: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10/24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BT-Powerpoint-Templat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