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19050000" cx="7620000"/>
  <p:notesSz cx="6858000" cy="9144000"/>
  <p:embeddedFontLst>
    <p:embeddedFont>
      <p:font typeface="Caveat"/>
      <p:regular r:id="rId8"/>
      <p:bold r:id="rId9"/>
    </p:embeddedFont>
    <p:embeddedFont>
      <p:font typeface="Playfair Display"/>
      <p:regular r:id="rId10"/>
      <p:bold r:id="rId11"/>
      <p:italic r:id="rId12"/>
      <p:boldItalic r:id="rId13"/>
    </p:embeddedFont>
    <p:embeddedFont>
      <p:font typeface="Source Code Pro"/>
      <p:regular r:id="rId14"/>
      <p:bold r:id="rId15"/>
      <p:italic r:id="rId16"/>
      <p:boldItalic r:id="rId17"/>
    </p:embeddedFont>
    <p:embeddedFont>
      <p:font typeface="EB Garamond"/>
      <p:regular r:id="rId18"/>
      <p:bold r:id="rId19"/>
      <p:italic r:id="rId20"/>
      <p:boldItalic r:id="rId21"/>
    </p:embeddedFont>
    <p:embeddedFont>
      <p:font typeface="Dancing Script"/>
      <p:regular r:id="rId22"/>
      <p:bold r:id="rId23"/>
    </p:embeddedFont>
    <p:embeddedFont>
      <p:font typeface="Barlow"/>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italic.fntdata"/><Relationship Id="rId22" Type="http://schemas.openxmlformats.org/officeDocument/2006/relationships/font" Target="fonts/DancingScript-regular.fntdata"/><Relationship Id="rId21" Type="http://schemas.openxmlformats.org/officeDocument/2006/relationships/font" Target="fonts/EBGaramond-boldItalic.fntdata"/><Relationship Id="rId24" Type="http://schemas.openxmlformats.org/officeDocument/2006/relationships/font" Target="fonts/Barlow-regular.fntdata"/><Relationship Id="rId23" Type="http://schemas.openxmlformats.org/officeDocument/2006/relationships/font" Target="fonts/DancingScrip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Caveat-bold.fntdata"/><Relationship Id="rId26" Type="http://schemas.openxmlformats.org/officeDocument/2006/relationships/font" Target="fonts/Barlow-italic.fntdata"/><Relationship Id="rId25" Type="http://schemas.openxmlformats.org/officeDocument/2006/relationships/font" Target="fonts/Barlow-bold.fntdata"/><Relationship Id="rId27" Type="http://schemas.openxmlformats.org/officeDocument/2006/relationships/font" Target="fonts/Barlow-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Caveat-regular.fntdata"/><Relationship Id="rId11" Type="http://schemas.openxmlformats.org/officeDocument/2006/relationships/font" Target="fonts/PlayfairDisplay-bold.fntdata"/><Relationship Id="rId10" Type="http://schemas.openxmlformats.org/officeDocument/2006/relationships/font" Target="fonts/PlayfairDisplay-regular.fntdata"/><Relationship Id="rId13" Type="http://schemas.openxmlformats.org/officeDocument/2006/relationships/font" Target="fonts/PlayfairDisplay-boldItalic.fntdata"/><Relationship Id="rId12" Type="http://schemas.openxmlformats.org/officeDocument/2006/relationships/font" Target="fonts/PlayfairDisplay-italic.fntdata"/><Relationship Id="rId15" Type="http://schemas.openxmlformats.org/officeDocument/2006/relationships/font" Target="fonts/SourceCodePro-bold.fntdata"/><Relationship Id="rId14" Type="http://schemas.openxmlformats.org/officeDocument/2006/relationships/font" Target="fonts/SourceCodePro-regular.fntdata"/><Relationship Id="rId17" Type="http://schemas.openxmlformats.org/officeDocument/2006/relationships/font" Target="fonts/SourceCodePro-boldItalic.fntdata"/><Relationship Id="rId16" Type="http://schemas.openxmlformats.org/officeDocument/2006/relationships/font" Target="fonts/SourceCodePro-italic.fntdata"/><Relationship Id="rId19" Type="http://schemas.openxmlformats.org/officeDocument/2006/relationships/font" Target="fonts/EBGaramond-bold.fntdata"/><Relationship Id="rId18" Type="http://schemas.openxmlformats.org/officeDocument/2006/relationships/font" Target="fonts/EBGaramo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8959b149_0_53: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8959b14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81c6c3a40_0_0: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81c6c3a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7.jpg"/><Relationship Id="rId11" Type="http://schemas.openxmlformats.org/officeDocument/2006/relationships/image" Target="../media/image6.png"/><Relationship Id="rId10" Type="http://schemas.openxmlformats.org/officeDocument/2006/relationships/image" Target="../media/image3.png"/><Relationship Id="rId9"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10.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4">
            <a:alphaModFix/>
          </a:blip>
          <a:srcRect b="2892" l="4121" r="3882" t="11550"/>
          <a:stretch/>
        </p:blipFill>
        <p:spPr>
          <a:xfrm>
            <a:off x="314400" y="11382300"/>
            <a:ext cx="7010400" cy="3667199"/>
          </a:xfrm>
          <a:prstGeom prst="rect">
            <a:avLst/>
          </a:prstGeom>
          <a:noFill/>
          <a:ln>
            <a:noFill/>
          </a:ln>
        </p:spPr>
      </p:pic>
      <p:sp>
        <p:nvSpPr>
          <p:cNvPr id="55" name="Google Shape;55;p13"/>
          <p:cNvSpPr txBox="1"/>
          <p:nvPr/>
        </p:nvSpPr>
        <p:spPr>
          <a:xfrm>
            <a:off x="819150" y="13325475"/>
            <a:ext cx="6410400" cy="12384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828675" y="11563350"/>
            <a:ext cx="6258000" cy="12384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7" name="Google Shape;57;p13"/>
          <p:cNvPicPr preferRelativeResize="0"/>
          <p:nvPr/>
        </p:nvPicPr>
        <p:blipFill rotWithShape="1">
          <a:blip r:embed="rId5">
            <a:alphaModFix/>
          </a:blip>
          <a:srcRect b="0" l="31691" r="27386" t="0"/>
          <a:stretch/>
        </p:blipFill>
        <p:spPr>
          <a:xfrm rot="10800000">
            <a:off x="4985887" y="8083125"/>
            <a:ext cx="2447925" cy="3455650"/>
          </a:xfrm>
          <a:prstGeom prst="rect">
            <a:avLst/>
          </a:prstGeom>
          <a:noFill/>
          <a:ln>
            <a:noFill/>
          </a:ln>
        </p:spPr>
      </p:pic>
      <p:pic>
        <p:nvPicPr>
          <p:cNvPr id="58" name="Google Shape;58;p13"/>
          <p:cNvPicPr preferRelativeResize="0"/>
          <p:nvPr/>
        </p:nvPicPr>
        <p:blipFill rotWithShape="1">
          <a:blip r:embed="rId5">
            <a:alphaModFix/>
          </a:blip>
          <a:srcRect b="0" l="31691" r="27386" t="0"/>
          <a:stretch/>
        </p:blipFill>
        <p:spPr>
          <a:xfrm>
            <a:off x="2277675" y="8116300"/>
            <a:ext cx="2447925" cy="3455650"/>
          </a:xfrm>
          <a:prstGeom prst="rect">
            <a:avLst/>
          </a:prstGeom>
          <a:noFill/>
          <a:ln>
            <a:noFill/>
          </a:ln>
        </p:spPr>
      </p:pic>
      <p:sp>
        <p:nvSpPr>
          <p:cNvPr id="59" name="Google Shape;59;p13"/>
          <p:cNvSpPr txBox="1"/>
          <p:nvPr/>
        </p:nvSpPr>
        <p:spPr>
          <a:xfrm>
            <a:off x="3962400" y="3771900"/>
            <a:ext cx="3190800" cy="2712000"/>
          </a:xfrm>
          <a:prstGeom prst="rect">
            <a:avLst/>
          </a:prstGeom>
          <a:gradFill>
            <a:gsLst>
              <a:gs pos="0">
                <a:srgbClr val="DBD4EB"/>
              </a:gs>
              <a:gs pos="100000">
                <a:srgbClr val="9180BB"/>
              </a:gs>
            </a:gsLst>
            <a:path path="circle">
              <a:fillToRect b="50%" l="50%" r="50%" t="50%"/>
            </a:path>
            <a:tileRect/>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13"/>
          <p:cNvPicPr preferRelativeResize="0"/>
          <p:nvPr/>
        </p:nvPicPr>
        <p:blipFill>
          <a:blip r:embed="rId6">
            <a:alphaModFix/>
          </a:blip>
          <a:stretch>
            <a:fillRect/>
          </a:stretch>
        </p:blipFill>
        <p:spPr>
          <a:xfrm>
            <a:off x="-6309700" y="6626072"/>
            <a:ext cx="5149125" cy="4900674"/>
          </a:xfrm>
          <a:prstGeom prst="rect">
            <a:avLst/>
          </a:prstGeom>
          <a:noFill/>
          <a:ln>
            <a:noFill/>
          </a:ln>
        </p:spPr>
      </p:pic>
      <p:sp>
        <p:nvSpPr>
          <p:cNvPr id="61" name="Google Shape;61;p13"/>
          <p:cNvSpPr txBox="1"/>
          <p:nvPr/>
        </p:nvSpPr>
        <p:spPr>
          <a:xfrm>
            <a:off x="-11779675" y="-9525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62" name="Google Shape;62;p13"/>
          <p:cNvSpPr txBox="1"/>
          <p:nvPr/>
        </p:nvSpPr>
        <p:spPr>
          <a:xfrm>
            <a:off x="-11874950" y="121479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63" name="Google Shape;63;p13"/>
          <p:cNvSpPr txBox="1"/>
          <p:nvPr/>
        </p:nvSpPr>
        <p:spPr>
          <a:xfrm>
            <a:off x="314325" y="619125"/>
            <a:ext cx="50058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0">
                <a:solidFill>
                  <a:srgbClr val="351C75"/>
                </a:solidFill>
                <a:latin typeface="Dancing Script"/>
                <a:ea typeface="Dancing Script"/>
                <a:cs typeface="Dancing Script"/>
                <a:sym typeface="Dancing Script"/>
              </a:rPr>
              <a:t>Lauren E. Levesque</a:t>
            </a:r>
            <a:endParaRPr sz="6000">
              <a:latin typeface="Georgia"/>
              <a:ea typeface="Georgia"/>
              <a:cs typeface="Georgia"/>
              <a:sym typeface="Georgia"/>
            </a:endParaRPr>
          </a:p>
        </p:txBody>
      </p:sp>
      <p:sp>
        <p:nvSpPr>
          <p:cNvPr id="64" name="Google Shape;64;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65" name="Google Shape;65;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your name.</a:t>
            </a:r>
            <a:endParaRPr sz="3000"/>
          </a:p>
        </p:txBody>
      </p:sp>
      <p:pic>
        <p:nvPicPr>
          <p:cNvPr id="66" name="Google Shape;66;p13"/>
          <p:cNvPicPr preferRelativeResize="0"/>
          <p:nvPr/>
        </p:nvPicPr>
        <p:blipFill>
          <a:blip r:embed="rId7">
            <a:alphaModFix/>
          </a:blip>
          <a:stretch>
            <a:fillRect/>
          </a:stretch>
        </p:blipFill>
        <p:spPr>
          <a:xfrm>
            <a:off x="371400" y="3697194"/>
            <a:ext cx="3410100" cy="2549705"/>
          </a:xfrm>
          <a:prstGeom prst="rect">
            <a:avLst/>
          </a:prstGeom>
          <a:noFill/>
          <a:ln>
            <a:noFill/>
          </a:ln>
        </p:spPr>
      </p:pic>
      <p:sp>
        <p:nvSpPr>
          <p:cNvPr id="67" name="Google Shape;67;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sp>
        <p:nvSpPr>
          <p:cNvPr id="68" name="Google Shape;68;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sp>
        <p:nvSpPr>
          <p:cNvPr id="69" name="Google Shape;69;p13"/>
          <p:cNvSpPr txBox="1"/>
          <p:nvPr/>
        </p:nvSpPr>
        <p:spPr>
          <a:xfrm>
            <a:off x="457200" y="15173400"/>
            <a:ext cx="2952900" cy="30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E91D63"/>
                </a:solidFill>
                <a:latin typeface="EB Garamond"/>
                <a:ea typeface="EB Garamond"/>
                <a:cs typeface="EB Garamond"/>
                <a:sym typeface="EB Garamond"/>
              </a:rPr>
              <a:t>One thing I am proud of is coming to class on time and revising my writing instead of just accepting their grade when I get them back. Since I get the opportunity to make them up I should. </a:t>
            </a:r>
            <a:endParaRPr b="1" sz="2100">
              <a:solidFill>
                <a:schemeClr val="dk1"/>
              </a:solidFill>
              <a:latin typeface="Georgia"/>
              <a:ea typeface="Georgia"/>
              <a:cs typeface="Georgia"/>
              <a:sym typeface="Georgia"/>
            </a:endParaRPr>
          </a:p>
        </p:txBody>
      </p:sp>
      <p:sp>
        <p:nvSpPr>
          <p:cNvPr id="70" name="Google Shape;70;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sp>
        <p:nvSpPr>
          <p:cNvPr id="71" name="Google Shape;71;p13"/>
          <p:cNvSpPr txBox="1"/>
          <p:nvPr/>
        </p:nvSpPr>
        <p:spPr>
          <a:xfrm>
            <a:off x="3667125" y="15049500"/>
            <a:ext cx="3648000" cy="3352800"/>
          </a:xfrm>
          <a:prstGeom prst="rect">
            <a:avLst/>
          </a:prstGeom>
          <a:solidFill>
            <a:srgbClr val="FF00FF"/>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300">
                <a:solidFill>
                  <a:srgbClr val="FFFFFF"/>
                </a:solidFill>
                <a:latin typeface="Caveat"/>
                <a:ea typeface="Caveat"/>
                <a:cs typeface="Caveat"/>
                <a:sym typeface="Caveat"/>
              </a:rPr>
              <a:t>I</a:t>
            </a:r>
            <a:r>
              <a:rPr lang="en" sz="3000">
                <a:solidFill>
                  <a:srgbClr val="FFFFFF"/>
                </a:solidFill>
                <a:latin typeface="Caveat"/>
                <a:ea typeface="Caveat"/>
                <a:cs typeface="Caveat"/>
                <a:sym typeface="Caveat"/>
              </a:rPr>
              <a:t> did most of the assignments, but next term, I will work harder to attempt the assignments even if it doesn’t look perfect or is not completely finished.</a:t>
            </a:r>
            <a:endParaRPr sz="3000">
              <a:solidFill>
                <a:srgbClr val="FFFFFF"/>
              </a:solidFill>
              <a:latin typeface="Caveat"/>
              <a:ea typeface="Caveat"/>
              <a:cs typeface="Caveat"/>
              <a:sym typeface="Caveat"/>
            </a:endParaRPr>
          </a:p>
        </p:txBody>
      </p:sp>
      <p:sp>
        <p:nvSpPr>
          <p:cNvPr id="72" name="Google Shape;72;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Batsuits and Capes</a:t>
            </a:r>
            <a:endParaRPr sz="2400">
              <a:solidFill>
                <a:schemeClr val="dk1"/>
              </a:solidFill>
              <a:latin typeface="Georgia"/>
              <a:ea typeface="Georgia"/>
              <a:cs typeface="Georgia"/>
              <a:sym typeface="Georgia"/>
            </a:endParaRPr>
          </a:p>
        </p:txBody>
      </p:sp>
      <p:sp>
        <p:nvSpPr>
          <p:cNvPr id="73" name="Google Shape;73;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One assignment I enjoyed was the book report with choices. It was fun to do something creative.</a:t>
            </a:r>
            <a:endParaRPr sz="3000">
              <a:solidFill>
                <a:schemeClr val="dk1"/>
              </a:solidFill>
              <a:latin typeface="Georgia"/>
              <a:ea typeface="Georgia"/>
              <a:cs typeface="Georgia"/>
              <a:sym typeface="Georgia"/>
            </a:endParaRPr>
          </a:p>
        </p:txBody>
      </p:sp>
      <p:sp>
        <p:nvSpPr>
          <p:cNvPr id="74" name="Google Shape;74;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One thing I would like to learn more about is the different types of writing you might have to do for your job. </a:t>
            </a:r>
            <a:endParaRPr sz="2400">
              <a:solidFill>
                <a:schemeClr val="dk1"/>
              </a:solidFill>
              <a:latin typeface="Georgia"/>
              <a:ea typeface="Georgia"/>
              <a:cs typeface="Georgia"/>
              <a:sym typeface="Georgia"/>
            </a:endParaRPr>
          </a:p>
        </p:txBody>
      </p:sp>
      <p:sp>
        <p:nvSpPr>
          <p:cNvPr id="75" name="Google Shape;75;p13"/>
          <p:cNvSpPr txBox="1"/>
          <p:nvPr/>
        </p:nvSpPr>
        <p:spPr>
          <a:xfrm>
            <a:off x="2400300" y="8220000"/>
            <a:ext cx="4924500" cy="30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None/>
            </a:pPr>
            <a:r>
              <a:t/>
            </a:r>
            <a:endParaRPr sz="3300">
              <a:solidFill>
                <a:schemeClr val="dk1"/>
              </a:solidFill>
              <a:latin typeface="Caveat"/>
              <a:ea typeface="Caveat"/>
              <a:cs typeface="Caveat"/>
              <a:sym typeface="Caveat"/>
            </a:endParaRPr>
          </a:p>
          <a:p>
            <a:pPr indent="0" lvl="0" marL="0" rtl="0" algn="l">
              <a:spcBef>
                <a:spcPts val="0"/>
              </a:spcBef>
              <a:spcAft>
                <a:spcPts val="0"/>
              </a:spcAft>
              <a:buClr>
                <a:schemeClr val="dk1"/>
              </a:buClr>
              <a:buSzPts val="1100"/>
              <a:buFont typeface="Arial"/>
              <a:buNone/>
            </a:pPr>
            <a:r>
              <a:rPr lang="en" sz="3300">
                <a:solidFill>
                  <a:srgbClr val="FFFFFF"/>
                </a:solidFill>
                <a:latin typeface="Caveat"/>
                <a:ea typeface="Caveat"/>
                <a:cs typeface="Caveat"/>
                <a:sym typeface="Caveat"/>
              </a:rPr>
              <a:t>Paolo Coelho</a:t>
            </a:r>
            <a:endParaRPr sz="3000">
              <a:solidFill>
                <a:srgbClr val="FFFFFF"/>
              </a:solidFill>
              <a:latin typeface="Georgia"/>
              <a:ea typeface="Georgia"/>
              <a:cs typeface="Georgia"/>
              <a:sym typeface="Georgia"/>
            </a:endParaRPr>
          </a:p>
        </p:txBody>
      </p:sp>
      <p:sp>
        <p:nvSpPr>
          <p:cNvPr id="76" name="Google Shape;76;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425450" lvl="0" marL="457200" marR="0" rtl="0" algn="l">
              <a:lnSpc>
                <a:spcPct val="100000"/>
              </a:lnSpc>
              <a:spcBef>
                <a:spcPts val="0"/>
              </a:spcBef>
              <a:spcAft>
                <a:spcPts val="0"/>
              </a:spcAft>
              <a:buClr>
                <a:srgbClr val="FFFFFF"/>
              </a:buClr>
              <a:buSzPts val="3100"/>
              <a:buFont typeface="Georgia"/>
              <a:buChar char="●"/>
            </a:pPr>
            <a:r>
              <a:rPr b="1" lang="en" sz="2800">
                <a:solidFill>
                  <a:srgbClr val="FFFFFF"/>
                </a:solidFill>
                <a:latin typeface="EB Garamond"/>
                <a:ea typeface="EB Garamond"/>
                <a:cs typeface="EB Garamond"/>
                <a:sym typeface="EB Garamond"/>
              </a:rPr>
              <a:t>My grade accurately reflects my work and work ethic because my grade was a C, and that’s about how much effort I put forth.</a:t>
            </a:r>
            <a:endParaRPr b="1" sz="2800">
              <a:solidFill>
                <a:srgbClr val="FFFFFF"/>
              </a:solidFill>
              <a:latin typeface="EB Garamond"/>
              <a:ea typeface="EB Garamond"/>
              <a:cs typeface="EB Garamond"/>
              <a:sym typeface="EB Garamond"/>
            </a:endParaRPr>
          </a:p>
          <a:p>
            <a:pPr indent="0" lvl="0" marL="0" marR="0" rtl="0" algn="l">
              <a:lnSpc>
                <a:spcPct val="100000"/>
              </a:lnSpc>
              <a:spcBef>
                <a:spcPts val="0"/>
              </a:spcBef>
              <a:spcAft>
                <a:spcPts val="0"/>
              </a:spcAft>
              <a:buNone/>
            </a:pPr>
            <a:r>
              <a:t/>
            </a:r>
            <a:endParaRPr b="1" sz="2800">
              <a:solidFill>
                <a:srgbClr val="FFFFFF"/>
              </a:solidFill>
              <a:latin typeface="EB Garamond"/>
              <a:ea typeface="EB Garamond"/>
              <a:cs typeface="EB Garamond"/>
              <a:sym typeface="EB Garamond"/>
            </a:endParaRPr>
          </a:p>
          <a:p>
            <a:pPr indent="-425450" lvl="0" marL="457200" marR="0" rtl="0" algn="l">
              <a:lnSpc>
                <a:spcPct val="100000"/>
              </a:lnSpc>
              <a:spcBef>
                <a:spcPts val="0"/>
              </a:spcBef>
              <a:spcAft>
                <a:spcPts val="0"/>
              </a:spcAft>
              <a:buClr>
                <a:srgbClr val="FFFFFF"/>
              </a:buClr>
              <a:buSzPts val="3100"/>
              <a:buFont typeface="Georgia"/>
              <a:buChar char="●"/>
            </a:pPr>
            <a:r>
              <a:rPr b="1" lang="en" sz="2800">
                <a:solidFill>
                  <a:srgbClr val="FFFFFF"/>
                </a:solidFill>
                <a:latin typeface="EB Garamond"/>
                <a:ea typeface="EB Garamond"/>
                <a:cs typeface="EB Garamond"/>
                <a:sym typeface="EB Garamond"/>
              </a:rPr>
              <a:t>One strength I could use to improve my grade is to relax so I stop procrastinating and just do my best and not have to worry.</a:t>
            </a:r>
            <a:endParaRPr b="1" sz="2800">
              <a:solidFill>
                <a:srgbClr val="FFFFFF"/>
              </a:solidFill>
              <a:latin typeface="EB Garamond"/>
              <a:ea typeface="EB Garamond"/>
              <a:cs typeface="EB Garamond"/>
              <a:sym typeface="EB Garamond"/>
            </a:endParaRPr>
          </a:p>
        </p:txBody>
      </p:sp>
      <p:sp>
        <p:nvSpPr>
          <p:cNvPr id="77" name="Google Shape;77;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sp>
        <p:nvSpPr>
          <p:cNvPr id="79" name="Google Shape;79;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0" name="Google Shape;80;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 the app (or website) you liked best.</a:t>
            </a:r>
            <a:endParaRPr sz="3000"/>
          </a:p>
        </p:txBody>
      </p:sp>
      <p:sp>
        <p:nvSpPr>
          <p:cNvPr id="81" name="Google Shape;81;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pic>
        <p:nvPicPr>
          <p:cNvPr id="82" name="Google Shape;82;p13"/>
          <p:cNvPicPr preferRelativeResize="0"/>
          <p:nvPr/>
        </p:nvPicPr>
        <p:blipFill>
          <a:blip r:embed="rId8">
            <a:alphaModFix/>
          </a:blip>
          <a:stretch>
            <a:fillRect/>
          </a:stretch>
        </p:blipFill>
        <p:spPr>
          <a:xfrm>
            <a:off x="5320065" y="595740"/>
            <a:ext cx="1995070" cy="1995070"/>
          </a:xfrm>
          <a:prstGeom prst="rect">
            <a:avLst/>
          </a:prstGeom>
          <a:noFill/>
          <a:ln>
            <a:noFill/>
          </a:ln>
        </p:spPr>
      </p:pic>
      <p:sp>
        <p:nvSpPr>
          <p:cNvPr id="83" name="Google Shape;83;p13"/>
          <p:cNvSpPr/>
          <p:nvPr/>
        </p:nvSpPr>
        <p:spPr>
          <a:xfrm>
            <a:off x="2305050" y="8368425"/>
            <a:ext cx="4924500" cy="2204400"/>
          </a:xfrm>
          <a:prstGeom prst="wedgeEllipseCallout">
            <a:avLst>
              <a:gd fmla="val -20833" name="adj1"/>
              <a:gd fmla="val 62500" name="adj2"/>
            </a:avLst>
          </a:prstGeom>
          <a:solidFill>
            <a:srgbClr val="B6D7A8"/>
          </a:solidFill>
          <a:ln cap="flat" cmpd="sng" w="9525">
            <a:solidFill>
              <a:srgbClr val="424242"/>
            </a:solidFill>
            <a:prstDash val="solid"/>
            <a:round/>
            <a:headEnd len="sm" w="sm" type="none"/>
            <a:tailEnd len="sm" w="sm" type="none"/>
          </a:ln>
        </p:spPr>
        <p:txBody>
          <a:bodyPr anchorCtr="0" anchor="ctr" bIns="103175" lIns="103175" spcFirstLastPara="1" rIns="103175" wrap="square" tIns="103175">
            <a:noAutofit/>
          </a:bodyPr>
          <a:lstStyle/>
          <a:p>
            <a:pPr indent="0" lvl="0" marL="0" rtl="0" algn="l">
              <a:spcBef>
                <a:spcPts val="0"/>
              </a:spcBef>
              <a:spcAft>
                <a:spcPts val="0"/>
              </a:spcAft>
              <a:buNone/>
            </a:pPr>
            <a:r>
              <a:rPr lang="en" sz="3300">
                <a:solidFill>
                  <a:schemeClr val="dk1"/>
                </a:solidFill>
                <a:latin typeface="Caveat"/>
                <a:ea typeface="Caveat"/>
                <a:cs typeface="Caveat"/>
                <a:sym typeface="Caveat"/>
              </a:rPr>
              <a:t>A</a:t>
            </a:r>
            <a:r>
              <a:rPr lang="en" sz="2800">
                <a:solidFill>
                  <a:schemeClr val="dk1"/>
                </a:solidFill>
                <a:latin typeface="Caveat"/>
                <a:ea typeface="Caveat"/>
                <a:cs typeface="Caveat"/>
                <a:sym typeface="Caveat"/>
              </a:rPr>
              <a:t>sk yourself if what you’re doing today is getting you closer to where you want to be tomorrow.</a:t>
            </a:r>
            <a:endParaRPr/>
          </a:p>
        </p:txBody>
      </p:sp>
      <p:pic>
        <p:nvPicPr>
          <p:cNvPr id="84" name="Google Shape;84;p13"/>
          <p:cNvPicPr preferRelativeResize="0"/>
          <p:nvPr/>
        </p:nvPicPr>
        <p:blipFill>
          <a:blip r:embed="rId9">
            <a:alphaModFix/>
          </a:blip>
          <a:stretch>
            <a:fillRect/>
          </a:stretch>
        </p:blipFill>
        <p:spPr>
          <a:xfrm>
            <a:off x="371400" y="8985075"/>
            <a:ext cx="1906265" cy="1718100"/>
          </a:xfrm>
          <a:prstGeom prst="rect">
            <a:avLst/>
          </a:prstGeom>
          <a:noFill/>
          <a:ln>
            <a:noFill/>
          </a:ln>
        </p:spPr>
      </p:pic>
      <p:pic>
        <p:nvPicPr>
          <p:cNvPr id="85" name="Google Shape;85;p13"/>
          <p:cNvPicPr preferRelativeResize="0"/>
          <p:nvPr/>
        </p:nvPicPr>
        <p:blipFill>
          <a:blip r:embed="rId10">
            <a:alphaModFix/>
          </a:blip>
          <a:stretch>
            <a:fillRect/>
          </a:stretch>
        </p:blipFill>
        <p:spPr>
          <a:xfrm>
            <a:off x="5511449" y="6567126"/>
            <a:ext cx="1718100" cy="1718100"/>
          </a:xfrm>
          <a:prstGeom prst="rect">
            <a:avLst/>
          </a:prstGeom>
          <a:noFill/>
          <a:ln>
            <a:noFill/>
          </a:ln>
        </p:spPr>
      </p:pic>
      <p:sp>
        <p:nvSpPr>
          <p:cNvPr id="86" name="Google Shape;86;p13"/>
          <p:cNvSpPr txBox="1"/>
          <p:nvPr/>
        </p:nvSpPr>
        <p:spPr>
          <a:xfrm>
            <a:off x="504825" y="417195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19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rPr lang="en" sz="1900">
                <a:solidFill>
                  <a:schemeClr val="dk1"/>
                </a:solidFill>
                <a:latin typeface="Georgia"/>
                <a:ea typeface="Georgia"/>
                <a:cs typeface="Georgia"/>
                <a:sym typeface="Georgia"/>
              </a:rPr>
              <a:t>b</a:t>
            </a:r>
            <a:r>
              <a:rPr lang="en" sz="1900">
                <a:solidFill>
                  <a:schemeClr val="dk1"/>
                </a:solidFill>
                <a:latin typeface="Georgia"/>
                <a:ea typeface="Georgia"/>
                <a:cs typeface="Georgia"/>
                <a:sym typeface="Georgia"/>
              </a:rPr>
              <a:t>y</a:t>
            </a:r>
            <a:endParaRPr sz="1900">
              <a:solidFill>
                <a:schemeClr val="dk1"/>
              </a:solidFill>
              <a:latin typeface="Georgia"/>
              <a:ea typeface="Georgia"/>
              <a:cs typeface="Georgia"/>
              <a:sym typeface="Georgia"/>
            </a:endParaRPr>
          </a:p>
          <a:p>
            <a:pPr indent="0" lvl="0" marL="0" marR="0" rtl="0" algn="l">
              <a:lnSpc>
                <a:spcPct val="100000"/>
              </a:lnSpc>
              <a:spcBef>
                <a:spcPts val="0"/>
              </a:spcBef>
              <a:spcAft>
                <a:spcPts val="0"/>
              </a:spcAft>
              <a:buNone/>
            </a:pPr>
            <a:r>
              <a:rPr lang="en" sz="1900">
                <a:solidFill>
                  <a:schemeClr val="dk1"/>
                </a:solidFill>
                <a:latin typeface="Georgia"/>
                <a:ea typeface="Georgia"/>
                <a:cs typeface="Georgia"/>
                <a:sym typeface="Georgia"/>
              </a:rPr>
              <a:t>Agnieszka Biskup</a:t>
            </a:r>
            <a:endParaRPr sz="1900">
              <a:solidFill>
                <a:schemeClr val="dk1"/>
              </a:solidFill>
              <a:latin typeface="Georgia"/>
              <a:ea typeface="Georgia"/>
              <a:cs typeface="Georgia"/>
              <a:sym typeface="Georgia"/>
            </a:endParaRPr>
          </a:p>
        </p:txBody>
      </p:sp>
      <p:pic>
        <p:nvPicPr>
          <p:cNvPr id="87" name="Google Shape;87;p13"/>
          <p:cNvPicPr preferRelativeResize="0"/>
          <p:nvPr/>
        </p:nvPicPr>
        <p:blipFill>
          <a:blip r:embed="rId11">
            <a:alphaModFix/>
          </a:blip>
          <a:stretch>
            <a:fillRect/>
          </a:stretch>
        </p:blipFill>
        <p:spPr>
          <a:xfrm>
            <a:off x="837075" y="3533282"/>
            <a:ext cx="1467975" cy="1467975"/>
          </a:xfrm>
          <a:prstGeom prst="rect">
            <a:avLst/>
          </a:prstGeom>
          <a:noFill/>
          <a:ln>
            <a:noFill/>
          </a:ln>
        </p:spPr>
      </p:pic>
      <p:cxnSp>
        <p:nvCxnSpPr>
          <p:cNvPr id="88" name="Google Shape;88;p13"/>
          <p:cNvCxnSpPr>
            <a:stCxn id="85" idx="1"/>
            <a:endCxn id="73" idx="1"/>
          </p:cNvCxnSpPr>
          <p:nvPr/>
        </p:nvCxnSpPr>
        <p:spPr>
          <a:xfrm rot="10800000">
            <a:off x="3905249" y="6000876"/>
            <a:ext cx="1606200" cy="1425300"/>
          </a:xfrm>
          <a:prstGeom prst="curvedConnector3">
            <a:avLst>
              <a:gd fmla="val 106523" name="adj1"/>
            </a:avLst>
          </a:prstGeom>
          <a:noFill/>
          <a:ln cap="flat" cmpd="sng" w="38100">
            <a:solidFill>
              <a:srgbClr val="FF00FF"/>
            </a:solidFill>
            <a:prstDash val="solid"/>
            <a:round/>
            <a:headEnd len="med" w="med" type="oval"/>
            <a:tailEnd len="med" w="med" type="oval"/>
          </a:ln>
        </p:spPr>
      </p:cxnSp>
      <p:sp>
        <p:nvSpPr>
          <p:cNvPr id="89" name="Google Shape;89;p13"/>
          <p:cNvSpPr txBox="1"/>
          <p:nvPr/>
        </p:nvSpPr>
        <p:spPr>
          <a:xfrm>
            <a:off x="14519950" y="618075"/>
            <a:ext cx="6939600" cy="1964400"/>
          </a:xfrm>
          <a:prstGeom prst="rect">
            <a:avLst/>
          </a:prstGeom>
          <a:solidFill>
            <a:srgbClr val="FF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6000">
                <a:solidFill>
                  <a:srgbClr val="FFFFFF"/>
                </a:solidFill>
                <a:latin typeface="Source Code Pro"/>
                <a:ea typeface="Source Code Pro"/>
                <a:cs typeface="Source Code Pro"/>
                <a:sym typeface="Source Code Pro"/>
              </a:rPr>
              <a:t>Option</a:t>
            </a:r>
            <a:r>
              <a:rPr b="1" lang="en" sz="6000">
                <a:solidFill>
                  <a:srgbClr val="FFFFFF"/>
                </a:solidFill>
                <a:latin typeface="Playfair Display"/>
                <a:ea typeface="Playfair Display"/>
                <a:cs typeface="Playfair Display"/>
                <a:sym typeface="Playfair Display"/>
              </a:rPr>
              <a:t> </a:t>
            </a:r>
            <a:r>
              <a:rPr b="1" lang="en" sz="6000">
                <a:solidFill>
                  <a:srgbClr val="FFFFFF"/>
                </a:solidFill>
                <a:latin typeface="Source Code Pro"/>
                <a:ea typeface="Source Code Pro"/>
                <a:cs typeface="Source Code Pro"/>
                <a:sym typeface="Source Code Pro"/>
              </a:rPr>
              <a:t>1</a:t>
            </a:r>
            <a:endParaRPr b="1" sz="6000">
              <a:solidFill>
                <a:srgbClr val="FFFFFF"/>
              </a:solidFill>
              <a:latin typeface="Source Code Pro"/>
              <a:ea typeface="Source Code Pro"/>
              <a:cs typeface="Source Code Pro"/>
              <a:sym typeface="Source Code Pro"/>
            </a:endParaRPr>
          </a:p>
          <a:p>
            <a:pPr indent="0" lvl="0" marL="0" marR="0" rtl="0" algn="ctr">
              <a:lnSpc>
                <a:spcPct val="100000"/>
              </a:lnSpc>
              <a:spcBef>
                <a:spcPts val="0"/>
              </a:spcBef>
              <a:spcAft>
                <a:spcPts val="0"/>
              </a:spcAft>
              <a:buNone/>
            </a:pPr>
            <a:r>
              <a:rPr b="1" lang="en" sz="3000">
                <a:solidFill>
                  <a:srgbClr val="FFFFFF"/>
                </a:solidFill>
                <a:latin typeface="Source Code Pro"/>
                <a:ea typeface="Source Code Pro"/>
                <a:cs typeface="Source Code Pro"/>
                <a:sym typeface="Source Code Pro"/>
              </a:rPr>
              <a:t>(Example with Instructions)</a:t>
            </a:r>
            <a:endParaRPr b="1" sz="3000">
              <a:solidFill>
                <a:srgbClr val="FFFFFF"/>
              </a:solidFill>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pic>
        <p:nvPicPr>
          <p:cNvPr id="94" name="Google Shape;94;p14"/>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95" name="Google Shape;95;p14"/>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96" name="Google Shape;96;p14"/>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97" name="Google Shape;97;p14"/>
          <p:cNvSpPr txBox="1"/>
          <p:nvPr/>
        </p:nvSpPr>
        <p:spPr>
          <a:xfrm>
            <a:off x="8027725" y="646000"/>
            <a:ext cx="6939600" cy="1964400"/>
          </a:xfrm>
          <a:prstGeom prst="rect">
            <a:avLst/>
          </a:prstGeom>
          <a:solidFill>
            <a:srgbClr val="FF00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6000">
                <a:solidFill>
                  <a:srgbClr val="FFFFFF"/>
                </a:solidFill>
                <a:latin typeface="Source Code Pro"/>
                <a:ea typeface="Source Code Pro"/>
                <a:cs typeface="Source Code Pro"/>
                <a:sym typeface="Source Code Pro"/>
              </a:rPr>
              <a:t>Option</a:t>
            </a:r>
            <a:r>
              <a:rPr b="1" lang="en" sz="6000">
                <a:solidFill>
                  <a:srgbClr val="FFFFFF"/>
                </a:solidFill>
                <a:latin typeface="Playfair Display"/>
                <a:ea typeface="Playfair Display"/>
                <a:cs typeface="Playfair Display"/>
                <a:sym typeface="Playfair Display"/>
              </a:rPr>
              <a:t> </a:t>
            </a:r>
            <a:r>
              <a:rPr b="1" lang="en" sz="6000">
                <a:solidFill>
                  <a:srgbClr val="FFFFFF"/>
                </a:solidFill>
                <a:latin typeface="Source Code Pro"/>
                <a:ea typeface="Source Code Pro"/>
                <a:cs typeface="Source Code Pro"/>
                <a:sym typeface="Source Code Pro"/>
              </a:rPr>
              <a:t>1 (Example)</a:t>
            </a:r>
            <a:endParaRPr b="1" sz="6000">
              <a:solidFill>
                <a:srgbClr val="FFFFFF"/>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