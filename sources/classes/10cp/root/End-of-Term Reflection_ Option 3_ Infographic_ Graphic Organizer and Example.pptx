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19050000" cx="7620000"/>
  <p:notesSz cx="6858000" cy="9144000"/>
  <p:embeddedFontLst>
    <p:embeddedFont>
      <p:font typeface="Barlow"/>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Barlow-boldItalic.fntdata"/><Relationship Id="rId10" Type="http://schemas.openxmlformats.org/officeDocument/2006/relationships/font" Target="fonts/Barlow-italic.fntdata"/><Relationship Id="rId9" Type="http://schemas.openxmlformats.org/officeDocument/2006/relationships/font" Target="fonts/Barlow-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Barlow-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08959b149_0_32: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08959b14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08959b149_0_53: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08959b14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32425" y="2038350"/>
            <a:ext cx="7316100" cy="12846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a:t>
            </a:r>
            <a:r>
              <a:rPr lang="en" sz="3000">
                <a:solidFill>
                  <a:schemeClr val="dk1"/>
                </a:solidFill>
                <a:latin typeface="Georgia"/>
                <a:ea typeface="Georgia"/>
                <a:cs typeface="Georgia"/>
                <a:sym typeface="Georgia"/>
              </a:rPr>
              <a:t>he title of the best thing I read this term is . . .</a:t>
            </a:r>
            <a:endParaRPr sz="3000"/>
          </a:p>
        </p:txBody>
      </p:sp>
      <p:sp>
        <p:nvSpPr>
          <p:cNvPr id="55" name="Google Shape;55;p13"/>
          <p:cNvSpPr txBox="1"/>
          <p:nvPr/>
        </p:nvSpPr>
        <p:spPr>
          <a:xfrm>
            <a:off x="132425" y="16450350"/>
            <a:ext cx="7316100" cy="1284600"/>
          </a:xfrm>
          <a:prstGeom prst="rect">
            <a:avLst/>
          </a:prstGeom>
          <a:solidFill>
            <a:srgbClr val="EAD1D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O</a:t>
            </a:r>
            <a:r>
              <a:rPr lang="en" sz="3000">
                <a:solidFill>
                  <a:schemeClr val="dk1"/>
                </a:solidFill>
                <a:latin typeface="Georgia"/>
                <a:ea typeface="Georgia"/>
                <a:cs typeface="Georgia"/>
                <a:sym typeface="Georgia"/>
              </a:rPr>
              <a:t>ne thing I am proud of doing this term is . . .</a:t>
            </a:r>
            <a:endParaRPr sz="3000"/>
          </a:p>
        </p:txBody>
      </p:sp>
      <p:sp>
        <p:nvSpPr>
          <p:cNvPr id="56" name="Google Shape;56;p13"/>
          <p:cNvSpPr txBox="1"/>
          <p:nvPr/>
        </p:nvSpPr>
        <p:spPr>
          <a:xfrm>
            <a:off x="132300" y="17859450"/>
            <a:ext cx="7316100" cy="1183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O</a:t>
            </a:r>
            <a:r>
              <a:rPr lang="en" sz="3000">
                <a:solidFill>
                  <a:schemeClr val="dk1"/>
                </a:solidFill>
                <a:latin typeface="Georgia"/>
                <a:ea typeface="Georgia"/>
                <a:cs typeface="Georgia"/>
                <a:sym typeface="Georgia"/>
              </a:rPr>
              <a:t>ne thing I could work on doing better next term is . . .</a:t>
            </a:r>
            <a:endParaRPr sz="3000"/>
          </a:p>
        </p:txBody>
      </p:sp>
      <p:sp>
        <p:nvSpPr>
          <p:cNvPr id="57" name="Google Shape;57;p13"/>
          <p:cNvSpPr txBox="1"/>
          <p:nvPr/>
        </p:nvSpPr>
        <p:spPr>
          <a:xfrm>
            <a:off x="132425" y="8403150"/>
            <a:ext cx="7316100" cy="24078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A</a:t>
            </a:r>
            <a:r>
              <a:rPr lang="en" sz="3000">
                <a:solidFill>
                  <a:schemeClr val="dk1"/>
                </a:solidFill>
                <a:latin typeface="Georgia"/>
                <a:ea typeface="Georgia"/>
                <a:cs typeface="Georgia"/>
                <a:sym typeface="Georgia"/>
              </a:rPr>
              <a:t> quote (by . . . ) that inspires me is . . .</a:t>
            </a:r>
            <a:endParaRPr sz="3000"/>
          </a:p>
        </p:txBody>
      </p:sp>
      <p:sp>
        <p:nvSpPr>
          <p:cNvPr id="58" name="Google Shape;58;p13"/>
          <p:cNvSpPr txBox="1"/>
          <p:nvPr/>
        </p:nvSpPr>
        <p:spPr>
          <a:xfrm>
            <a:off x="132425" y="4905150"/>
            <a:ext cx="73161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the assignment I enjoyed the most was . . .</a:t>
            </a:r>
            <a:endParaRPr sz="3000"/>
          </a:p>
        </p:txBody>
      </p:sp>
      <p:sp>
        <p:nvSpPr>
          <p:cNvPr id="59" name="Google Shape;59;p13"/>
          <p:cNvSpPr txBox="1"/>
          <p:nvPr/>
        </p:nvSpPr>
        <p:spPr>
          <a:xfrm>
            <a:off x="132425" y="6654150"/>
            <a:ext cx="7316100" cy="1600200"/>
          </a:xfrm>
          <a:prstGeom prst="rect">
            <a:avLst/>
          </a:prstGeom>
          <a:solidFill>
            <a:srgbClr val="EAD1D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One thing I</a:t>
            </a:r>
            <a:r>
              <a:rPr lang="en" sz="3000">
                <a:solidFill>
                  <a:schemeClr val="dk1"/>
                </a:solidFill>
                <a:latin typeface="Georgia"/>
                <a:ea typeface="Georgia"/>
                <a:cs typeface="Georgia"/>
                <a:sym typeface="Georgia"/>
              </a:rPr>
              <a:t> would like to learn about is . . .</a:t>
            </a:r>
            <a:endParaRPr sz="3000"/>
          </a:p>
        </p:txBody>
      </p:sp>
      <p:sp>
        <p:nvSpPr>
          <p:cNvPr id="60" name="Google Shape;60;p13"/>
          <p:cNvSpPr txBox="1"/>
          <p:nvPr/>
        </p:nvSpPr>
        <p:spPr>
          <a:xfrm>
            <a:off x="132425" y="10929825"/>
            <a:ext cx="7316100" cy="747900"/>
          </a:xfrm>
          <a:prstGeom prst="rect">
            <a:avLst/>
          </a:prstGeom>
          <a:solidFill>
            <a:srgbClr val="EAD1D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One app I liked was . . .</a:t>
            </a:r>
            <a:endParaRPr sz="3000"/>
          </a:p>
        </p:txBody>
      </p:sp>
      <p:sp>
        <p:nvSpPr>
          <p:cNvPr id="61" name="Google Shape;61;p13"/>
          <p:cNvSpPr txBox="1"/>
          <p:nvPr/>
        </p:nvSpPr>
        <p:spPr>
          <a:xfrm>
            <a:off x="132425" y="13503150"/>
            <a:ext cx="7316100" cy="28227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My</a:t>
            </a:r>
            <a:r>
              <a:rPr lang="en" sz="3000">
                <a:solidFill>
                  <a:schemeClr val="dk1"/>
                </a:solidFill>
                <a:latin typeface="Georgia"/>
                <a:ea typeface="Georgia"/>
                <a:cs typeface="Georgia"/>
                <a:sym typeface="Georgia"/>
              </a:rPr>
              <a:t> grade [</a:t>
            </a:r>
            <a:r>
              <a:rPr lang="en" sz="3000">
                <a:solidFill>
                  <a:srgbClr val="F3F3F3"/>
                </a:solidFill>
                <a:latin typeface="Georgia"/>
                <a:ea typeface="Georgia"/>
                <a:cs typeface="Georgia"/>
                <a:sym typeface="Georgia"/>
              </a:rPr>
              <a:t>accurately/inaccurately</a:t>
            </a:r>
            <a:r>
              <a:rPr lang="en" sz="3000">
                <a:solidFill>
                  <a:schemeClr val="dk1"/>
                </a:solidFill>
                <a:latin typeface="Georgia"/>
                <a:ea typeface="Georgia"/>
                <a:cs typeface="Georgia"/>
                <a:sym typeface="Georgia"/>
              </a:rPr>
              <a:t>] reflects my work and work ethic because . . .</a:t>
            </a:r>
            <a:endParaRPr sz="3000">
              <a:solidFill>
                <a:schemeClr val="dk1"/>
              </a:solidFill>
              <a:latin typeface="Georgia"/>
              <a:ea typeface="Georgia"/>
              <a:cs typeface="Georgia"/>
              <a:sym typeface="Georgia"/>
            </a:endParaRPr>
          </a:p>
          <a:p>
            <a:pPr indent="0" lvl="0" marL="0" rtl="0" algn="l">
              <a:spcBef>
                <a:spcPts val="0"/>
              </a:spcBef>
              <a:spcAft>
                <a:spcPts val="0"/>
              </a:spcAft>
              <a:buNone/>
            </a:pPr>
            <a:r>
              <a:rPr lang="en" sz="3000">
                <a:solidFill>
                  <a:schemeClr val="dk1"/>
                </a:solidFill>
                <a:latin typeface="Georgia"/>
                <a:ea typeface="Georgia"/>
                <a:cs typeface="Georgia"/>
                <a:sym typeface="Georgia"/>
              </a:rPr>
              <a:t>One strength I could use to [</a:t>
            </a:r>
            <a:r>
              <a:rPr lang="en" sz="3000">
                <a:solidFill>
                  <a:srgbClr val="F3F3F3"/>
                </a:solidFill>
                <a:latin typeface="Georgia"/>
                <a:ea typeface="Georgia"/>
                <a:cs typeface="Georgia"/>
                <a:sym typeface="Georgia"/>
              </a:rPr>
              <a:t>improve my grade / keep the grade I have</a:t>
            </a:r>
            <a:r>
              <a:rPr lang="en" sz="3000">
                <a:solidFill>
                  <a:schemeClr val="dk1"/>
                </a:solidFill>
                <a:latin typeface="Georgia"/>
                <a:ea typeface="Georgia"/>
                <a:cs typeface="Georgia"/>
                <a:sym typeface="Georgia"/>
              </a:rPr>
              <a:t>] is . . .</a:t>
            </a:r>
            <a:endParaRPr sz="3000"/>
          </a:p>
        </p:txBody>
      </p:sp>
      <p:sp>
        <p:nvSpPr>
          <p:cNvPr id="62" name="Google Shape;62;p13"/>
          <p:cNvSpPr txBox="1"/>
          <p:nvPr/>
        </p:nvSpPr>
        <p:spPr>
          <a:xfrm>
            <a:off x="132425" y="171450"/>
            <a:ext cx="7316100" cy="1718100"/>
          </a:xfrm>
          <a:prstGeom prst="rect">
            <a:avLst/>
          </a:prstGeom>
          <a:solidFill>
            <a:srgbClr val="D5A6B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solidFill>
                  <a:schemeClr val="dk1"/>
                </a:solidFill>
                <a:latin typeface="Georgia"/>
                <a:ea typeface="Georgia"/>
                <a:cs typeface="Georgia"/>
                <a:sym typeface="Georgia"/>
              </a:rPr>
              <a:t>Graphic Organizer with</a:t>
            </a:r>
            <a:endParaRPr sz="4800">
              <a:solidFill>
                <a:schemeClr val="dk1"/>
              </a:solidFill>
              <a:latin typeface="Georgia"/>
              <a:ea typeface="Georgia"/>
              <a:cs typeface="Georgia"/>
              <a:sym typeface="Georgia"/>
            </a:endParaRPr>
          </a:p>
          <a:p>
            <a:pPr indent="0" lvl="0" marL="0" rtl="0" algn="ctr">
              <a:spcBef>
                <a:spcPts val="0"/>
              </a:spcBef>
              <a:spcAft>
                <a:spcPts val="0"/>
              </a:spcAft>
              <a:buNone/>
            </a:pPr>
            <a:r>
              <a:rPr lang="en" sz="4800">
                <a:solidFill>
                  <a:schemeClr val="dk1"/>
                </a:solidFill>
                <a:latin typeface="Georgia"/>
                <a:ea typeface="Georgia"/>
                <a:cs typeface="Georgia"/>
                <a:sym typeface="Georgia"/>
              </a:rPr>
              <a:t>Sentence Starters</a:t>
            </a:r>
            <a:endParaRPr sz="3000"/>
          </a:p>
        </p:txBody>
      </p:sp>
      <p:sp>
        <p:nvSpPr>
          <p:cNvPr id="63" name="Google Shape;63;p13"/>
          <p:cNvSpPr txBox="1"/>
          <p:nvPr/>
        </p:nvSpPr>
        <p:spPr>
          <a:xfrm>
            <a:off x="132425" y="3471750"/>
            <a:ext cx="7316100" cy="1284600"/>
          </a:xfrm>
          <a:prstGeom prst="rect">
            <a:avLst/>
          </a:prstGeom>
          <a:solidFill>
            <a:srgbClr val="EAD1D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p>
        </p:txBody>
      </p:sp>
      <p:pic>
        <p:nvPicPr>
          <p:cNvPr id="64" name="Google Shape;64;p13"/>
          <p:cNvPicPr preferRelativeResize="0"/>
          <p:nvPr/>
        </p:nvPicPr>
        <p:blipFill>
          <a:blip r:embed="rId3">
            <a:alphaModFix/>
          </a:blip>
          <a:stretch>
            <a:fillRect/>
          </a:stretch>
        </p:blipFill>
        <p:spPr>
          <a:xfrm>
            <a:off x="132425" y="11796600"/>
            <a:ext cx="1906265" cy="1718100"/>
          </a:xfrm>
          <a:prstGeom prst="rect">
            <a:avLst/>
          </a:prstGeom>
          <a:noFill/>
          <a:ln>
            <a:noFill/>
          </a:ln>
        </p:spPr>
      </p:pic>
      <p:pic>
        <p:nvPicPr>
          <p:cNvPr id="65" name="Google Shape;65;p13"/>
          <p:cNvPicPr preferRelativeResize="0"/>
          <p:nvPr/>
        </p:nvPicPr>
        <p:blipFill>
          <a:blip r:embed="rId4">
            <a:alphaModFix/>
          </a:blip>
          <a:stretch>
            <a:fillRect/>
          </a:stretch>
        </p:blipFill>
        <p:spPr>
          <a:xfrm>
            <a:off x="1972800" y="11796600"/>
            <a:ext cx="1718100" cy="1718100"/>
          </a:xfrm>
          <a:prstGeom prst="rect">
            <a:avLst/>
          </a:prstGeom>
          <a:noFill/>
          <a:ln>
            <a:noFill/>
          </a:ln>
        </p:spPr>
      </p:pic>
      <p:pic>
        <p:nvPicPr>
          <p:cNvPr id="66" name="Google Shape;66;p13"/>
          <p:cNvPicPr preferRelativeResize="0"/>
          <p:nvPr/>
        </p:nvPicPr>
        <p:blipFill>
          <a:blip r:embed="rId5">
            <a:alphaModFix/>
          </a:blip>
          <a:stretch>
            <a:fillRect/>
          </a:stretch>
        </p:blipFill>
        <p:spPr>
          <a:xfrm>
            <a:off x="3810000" y="11796604"/>
            <a:ext cx="1718100" cy="1718100"/>
          </a:xfrm>
          <a:prstGeom prst="rect">
            <a:avLst/>
          </a:prstGeom>
          <a:noFill/>
          <a:ln>
            <a:noFill/>
          </a:ln>
        </p:spPr>
      </p:pic>
      <p:pic>
        <p:nvPicPr>
          <p:cNvPr id="67" name="Google Shape;67;p13"/>
          <p:cNvPicPr preferRelativeResize="0"/>
          <p:nvPr/>
        </p:nvPicPr>
        <p:blipFill>
          <a:blip r:embed="rId6">
            <a:alphaModFix/>
          </a:blip>
          <a:stretch>
            <a:fillRect/>
          </a:stretch>
        </p:blipFill>
        <p:spPr>
          <a:xfrm>
            <a:off x="5528100" y="11837375"/>
            <a:ext cx="1718100" cy="1718100"/>
          </a:xfrm>
          <a:prstGeom prst="rect">
            <a:avLst/>
          </a:prstGeom>
          <a:noFill/>
          <a:ln>
            <a:noFill/>
          </a:ln>
        </p:spPr>
      </p:pic>
      <p:pic>
        <p:nvPicPr>
          <p:cNvPr id="68" name="Google Shape;68;p13"/>
          <p:cNvPicPr preferRelativeResize="0"/>
          <p:nvPr/>
        </p:nvPicPr>
        <p:blipFill>
          <a:blip r:embed="rId7">
            <a:alphaModFix/>
          </a:blip>
          <a:stretch>
            <a:fillRect/>
          </a:stretch>
        </p:blipFill>
        <p:spPr>
          <a:xfrm>
            <a:off x="-6309700" y="6626072"/>
            <a:ext cx="5149125" cy="4900674"/>
          </a:xfrm>
          <a:prstGeom prst="rect">
            <a:avLst/>
          </a:prstGeom>
          <a:noFill/>
          <a:ln>
            <a:noFill/>
          </a:ln>
        </p:spPr>
      </p:pic>
      <p:sp>
        <p:nvSpPr>
          <p:cNvPr id="69" name="Google Shape;69;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70" name="Google Shape;70;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71" name="Google Shape;71;p13"/>
          <p:cNvSpPr txBox="1"/>
          <p:nvPr/>
        </p:nvSpPr>
        <p:spPr>
          <a:xfrm>
            <a:off x="8495375" y="35710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cxnSp>
        <p:nvCxnSpPr>
          <p:cNvPr id="72" name="Google Shape;72;p13"/>
          <p:cNvCxnSpPr>
            <a:stCxn id="71" idx="1"/>
            <a:endCxn id="63" idx="3"/>
          </p:cNvCxnSpPr>
          <p:nvPr/>
        </p:nvCxnSpPr>
        <p:spPr>
          <a:xfrm rot="10800000">
            <a:off x="7448375" y="411405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73" name="Google Shape;73;p13"/>
          <p:cNvSpPr txBox="1"/>
          <p:nvPr/>
        </p:nvSpPr>
        <p:spPr>
          <a:xfrm>
            <a:off x="8495375" y="5331300"/>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74" name="Google Shape;74;p13"/>
          <p:cNvCxnSpPr>
            <a:stCxn id="73" idx="1"/>
            <a:endCxn id="58" idx="3"/>
          </p:cNvCxnSpPr>
          <p:nvPr/>
        </p:nvCxnSpPr>
        <p:spPr>
          <a:xfrm rot="10800000">
            <a:off x="7448375" y="570525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75" name="Google Shape;75;p13"/>
          <p:cNvSpPr txBox="1"/>
          <p:nvPr/>
        </p:nvSpPr>
        <p:spPr>
          <a:xfrm>
            <a:off x="8495525" y="7080300"/>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76" name="Google Shape;76;p13"/>
          <p:cNvCxnSpPr>
            <a:stCxn id="75" idx="1"/>
          </p:cNvCxnSpPr>
          <p:nvPr/>
        </p:nvCxnSpPr>
        <p:spPr>
          <a:xfrm rot="10800000">
            <a:off x="7448525" y="745425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77" name="Google Shape;77;p13"/>
          <p:cNvSpPr txBox="1"/>
          <p:nvPr/>
        </p:nvSpPr>
        <p:spPr>
          <a:xfrm>
            <a:off x="8495375" y="9005063"/>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78" name="Google Shape;78;p13"/>
          <p:cNvCxnSpPr>
            <a:stCxn id="77" idx="1"/>
          </p:cNvCxnSpPr>
          <p:nvPr/>
        </p:nvCxnSpPr>
        <p:spPr>
          <a:xfrm rot="10800000">
            <a:off x="7448375" y="9379013"/>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79" name="Google Shape;79;p13"/>
          <p:cNvSpPr txBox="1"/>
          <p:nvPr/>
        </p:nvSpPr>
        <p:spPr>
          <a:xfrm>
            <a:off x="8495525" y="14540550"/>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sentences.</a:t>
            </a:r>
            <a:endParaRPr sz="3000"/>
          </a:p>
        </p:txBody>
      </p:sp>
      <p:cxnSp>
        <p:nvCxnSpPr>
          <p:cNvPr id="80" name="Google Shape;80;p13"/>
          <p:cNvCxnSpPr>
            <a:stCxn id="79" idx="1"/>
          </p:cNvCxnSpPr>
          <p:nvPr/>
        </p:nvCxnSpPr>
        <p:spPr>
          <a:xfrm rot="10800000">
            <a:off x="7448525" y="1491450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81" name="Google Shape;81;p13"/>
          <p:cNvSpPr txBox="1"/>
          <p:nvPr/>
        </p:nvSpPr>
        <p:spPr>
          <a:xfrm>
            <a:off x="8495525" y="16718700"/>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82" name="Google Shape;82;p13"/>
          <p:cNvCxnSpPr>
            <a:stCxn id="81" idx="1"/>
          </p:cNvCxnSpPr>
          <p:nvPr/>
        </p:nvCxnSpPr>
        <p:spPr>
          <a:xfrm rot="10800000">
            <a:off x="7448525" y="17092650"/>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83" name="Google Shape;83;p13"/>
          <p:cNvSpPr txBox="1"/>
          <p:nvPr/>
        </p:nvSpPr>
        <p:spPr>
          <a:xfrm>
            <a:off x="8495375" y="18151275"/>
            <a:ext cx="5149200" cy="747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Complete the sentence.</a:t>
            </a:r>
            <a:endParaRPr sz="3000"/>
          </a:p>
        </p:txBody>
      </p:sp>
      <p:cxnSp>
        <p:nvCxnSpPr>
          <p:cNvPr id="84" name="Google Shape;84;p13"/>
          <p:cNvCxnSpPr>
            <a:stCxn id="83" idx="1"/>
          </p:cNvCxnSpPr>
          <p:nvPr/>
        </p:nvCxnSpPr>
        <p:spPr>
          <a:xfrm rot="10800000">
            <a:off x="7448375" y="18525225"/>
            <a:ext cx="1047000" cy="0"/>
          </a:xfrm>
          <a:prstGeom prst="straightConnector1">
            <a:avLst/>
          </a:prstGeom>
          <a:noFill/>
          <a:ln cap="flat" cmpd="sng" w="28575">
            <a:solidFill>
              <a:srgbClr val="FF00FF"/>
            </a:solidFill>
            <a:prstDash val="solid"/>
            <a:round/>
            <a:headEnd len="med" w="med" type="none"/>
            <a:tailEnd len="med" w="med" type="triangle"/>
          </a:ln>
        </p:spPr>
      </p:cxnSp>
      <p:sp>
        <p:nvSpPr>
          <p:cNvPr id="85" name="Google Shape;85;p13"/>
          <p:cNvSpPr txBox="1"/>
          <p:nvPr/>
        </p:nvSpPr>
        <p:spPr>
          <a:xfrm>
            <a:off x="8495525" y="12153425"/>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Select the app you liked most.</a:t>
            </a:r>
            <a:endParaRPr sz="3000"/>
          </a:p>
        </p:txBody>
      </p:sp>
      <p:cxnSp>
        <p:nvCxnSpPr>
          <p:cNvPr id="86" name="Google Shape;86;p13"/>
          <p:cNvCxnSpPr>
            <a:stCxn id="85" idx="1"/>
          </p:cNvCxnSpPr>
          <p:nvPr/>
        </p:nvCxnSpPr>
        <p:spPr>
          <a:xfrm rot="10800000">
            <a:off x="7448525" y="12696425"/>
            <a:ext cx="1047000" cy="0"/>
          </a:xfrm>
          <a:prstGeom prst="straightConnector1">
            <a:avLst/>
          </a:prstGeom>
          <a:noFill/>
          <a:ln cap="flat" cmpd="sng" w="28575">
            <a:solidFill>
              <a:srgbClr val="FF00FF"/>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 name="Shape 90"/>
        <p:cNvGrpSpPr/>
        <p:nvPr/>
      </p:nvGrpSpPr>
      <p:grpSpPr>
        <a:xfrm>
          <a:off x="0" y="0"/>
          <a:ext cx="0" cy="0"/>
          <a:chOff x="0" y="0"/>
          <a:chExt cx="0" cy="0"/>
        </a:xfrm>
      </p:grpSpPr>
      <p:pic>
        <p:nvPicPr>
          <p:cNvPr id="91" name="Google Shape;91;p14"/>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92" name="Google Shape;92;p14"/>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93" name="Google Shape;93;p14"/>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94" name="Google Shape;94;p14"/>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Example</a:t>
            </a:r>
            <a:endParaRPr sz="30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