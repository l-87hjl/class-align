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058400" cx="7315200"/>
  <p:notesSz cx="6858000" cy="9144000"/>
  <p:embeddedFontLst>
    <p:embeddedFont>
      <p:font typeface="Caveat"/>
      <p:regular r:id="rId14"/>
      <p:bold r:id="rId15"/>
    </p:embeddedFont>
    <p:embeddedFont>
      <p:font typeface="Playfair Display"/>
      <p:regular r:id="rId16"/>
      <p:bold r:id="rId17"/>
      <p:italic r:id="rId18"/>
      <p:boldItalic r:id="rId19"/>
    </p:embeddedFont>
    <p:embeddedFont>
      <p:font typeface="Source Code Pro"/>
      <p:regular r:id="rId20"/>
      <p:bold r:id="rId21"/>
      <p:italic r:id="rId22"/>
      <p:boldItalic r:id="rId23"/>
    </p:embeddedFont>
    <p:embeddedFont>
      <p:font typeface="EB Garamond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  <p:embeddedFont>
      <p:font typeface="Dancing Script"/>
      <p:regular r:id="rId30"/>
      <p:bold r:id="rId31"/>
    </p:embeddedFont>
    <p:embeddedFont>
      <p:font typeface="Encode Sans Condense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3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3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regular.fntdata"/><Relationship Id="rId22" Type="http://schemas.openxmlformats.org/officeDocument/2006/relationships/font" Target="fonts/SourceCodePro-italic.fntdata"/><Relationship Id="rId21" Type="http://schemas.openxmlformats.org/officeDocument/2006/relationships/font" Target="fonts/SourceCodePro-bold.fntdata"/><Relationship Id="rId24" Type="http://schemas.openxmlformats.org/officeDocument/2006/relationships/font" Target="fonts/EBGaramond-regular.fntdata"/><Relationship Id="rId23" Type="http://schemas.openxmlformats.org/officeDocument/2006/relationships/font" Target="fonts/SourceCodePr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-italic.fntdata"/><Relationship Id="rId25" Type="http://schemas.openxmlformats.org/officeDocument/2006/relationships/font" Target="fonts/EBGaramond-bold.fntdata"/><Relationship Id="rId28" Type="http://schemas.openxmlformats.org/officeDocument/2006/relationships/font" Target="fonts/Oswald-regular.fntdata"/><Relationship Id="rId27" Type="http://schemas.openxmlformats.org/officeDocument/2006/relationships/font" Target="fonts/EBGaramon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ancingScript-bold.fntdata"/><Relationship Id="rId30" Type="http://schemas.openxmlformats.org/officeDocument/2006/relationships/font" Target="fonts/DancingScript-regular.fntdata"/><Relationship Id="rId11" Type="http://schemas.openxmlformats.org/officeDocument/2006/relationships/slide" Target="slides/slide6.xml"/><Relationship Id="rId33" Type="http://schemas.openxmlformats.org/officeDocument/2006/relationships/font" Target="fonts/EncodeSansCondensed-bold.fntdata"/><Relationship Id="rId10" Type="http://schemas.openxmlformats.org/officeDocument/2006/relationships/slide" Target="slides/slide5.xml"/><Relationship Id="rId32" Type="http://schemas.openxmlformats.org/officeDocument/2006/relationships/font" Target="fonts/EncodeSansCondense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Caveat-bold.fntdata"/><Relationship Id="rId14" Type="http://schemas.openxmlformats.org/officeDocument/2006/relationships/font" Target="fonts/Caveat-regular.fntdata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19" Type="http://schemas.openxmlformats.org/officeDocument/2006/relationships/font" Target="fonts/PlayfairDisplay-boldItalic.fntdata"/><Relationship Id="rId18" Type="http://schemas.openxmlformats.org/officeDocument/2006/relationships/font" Target="fonts/PlayfairDispl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9159b8041_0_0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9159b80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89159b8041_0_4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89159b804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58419324ce_0_5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58419324c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58419324ce_0_10:notes"/>
          <p:cNvSpPr/>
          <p:nvPr>
            <p:ph idx="2" type="sldImg"/>
          </p:nvPr>
        </p:nvSpPr>
        <p:spPr>
          <a:xfrm>
            <a:off x="2182428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58419324c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58419324ce_0_0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58419324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58419324ce_0_82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58419324c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58419324ce_0_88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58419324c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3380820" y="5736853"/>
            <a:ext cx="553500" cy="7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0" y="0"/>
            <a:ext cx="7315200" cy="610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8940" y="1259964"/>
            <a:ext cx="6625800" cy="41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28940" y="6645467"/>
            <a:ext cx="6625800" cy="246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3065040"/>
            <a:ext cx="7315200" cy="392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640" y="3695413"/>
            <a:ext cx="6625800" cy="296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343360" y="2494462"/>
            <a:ext cx="491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249360" y="728444"/>
            <a:ext cx="6816600" cy="14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249360" y="2872369"/>
            <a:ext cx="6816600" cy="60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343360" y="2494462"/>
            <a:ext cx="491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249360" y="728444"/>
            <a:ext cx="6816600" cy="14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249360" y="2872369"/>
            <a:ext cx="3199800" cy="60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3865920" y="2872369"/>
            <a:ext cx="3199800" cy="60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249360" y="728444"/>
            <a:ext cx="6816600" cy="14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334940" y="2850784"/>
            <a:ext cx="491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249360" y="1235520"/>
            <a:ext cx="22464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249360" y="3164488"/>
            <a:ext cx="2246400" cy="57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392200" y="1034293"/>
            <a:ext cx="4542600" cy="79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3657600" y="342"/>
            <a:ext cx="3657600" cy="1005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4023740" y="8791200"/>
            <a:ext cx="461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12400" y="2109556"/>
            <a:ext cx="3236100" cy="349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12400" y="5712962"/>
            <a:ext cx="3236100" cy="26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3951600" y="1416213"/>
            <a:ext cx="3069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249360" y="8273124"/>
            <a:ext cx="47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330620" y="5843738"/>
            <a:ext cx="728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249360" y="2163089"/>
            <a:ext cx="6816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249360" y="6164351"/>
            <a:ext cx="6816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9360" y="728444"/>
            <a:ext cx="68166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9360" y="2872369"/>
            <a:ext cx="6816600" cy="6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www.youtube.com/watch?v=Pu4Oec3UGS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344640" y="3695413"/>
            <a:ext cx="6625800" cy="296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End-of-Term Reflection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92200" y="1034300"/>
            <a:ext cx="6472800" cy="79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571500" lvl="0" marL="457200" rtl="0" algn="l">
              <a:spcBef>
                <a:spcPts val="0"/>
              </a:spcBef>
              <a:spcAft>
                <a:spcPts val="0"/>
              </a:spcAft>
              <a:buSzPts val="5400"/>
              <a:buChar char="●"/>
            </a:pPr>
            <a:r>
              <a:rPr lang="en"/>
              <a:t>Select ONE (1) of the following options for completing the end-of-term reflection project.</a:t>
            </a:r>
            <a:endParaRPr/>
          </a:p>
          <a:p>
            <a:pPr indent="-571500" lvl="0" marL="457200" rtl="0" algn="l">
              <a:spcBef>
                <a:spcPts val="0"/>
              </a:spcBef>
              <a:spcAft>
                <a:spcPts val="0"/>
              </a:spcAft>
              <a:buSzPts val="5400"/>
              <a:buChar char="●"/>
            </a:pPr>
            <a:r>
              <a:rPr lang="en"/>
              <a:t>Make sure to attach all required documents to the assignment before submitting it.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249350" y="132154"/>
            <a:ext cx="6816600" cy="17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Infographic </a:t>
            </a:r>
            <a:endParaRPr>
              <a:latin typeface="Encode Sans Condensed"/>
              <a:ea typeface="Encode Sans Condensed"/>
              <a:cs typeface="Encode Sans Condensed"/>
              <a:sym typeface="Encode Sans Condensed"/>
            </a:endParaRPr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216300" y="6847275"/>
            <a:ext cx="6882600" cy="19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Your Infographic Must Include </a:t>
            </a:r>
            <a:endParaRPr sz="2400">
              <a:solidFill>
                <a:srgbClr val="000000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work you are most proud of this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(citing examples).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Your strengths as a student in this class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would you like to do better in this subject next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?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well does your grade reflect your work and work ethic?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12000" y="1793325"/>
            <a:ext cx="6144000" cy="22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Create an infographic that sums up your 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in class visually and in an appealing manner.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Consider grades, attendance, and other statistics - or images that could be included as well.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 a template in canva or another 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infographic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creator.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82650" y="9383400"/>
            <a:ext cx="6939600" cy="519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Option</a:t>
            </a: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(Scaffolded)</a:t>
            </a:r>
            <a:endParaRPr b="1"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349086" y="7017615"/>
            <a:ext cx="3754944" cy="2830410"/>
          </a:xfrm>
          <a:prstGeom prst="irregularSeal1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3901800" y="4555018"/>
            <a:ext cx="3428700" cy="29514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99857" y="157438"/>
            <a:ext cx="3755100" cy="28305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99846" y="86714"/>
            <a:ext cx="6816300" cy="111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rgbClr val="351C75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Lauren E Levesque</a:t>
            </a:r>
            <a:endParaRPr sz="4100">
              <a:solidFill>
                <a:srgbClr val="351C75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4236771" y="701276"/>
            <a:ext cx="2679300" cy="12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0">
                <a:latin typeface="Oswald"/>
                <a:ea typeface="Oswald"/>
                <a:cs typeface="Oswald"/>
                <a:sym typeface="Oswald"/>
              </a:rPr>
              <a:t>99.9%</a:t>
            </a:r>
            <a:endParaRPr sz="68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8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68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940" y="825715"/>
            <a:ext cx="1995070" cy="199507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631629" y="7945108"/>
            <a:ext cx="36051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Oswald"/>
                <a:ea typeface="Oswald"/>
                <a:cs typeface="Oswald"/>
                <a:sym typeface="Oswald"/>
              </a:rPr>
              <a:t>3 Days Absent</a:t>
            </a:r>
            <a:endParaRPr b="1" sz="3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99857" y="2987848"/>
            <a:ext cx="36051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Oswald"/>
                <a:ea typeface="Oswald"/>
                <a:cs typeface="Oswald"/>
                <a:sym typeface="Oswald"/>
              </a:rPr>
              <a:t>My Favorite Unit So Far: </a:t>
            </a:r>
            <a:endParaRPr sz="27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3096800" y="6402110"/>
            <a:ext cx="3489000" cy="1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 quote that inspires me:</a:t>
            </a:r>
            <a:endParaRPr sz="2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862200" y="157465"/>
            <a:ext cx="34287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 strength in Percentage:</a:t>
            </a:r>
            <a:endParaRPr sz="2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721800" y="1644610"/>
            <a:ext cx="34890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175" lIns="103175" spcFirstLastPara="1" rIns="103175" wrap="square" tIns="10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EB Garamond"/>
                <a:ea typeface="EB Garamond"/>
                <a:cs typeface="EB Garamond"/>
                <a:sym typeface="EB Garamond"/>
              </a:rPr>
              <a:t>Is my average vocabulary grade!</a:t>
            </a:r>
            <a:endParaRPr sz="27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4038943" y="2808602"/>
            <a:ext cx="30750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 want to Work on: </a:t>
            </a:r>
            <a:endParaRPr sz="2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227743" y="3531688"/>
            <a:ext cx="33495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B Garamond"/>
                <a:ea typeface="EB Garamond"/>
                <a:cs typeface="EB Garamond"/>
                <a:sym typeface="EB Garamond"/>
              </a:rPr>
              <a:t>Our research Unit because I got to learn more about Native American Culture and I had fun working with Jenna.  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3901800" y="3365574"/>
            <a:ext cx="33495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Coming to class on time and revising my essays instead of just accepting their grade when I get them back.  Since I get the opportunity to make them up I should. 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-110314" y="4452484"/>
            <a:ext cx="3832200" cy="1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If was an Emoji/Bitmoji this Quarter: </a:t>
            </a:r>
            <a:endParaRPr sz="2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57" y="5077297"/>
            <a:ext cx="2345530" cy="234553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4490400" y="4939220"/>
            <a:ext cx="25254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veat"/>
                <a:ea typeface="Caveat"/>
                <a:cs typeface="Caveat"/>
                <a:sym typeface="Caveat"/>
              </a:rPr>
              <a:t>“Ask yourself if what you’re doing today is getting you closer to where you want to be tomorrow”</a:t>
            </a:r>
            <a:endParaRPr sz="23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773686" y="7738940"/>
            <a:ext cx="24369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 resource that will help me: </a:t>
            </a:r>
            <a:endParaRPr sz="1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4253400" y="8472805"/>
            <a:ext cx="27624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5"/>
              </a:rPr>
              <a:t>https://www.youtube.com/watch?v=Pu4Oec3UGSE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Time Management Video!</a:t>
            </a:r>
            <a:endParaRPr sz="1600"/>
          </a:p>
        </p:txBody>
      </p:sp>
      <p:sp>
        <p:nvSpPr>
          <p:cNvPr id="99" name="Google Shape;99;p16"/>
          <p:cNvSpPr txBox="1"/>
          <p:nvPr/>
        </p:nvSpPr>
        <p:spPr>
          <a:xfrm>
            <a:off x="282650" y="9383400"/>
            <a:ext cx="6939600" cy="519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Option</a:t>
            </a: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 (Example)</a:t>
            </a:r>
            <a:endParaRPr b="1"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ctrTitle"/>
          </p:nvPr>
        </p:nvSpPr>
        <p:spPr>
          <a:xfrm>
            <a:off x="249300" y="766854"/>
            <a:ext cx="6816600" cy="17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60 Second Video Reflection</a:t>
            </a:r>
            <a:endParaRPr>
              <a:latin typeface="Encode Sans Condensed"/>
              <a:ea typeface="Encode Sans Condensed"/>
              <a:cs typeface="Encode Sans Condensed"/>
              <a:sym typeface="Encode Sans Condensed"/>
            </a:endParaRPr>
          </a:p>
        </p:txBody>
      </p:sp>
      <p:sp>
        <p:nvSpPr>
          <p:cNvPr id="105" name="Google Shape;105;p17"/>
          <p:cNvSpPr txBox="1"/>
          <p:nvPr>
            <p:ph idx="1" type="subTitle"/>
          </p:nvPr>
        </p:nvSpPr>
        <p:spPr>
          <a:xfrm>
            <a:off x="331975" y="6962900"/>
            <a:ext cx="6882600" cy="19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Your Video must Include </a:t>
            </a:r>
            <a:endParaRPr sz="2400">
              <a:solidFill>
                <a:srgbClr val="000000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work you are most proud of this term (citing examples).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Your strengths as a student in this class.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you would like to do better in this subject next term?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well does your grade reflect your work and work ethic?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does any of the content or skills that you learned relate to your future goals or career?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6" name="Google Shape;106;p17"/>
          <p:cNvSpPr txBox="1"/>
          <p:nvPr>
            <p:ph idx="1" type="subTitle"/>
          </p:nvPr>
        </p:nvSpPr>
        <p:spPr>
          <a:xfrm>
            <a:off x="216300" y="2159200"/>
            <a:ext cx="6882600" cy="19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Make a video in your program of choice that is minimally 60 seconds with words and music or vlogger style that addresses the content below.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282650" y="9383400"/>
            <a:ext cx="6939600" cy="519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Option</a:t>
            </a: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</a:t>
            </a:r>
            <a:endParaRPr b="1"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ctrTitle"/>
          </p:nvPr>
        </p:nvSpPr>
        <p:spPr>
          <a:xfrm>
            <a:off x="315425" y="1667502"/>
            <a:ext cx="6816600" cy="91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Instagram Portfolio Feed </a:t>
            </a:r>
            <a:endParaRPr>
              <a:latin typeface="Encode Sans Condensed"/>
              <a:ea typeface="Encode Sans Condensed"/>
              <a:cs typeface="Encode Sans Condensed"/>
              <a:sym typeface="Encode Sans Condensed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495475" y="2586100"/>
            <a:ext cx="6144000" cy="22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 9 Photos Represent your work this 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by posting examples from class, and other content that directly relates to your work this 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 a template like the grid in Canva or by making one in Docs/Pages/Word to be shared with me.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4" name="Google Shape;114;p18"/>
          <p:cNvSpPr txBox="1"/>
          <p:nvPr>
            <p:ph idx="1" type="subTitle"/>
          </p:nvPr>
        </p:nvSpPr>
        <p:spPr>
          <a:xfrm>
            <a:off x="331975" y="6962900"/>
            <a:ext cx="6882600" cy="19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Your Video must Include </a:t>
            </a:r>
            <a:endParaRPr sz="2400">
              <a:solidFill>
                <a:srgbClr val="000000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work you are most proud of this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(citing examples).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Your strengths as a student in this class.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you would like to do better in this subject next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?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well does your grade reflect your work and work ethic?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does any of the content or skills that you learned relate to your future goals or career?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82650" y="9383400"/>
            <a:ext cx="6939600" cy="519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Option</a:t>
            </a: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</a:t>
            </a:r>
            <a:endParaRPr b="1"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ctrTitle"/>
          </p:nvPr>
        </p:nvSpPr>
        <p:spPr>
          <a:xfrm>
            <a:off x="249350" y="132154"/>
            <a:ext cx="6816600" cy="17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My T</a:t>
            </a: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erm</a:t>
            </a: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 in Tweets </a:t>
            </a: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 </a:t>
            </a:r>
            <a:endParaRPr>
              <a:latin typeface="Encode Sans Condensed"/>
              <a:ea typeface="Encode Sans Condensed"/>
              <a:cs typeface="Encode Sans Condensed"/>
              <a:sym typeface="Encode Sans Condensed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512000" y="1793325"/>
            <a:ext cx="6144000" cy="22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Using a fake or real twitter name establish your 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in tweets by summing your major accomplishments, trials, or application of our content &amp; skills learned in tweets.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Consider using hashtags and more to emphasize your point.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31975" y="6962900"/>
            <a:ext cx="6882600" cy="19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Your Document/Screenshot must Include </a:t>
            </a:r>
            <a:endParaRPr sz="2400">
              <a:solidFill>
                <a:srgbClr val="000000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work you are most proud of this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(citing examples).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Your strengths as a student in this class.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you would like to do better in this subject next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?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well does your grade reflect your work and work ethic?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does any of the content or skills that you learned relate to your future goals or career?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282650" y="9383400"/>
            <a:ext cx="6939600" cy="519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Option</a:t>
            </a: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</a:t>
            </a:r>
            <a:endParaRPr b="1"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ctrTitle"/>
          </p:nvPr>
        </p:nvSpPr>
        <p:spPr>
          <a:xfrm>
            <a:off x="249350" y="132154"/>
            <a:ext cx="6816600" cy="17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Unboxing Video </a:t>
            </a:r>
            <a:endParaRPr>
              <a:latin typeface="Encode Sans Condensed"/>
              <a:ea typeface="Encode Sans Condensed"/>
              <a:cs typeface="Encode Sans Condensed"/>
              <a:sym typeface="Encode Sans Condensed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512000" y="1793325"/>
            <a:ext cx="6144000" cy="22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Take an unboxing video - but instead of products pretend to go through your 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like many popular influencers “unbox”.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Show us your best work and sell it, or look back and tell us a story about what you learned through that work. It will be most appealing if you feature actual artifacts to unbox.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0" name="Google Shape;130;p20"/>
          <p:cNvSpPr txBox="1"/>
          <p:nvPr>
            <p:ph idx="1" type="subTitle"/>
          </p:nvPr>
        </p:nvSpPr>
        <p:spPr>
          <a:xfrm>
            <a:off x="331975" y="6962900"/>
            <a:ext cx="6882600" cy="19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Your Video must Include </a:t>
            </a:r>
            <a:endParaRPr sz="2400">
              <a:solidFill>
                <a:srgbClr val="000000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work you are most proud of this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(citing examples).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Your strengths as a student in this class.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you would like to do better in this subject next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?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well does your grade reflect your work and work ethic?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does any of the content or skills that you learned relate to your future goals or career?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282650" y="9383400"/>
            <a:ext cx="6939600" cy="519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Option</a:t>
            </a: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</a:t>
            </a:r>
            <a:endParaRPr b="1"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