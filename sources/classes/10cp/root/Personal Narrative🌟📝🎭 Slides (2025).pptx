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3" r:id="rId4"/>
    <p:sldMasterId id="214748371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Poppins"/>
      <p:regular r:id="rId34"/>
      <p:bold r:id="rId35"/>
      <p:italic r:id="rId36"/>
      <p:boldItalic r:id="rId37"/>
    </p:embeddedFont>
    <p:embeddedFont>
      <p:font typeface="Urbanist Medium"/>
      <p:regular r:id="rId38"/>
      <p:bold r:id="rId39"/>
      <p:italic r:id="rId40"/>
      <p:boldItalic r:id="rId41"/>
    </p:embeddedFont>
    <p:embeddedFont>
      <p:font typeface="Urbanist"/>
      <p:regular r:id="rId42"/>
      <p:bold r:id="rId43"/>
      <p:italic r:id="rId44"/>
      <p:boldItalic r:id="rId45"/>
    </p:embeddedFont>
    <p:embeddedFont>
      <p:font typeface="Poppins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Medium-italic.fntdata"/><Relationship Id="rId42" Type="http://schemas.openxmlformats.org/officeDocument/2006/relationships/font" Target="fonts/Urbanist-regular.fntdata"/><Relationship Id="rId41" Type="http://schemas.openxmlformats.org/officeDocument/2006/relationships/font" Target="fonts/UrbanistMedium-boldItalic.fntdata"/><Relationship Id="rId44" Type="http://schemas.openxmlformats.org/officeDocument/2006/relationships/font" Target="fonts/Urbanist-italic.fntdata"/><Relationship Id="rId43" Type="http://schemas.openxmlformats.org/officeDocument/2006/relationships/font" Target="fonts/Urbanist-bold.fntdata"/><Relationship Id="rId46" Type="http://schemas.openxmlformats.org/officeDocument/2006/relationships/font" Target="fonts/PoppinsSemiBold-regular.fntdata"/><Relationship Id="rId45" Type="http://schemas.openxmlformats.org/officeDocument/2006/relationships/font" Target="fonts/Urbanist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oppinsSemiBold-italic.fntdata"/><Relationship Id="rId47" Type="http://schemas.openxmlformats.org/officeDocument/2006/relationships/font" Target="fonts/PoppinsSemiBold-bold.fntdata"/><Relationship Id="rId49" Type="http://schemas.openxmlformats.org/officeDocument/2006/relationships/font" Target="fonts/Poppi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UrbanistMedium-bold.fntdata"/><Relationship Id="rId38" Type="http://schemas.openxmlformats.org/officeDocument/2006/relationships/font" Target="fonts/UrbanistMedium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72d521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672d521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672d521f4c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672d521f4c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672d521f4c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672d521f4c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672d521f4c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672d521f4c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672d521f4c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672d521f4c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672d521f4c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672d521f4c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672d521f4c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672d521f4c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672d521f4c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672d521f4c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672d521f4c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672d521f4c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672d521f4c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672d521f4c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672d521f4c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672d521f4c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672d521f4c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672d521f4c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672d521f4c_0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672d521f4c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672d521f4c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672d521f4c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672d521f4c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672d521f4c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672d521f4c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672d521f4c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672d521f4c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672d521f4c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672d521f4c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672d521f4c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672d521f4c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672d521f4c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672d521f4c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672d521f4c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672d521f4c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672d521f4c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672d521f4c_0_1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672d521f4c_0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672d521f4c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672d521f4c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672d521f4c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672d521f4c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672d521f4c_0_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672d521f4c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672d521f4c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672d521f4c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672d521f4c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672d521f4c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3" name="Google Shape;93;p18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18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5" name="Google Shape;95;p18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18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8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20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2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2" name="Google Shape;142;p2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4" name="Google Shape;154;p2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" name="Google Shape;158;p2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24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2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6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7" name="Google Shape;197;p2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28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8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3" name="Google Shape;233;p3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5" name="Google Shape;245;p3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73" name="Google Shape;273;p3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34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34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34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4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0" name="Google Shape;290;p34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4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5" name="Google Shape;295;p35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5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5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5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19" name="Google Shape;319;p36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0" name="Google Shape;320;p36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1" name="Google Shape;321;p36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3" name="Google Shape;323;p36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36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36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36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36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6" name="Google Shape;336;p36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7" name="Google Shape;337;p36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37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37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1" name="Google Shape;381;p38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38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38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3" name="Google Shape;413;p38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9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4" name="Google Shape;424;p3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5" name="Google Shape;425;p39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7" name="Google Shape;427;p39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9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39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9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6" name="Google Shape;436;p39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39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39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3" name="Google Shape;443;p39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9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6" name="Google Shape;446;p3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3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39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9" name="Google Shape;449;p3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3" name="Google Shape;453;p4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4" name="Google Shape;454;p4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p4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9" name="Google Shape;459;p41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4" name="Google Shape;484;p4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5" name="Google Shape;485;p4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5" name="Google Shape;495;p43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6" name="Google Shape;496;p43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7" name="Google Shape;497;p43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2" name="Google Shape;502;p43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3" name="Google Shape;503;p43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8" name="Google Shape;55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0" name="Google Shape;56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5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8" name="Google Shape;578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1" name="Google Shape;581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8" name="Google Shape;588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2" name="Google Shape;592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1" name="Google Shape;611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6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6" name="Google Shape;616;p66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617" name="Google Shape;617;p66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66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66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7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22" name="Google Shape;622;p67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3" name="Google Shape;623;p67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67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67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theme" Target="../theme/theme1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8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Personal Narrative🌟📝🎭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9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0"/>
          <p:cNvSpPr txBox="1"/>
          <p:nvPr>
            <p:ph type="title"/>
          </p:nvPr>
        </p:nvSpPr>
        <p:spPr>
          <a:xfrm>
            <a:off x="490250" y="45015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Foods I like</a:t>
            </a:r>
            <a:r>
              <a:rPr lang="en"/>
              <a:t>.</a:t>
            </a:r>
            <a:endParaRPr/>
          </a:p>
        </p:txBody>
      </p:sp>
      <p:sp>
        <p:nvSpPr>
          <p:cNvPr id="641" name="Google Shape;641;p70"/>
          <p:cNvSpPr txBox="1"/>
          <p:nvPr>
            <p:ph type="title"/>
          </p:nvPr>
        </p:nvSpPr>
        <p:spPr>
          <a:xfrm>
            <a:off x="432000" y="252720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This a topic, but it isn’t a thesis statement.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1"/>
          <p:cNvSpPr txBox="1"/>
          <p:nvPr>
            <p:ph type="title"/>
          </p:nvPr>
        </p:nvSpPr>
        <p:spPr>
          <a:xfrm>
            <a:off x="490250" y="45015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 like </a:t>
            </a:r>
            <a:r>
              <a:rPr i="1" lang="en">
                <a:solidFill>
                  <a:srgbClr val="FFFF00"/>
                </a:solidFill>
              </a:rPr>
              <a:t>food</a:t>
            </a:r>
            <a:r>
              <a:rPr lang="en"/>
              <a:t>.</a:t>
            </a:r>
            <a:endParaRPr/>
          </a:p>
        </p:txBody>
      </p:sp>
      <p:sp>
        <p:nvSpPr>
          <p:cNvPr id="647" name="Google Shape;647;p71"/>
          <p:cNvSpPr txBox="1"/>
          <p:nvPr>
            <p:ph type="title"/>
          </p:nvPr>
        </p:nvSpPr>
        <p:spPr>
          <a:xfrm>
            <a:off x="432000" y="252720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This is a statement about a topic (kind of), but it still isn’t a thesis statement.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2"/>
          <p:cNvSpPr txBox="1"/>
          <p:nvPr>
            <p:ph type="title"/>
          </p:nvPr>
        </p:nvSpPr>
        <p:spPr>
          <a:xfrm>
            <a:off x="490250" y="45015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 like </a:t>
            </a:r>
            <a:r>
              <a:rPr i="1" lang="en">
                <a:solidFill>
                  <a:srgbClr val="FFFF00"/>
                </a:solidFill>
              </a:rPr>
              <a:t>food </a:t>
            </a:r>
            <a:r>
              <a:rPr lang="en"/>
              <a:t>… a lot?</a:t>
            </a:r>
            <a:endParaRPr/>
          </a:p>
        </p:txBody>
      </p:sp>
      <p:sp>
        <p:nvSpPr>
          <p:cNvPr id="653" name="Google Shape;653;p72"/>
          <p:cNvSpPr txBox="1"/>
          <p:nvPr>
            <p:ph type="title"/>
          </p:nvPr>
        </p:nvSpPr>
        <p:spPr>
          <a:xfrm>
            <a:off x="432000" y="252720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Try adding a </a:t>
            </a:r>
            <a:r>
              <a:rPr lang="en">
                <a:solidFill>
                  <a:srgbClr val="00FFFF"/>
                </a:solidFill>
              </a:rPr>
              <a:t>list word</a:t>
            </a:r>
            <a:r>
              <a:rPr lang="en">
                <a:solidFill>
                  <a:srgbClr val="00FF00"/>
                </a:solidFill>
              </a:rPr>
              <a:t> and a </a:t>
            </a:r>
            <a:r>
              <a:rPr lang="en">
                <a:solidFill>
                  <a:srgbClr val="FF00FF"/>
                </a:solidFill>
              </a:rPr>
              <a:t>structural lynchipin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3"/>
          <p:cNvSpPr txBox="1"/>
          <p:nvPr>
            <p:ph type="title"/>
          </p:nvPr>
        </p:nvSpPr>
        <p:spPr>
          <a:xfrm>
            <a:off x="490250" y="45015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Uhhhh … a what?</a:t>
            </a:r>
            <a:endParaRPr/>
          </a:p>
        </p:txBody>
      </p:sp>
      <p:sp>
        <p:nvSpPr>
          <p:cNvPr id="659" name="Google Shape;659;p73"/>
          <p:cNvSpPr txBox="1"/>
          <p:nvPr>
            <p:ph type="title"/>
          </p:nvPr>
        </p:nvSpPr>
        <p:spPr>
          <a:xfrm>
            <a:off x="432000" y="252720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Let me explain…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74" title="TSAR-All Relationship Word Lists Slide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5"/>
          <p:cNvSpPr txBox="1"/>
          <p:nvPr>
            <p:ph type="title"/>
          </p:nvPr>
        </p:nvSpPr>
        <p:spPr>
          <a:xfrm>
            <a:off x="490250" y="3431450"/>
            <a:ext cx="8280000" cy="1109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 like</a:t>
            </a:r>
            <a:r>
              <a:rPr lang="en"/>
              <a:t> </a:t>
            </a:r>
            <a:r>
              <a:rPr lang="en">
                <a:solidFill>
                  <a:srgbClr val="00FFFF"/>
                </a:solidFill>
              </a:rPr>
              <a:t>several</a:t>
            </a:r>
            <a:r>
              <a:rPr lang="en"/>
              <a:t> </a:t>
            </a:r>
            <a:r>
              <a:rPr lang="en">
                <a:solidFill>
                  <a:srgbClr val="FF00FF"/>
                </a:solidFill>
              </a:rPr>
              <a:t>types</a:t>
            </a:r>
            <a:r>
              <a:rPr lang="en"/>
              <a:t> of </a:t>
            </a:r>
            <a:r>
              <a:rPr lang="en">
                <a:solidFill>
                  <a:srgbClr val="FFFF00"/>
                </a:solidFill>
              </a:rPr>
              <a:t>food</a:t>
            </a:r>
            <a:r>
              <a:rPr lang="en"/>
              <a:t>.</a:t>
            </a:r>
            <a:endParaRPr/>
          </a:p>
        </p:txBody>
      </p:sp>
      <p:sp>
        <p:nvSpPr>
          <p:cNvPr id="670" name="Google Shape;670;p75"/>
          <p:cNvSpPr txBox="1"/>
          <p:nvPr>
            <p:ph type="title"/>
          </p:nvPr>
        </p:nvSpPr>
        <p:spPr>
          <a:xfrm>
            <a:off x="205850" y="198025"/>
            <a:ext cx="8712000" cy="3517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Adding </a:t>
            </a:r>
            <a:r>
              <a:rPr lang="en">
                <a:solidFill>
                  <a:srgbClr val="00FF00"/>
                </a:solidFill>
              </a:rPr>
              <a:t>a </a:t>
            </a:r>
            <a:r>
              <a:rPr lang="en">
                <a:solidFill>
                  <a:srgbClr val="00FFFF"/>
                </a:solidFill>
              </a:rPr>
              <a:t>list word</a:t>
            </a:r>
            <a:r>
              <a:rPr lang="en">
                <a:solidFill>
                  <a:srgbClr val="00FF00"/>
                </a:solidFill>
              </a:rPr>
              <a:t> and a </a:t>
            </a:r>
            <a:r>
              <a:rPr lang="en">
                <a:solidFill>
                  <a:srgbClr val="FF00FF"/>
                </a:solidFill>
              </a:rPr>
              <a:t>structural lynchipin </a:t>
            </a:r>
            <a:r>
              <a:rPr lang="en"/>
              <a:t>will lock in the entire structure of the essay.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6"/>
          <p:cNvSpPr txBox="1"/>
          <p:nvPr>
            <p:ph type="title"/>
          </p:nvPr>
        </p:nvSpPr>
        <p:spPr>
          <a:xfrm>
            <a:off x="490250" y="45015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only </a:t>
            </a:r>
            <a:r>
              <a:rPr i="1" lang="en"/>
              <a:t>two </a:t>
            </a:r>
            <a:r>
              <a:rPr lang="en"/>
              <a:t>words locks in the </a:t>
            </a:r>
            <a:r>
              <a:rPr i="1" lang="en"/>
              <a:t>entire </a:t>
            </a:r>
            <a:r>
              <a:rPr lang="en"/>
              <a:t>essay</a:t>
            </a:r>
            <a:r>
              <a:rPr lang="en"/>
              <a:t>?</a:t>
            </a:r>
            <a:endParaRPr/>
          </a:p>
        </p:txBody>
      </p:sp>
      <p:sp>
        <p:nvSpPr>
          <p:cNvPr id="676" name="Google Shape;676;p76"/>
          <p:cNvSpPr txBox="1"/>
          <p:nvPr>
            <p:ph type="title"/>
          </p:nvPr>
        </p:nvSpPr>
        <p:spPr>
          <a:xfrm>
            <a:off x="432000" y="2527200"/>
            <a:ext cx="8280000" cy="218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0FF00"/>
                </a:solidFill>
              </a:rPr>
              <a:t>Does it seem too easy to be true? Or too unbelievable that two words would have such a large effect? Let me explain…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7"/>
          <p:cNvSpPr txBox="1"/>
          <p:nvPr>
            <p:ph type="title"/>
          </p:nvPr>
        </p:nvSpPr>
        <p:spPr>
          <a:xfrm>
            <a:off x="490250" y="450150"/>
            <a:ext cx="82800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 like</a:t>
            </a:r>
            <a:r>
              <a:rPr lang="en"/>
              <a:t> </a:t>
            </a:r>
            <a:r>
              <a:rPr lang="en">
                <a:solidFill>
                  <a:srgbClr val="00FFFF"/>
                </a:solidFill>
              </a:rPr>
              <a:t>several</a:t>
            </a:r>
            <a:r>
              <a:rPr lang="en"/>
              <a:t> </a:t>
            </a:r>
            <a:r>
              <a:rPr lang="en">
                <a:solidFill>
                  <a:srgbClr val="FF00FF"/>
                </a:solidFill>
              </a:rPr>
              <a:t>types</a:t>
            </a:r>
            <a:r>
              <a:rPr lang="en"/>
              <a:t> of </a:t>
            </a:r>
            <a:r>
              <a:rPr lang="en">
                <a:solidFill>
                  <a:srgbClr val="FFFF00"/>
                </a:solidFill>
              </a:rPr>
              <a:t>food</a:t>
            </a:r>
            <a:r>
              <a:rPr lang="en"/>
              <a:t>.</a:t>
            </a:r>
            <a:endParaRPr/>
          </a:p>
        </p:txBody>
      </p:sp>
      <p:sp>
        <p:nvSpPr>
          <p:cNvPr id="682" name="Google Shape;682;p77"/>
          <p:cNvSpPr txBox="1"/>
          <p:nvPr/>
        </p:nvSpPr>
        <p:spPr>
          <a:xfrm>
            <a:off x="474750" y="286350"/>
            <a:ext cx="34611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A list word indicates that each paragraph will be an item on the list.</a:t>
            </a:r>
            <a:endParaRPr sz="24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3" name="Google Shape;683;p77"/>
          <p:cNvSpPr txBox="1"/>
          <p:nvPr/>
        </p:nvSpPr>
        <p:spPr>
          <a:xfrm>
            <a:off x="4572000" y="286200"/>
            <a:ext cx="40947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A “s</a:t>
            </a:r>
            <a:r>
              <a:rPr lang="en" sz="24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tructural lynchipin” is a thesis-level signal </a:t>
            </a:r>
            <a:r>
              <a:rPr lang="en" sz="24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word that determines the structure of the entire essay.</a:t>
            </a:r>
            <a:endParaRPr sz="2400">
              <a:solidFill>
                <a:srgbClr val="FF00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8"/>
          <p:cNvSpPr txBox="1"/>
          <p:nvPr>
            <p:ph type="title"/>
          </p:nvPr>
        </p:nvSpPr>
        <p:spPr>
          <a:xfrm>
            <a:off x="490250" y="450150"/>
            <a:ext cx="8280000" cy="1486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 like</a:t>
            </a:r>
            <a:r>
              <a:rPr lang="en"/>
              <a:t> </a:t>
            </a:r>
            <a:r>
              <a:rPr lang="en">
                <a:solidFill>
                  <a:srgbClr val="00FFFF"/>
                </a:solidFill>
              </a:rPr>
              <a:t>several</a:t>
            </a:r>
            <a:r>
              <a:rPr lang="en"/>
              <a:t> </a:t>
            </a:r>
            <a:r>
              <a:rPr lang="en">
                <a:solidFill>
                  <a:srgbClr val="FF00FF"/>
                </a:solidFill>
              </a:rPr>
              <a:t>types</a:t>
            </a:r>
            <a:r>
              <a:rPr lang="en"/>
              <a:t> of </a:t>
            </a:r>
            <a:r>
              <a:rPr lang="en">
                <a:solidFill>
                  <a:srgbClr val="FFFF00"/>
                </a:solidFill>
              </a:rPr>
              <a:t>food</a:t>
            </a:r>
            <a:r>
              <a:rPr lang="en"/>
              <a:t>.</a:t>
            </a:r>
            <a:endParaRPr/>
          </a:p>
        </p:txBody>
      </p:sp>
      <p:sp>
        <p:nvSpPr>
          <p:cNvPr id="689" name="Google Shape;689;p78"/>
          <p:cNvSpPr txBox="1"/>
          <p:nvPr/>
        </p:nvSpPr>
        <p:spPr>
          <a:xfrm>
            <a:off x="474750" y="1936950"/>
            <a:ext cx="8064300" cy="28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000"/>
              <a:buFont typeface="Urbanist"/>
              <a:buChar char="●"/>
            </a:pPr>
            <a:r>
              <a:rPr lang="en" sz="2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Types → prompts classification → "One type... Another type..."</a:t>
            </a:r>
            <a:endParaRPr sz="2000">
              <a:solidFill>
                <a:srgbClr val="FF00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000"/>
              <a:buFont typeface="Urbanist"/>
              <a:buChar char="●"/>
            </a:pPr>
            <a:r>
              <a:rPr lang="en" sz="2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Reasons → prompts argumentation → "One reason... Another reason..."</a:t>
            </a:r>
            <a:endParaRPr sz="2000">
              <a:solidFill>
                <a:srgbClr val="FF00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000"/>
              <a:buFont typeface="Urbanist"/>
              <a:buChar char="●"/>
            </a:pPr>
            <a:r>
              <a:rPr lang="en" sz="2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Effects → prompts cause-effect → "One effect... Another..."</a:t>
            </a:r>
            <a:endParaRPr sz="2000">
              <a:solidFill>
                <a:srgbClr val="FF00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000"/>
              <a:buFont typeface="Urbanist"/>
              <a:buChar char="●"/>
            </a:pPr>
            <a:r>
              <a:rPr lang="en" sz="2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Ways → prompts process or method → "One way... Another way..."</a:t>
            </a:r>
            <a:endParaRPr sz="2000">
              <a:solidFill>
                <a:srgbClr val="FF00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000"/>
              <a:buFont typeface="Urbanist"/>
              <a:buChar char="●"/>
            </a:pPr>
            <a:r>
              <a:rPr lang="en" sz="2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Problems → prompts problem-solution → "One problem is... This solution addresses it..."</a:t>
            </a:r>
            <a:endParaRPr sz="2000">
              <a:solidFill>
                <a:srgbClr val="FF00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000"/>
              <a:buFont typeface="Urbanist"/>
              <a:buChar char="●"/>
            </a:pPr>
            <a:r>
              <a:rPr lang="en" sz="2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Examples → prompts illustration or narrative → "One example... Another example..."</a:t>
            </a:r>
            <a:endParaRPr sz="2000">
              <a:solidFill>
                <a:srgbClr val="FF00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00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9"/>
          <p:cNvSpPr txBox="1"/>
          <p:nvPr>
            <p:ph type="title"/>
          </p:nvPr>
        </p:nvSpPr>
        <p:spPr>
          <a:xfrm>
            <a:off x="490250" y="450150"/>
            <a:ext cx="8280000" cy="1486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 like</a:t>
            </a:r>
            <a:r>
              <a:rPr lang="en"/>
              <a:t> </a:t>
            </a:r>
            <a:r>
              <a:rPr lang="en">
                <a:solidFill>
                  <a:srgbClr val="00FFFF"/>
                </a:solidFill>
              </a:rPr>
              <a:t>several</a:t>
            </a:r>
            <a:r>
              <a:rPr lang="en"/>
              <a:t> </a:t>
            </a:r>
            <a:r>
              <a:rPr lang="en">
                <a:solidFill>
                  <a:srgbClr val="FF00FF"/>
                </a:solidFill>
              </a:rPr>
              <a:t>types</a:t>
            </a:r>
            <a:r>
              <a:rPr lang="en"/>
              <a:t> of </a:t>
            </a:r>
            <a:r>
              <a:rPr lang="en">
                <a:solidFill>
                  <a:srgbClr val="FFFF00"/>
                </a:solidFill>
              </a:rPr>
              <a:t>food</a:t>
            </a:r>
            <a:r>
              <a:rPr lang="en"/>
              <a:t>.</a:t>
            </a:r>
            <a:endParaRPr/>
          </a:p>
        </p:txBody>
      </p:sp>
      <p:sp>
        <p:nvSpPr>
          <p:cNvPr id="695" name="Google Shape;695;p79"/>
          <p:cNvSpPr txBox="1"/>
          <p:nvPr/>
        </p:nvSpPr>
        <p:spPr>
          <a:xfrm>
            <a:off x="376425" y="1759975"/>
            <a:ext cx="7076400" cy="30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One </a:t>
            </a:r>
            <a:r>
              <a:rPr lang="en" sz="3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of </a:t>
            </a:r>
            <a:r>
              <a:rPr lang="en" sz="3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food I like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 ____.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Another </a:t>
            </a:r>
            <a:r>
              <a:rPr lang="en" sz="3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of </a:t>
            </a:r>
            <a:r>
              <a:rPr lang="en" sz="3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food I like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 ____.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Finally,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____ is</a:t>
            </a:r>
            <a:r>
              <a:rPr lang="en" sz="30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 another </a:t>
            </a:r>
            <a:r>
              <a:rPr lang="en" sz="3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of </a:t>
            </a:r>
            <a:r>
              <a:rPr lang="en" sz="3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food I like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0"/>
          <p:cNvSpPr txBox="1"/>
          <p:nvPr>
            <p:ph type="title"/>
          </p:nvPr>
        </p:nvSpPr>
        <p:spPr>
          <a:xfrm>
            <a:off x="490250" y="450150"/>
            <a:ext cx="8280000" cy="1486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like </a:t>
            </a:r>
            <a:r>
              <a:rPr lang="en">
                <a:solidFill>
                  <a:srgbClr val="00FFFF"/>
                </a:solidFill>
              </a:rPr>
              <a:t>several</a:t>
            </a:r>
            <a:r>
              <a:rPr lang="en"/>
              <a:t> </a:t>
            </a:r>
            <a:r>
              <a:rPr lang="en">
                <a:solidFill>
                  <a:srgbClr val="FF00FF"/>
                </a:solidFill>
              </a:rPr>
              <a:t>types</a:t>
            </a:r>
            <a:r>
              <a:rPr lang="en"/>
              <a:t> of food.</a:t>
            </a:r>
            <a:endParaRPr/>
          </a:p>
        </p:txBody>
      </p:sp>
      <p:sp>
        <p:nvSpPr>
          <p:cNvPr id="701" name="Google Shape;701;p80"/>
          <p:cNvSpPr txBox="1"/>
          <p:nvPr/>
        </p:nvSpPr>
        <p:spPr>
          <a:xfrm>
            <a:off x="376425" y="1759975"/>
            <a:ext cx="7076400" cy="30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One </a:t>
            </a:r>
            <a:r>
              <a:rPr lang="en" sz="3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of </a:t>
            </a:r>
            <a:r>
              <a:rPr lang="en" sz="3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food I like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 </a:t>
            </a:r>
            <a:r>
              <a:rPr lang="en" sz="300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[category 1]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Another </a:t>
            </a:r>
            <a:r>
              <a:rPr lang="en" sz="3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of </a:t>
            </a:r>
            <a:r>
              <a:rPr lang="en" sz="3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food I like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 </a:t>
            </a:r>
            <a:r>
              <a:rPr lang="en" sz="300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[category 2]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Finally, </a:t>
            </a:r>
            <a:r>
              <a:rPr lang="en" sz="300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[category 3]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</a:t>
            </a:r>
            <a:r>
              <a:rPr lang="en" sz="30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 another </a:t>
            </a:r>
            <a:r>
              <a:rPr lang="en" sz="3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of </a:t>
            </a:r>
            <a:r>
              <a:rPr lang="en" sz="3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food I like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1"/>
          <p:cNvSpPr txBox="1"/>
          <p:nvPr>
            <p:ph type="title"/>
          </p:nvPr>
        </p:nvSpPr>
        <p:spPr>
          <a:xfrm>
            <a:off x="490250" y="450150"/>
            <a:ext cx="8280000" cy="3169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 like</a:t>
            </a:r>
            <a:r>
              <a:rPr lang="en"/>
              <a:t> </a:t>
            </a:r>
            <a:r>
              <a:rPr lang="en">
                <a:solidFill>
                  <a:srgbClr val="00FFFF"/>
                </a:solidFill>
              </a:rPr>
              <a:t>several</a:t>
            </a:r>
            <a:r>
              <a:rPr lang="en"/>
              <a:t> </a:t>
            </a:r>
            <a:r>
              <a:rPr lang="en">
                <a:solidFill>
                  <a:srgbClr val="FF00FF"/>
                </a:solidFill>
              </a:rPr>
              <a:t>types</a:t>
            </a:r>
            <a:r>
              <a:rPr lang="en"/>
              <a:t> of </a:t>
            </a:r>
            <a:r>
              <a:rPr lang="en">
                <a:solidFill>
                  <a:srgbClr val="FFFF00"/>
                </a:solidFill>
              </a:rPr>
              <a:t>food</a:t>
            </a:r>
            <a:r>
              <a:rPr lang="en"/>
              <a:t>, including </a:t>
            </a:r>
            <a:r>
              <a:rPr lang="en">
                <a:solidFill>
                  <a:srgbClr val="FF9900"/>
                </a:solidFill>
              </a:rPr>
              <a:t>[category 1]</a:t>
            </a:r>
            <a:r>
              <a:rPr lang="en"/>
              <a:t>, </a:t>
            </a:r>
            <a:r>
              <a:rPr lang="en">
                <a:solidFill>
                  <a:srgbClr val="FF9900"/>
                </a:solidFill>
              </a:rPr>
              <a:t>[category 2]</a:t>
            </a:r>
            <a:r>
              <a:rPr lang="en"/>
              <a:t>, and </a:t>
            </a:r>
            <a:r>
              <a:rPr lang="en">
                <a:solidFill>
                  <a:srgbClr val="FF9900"/>
                </a:solidFill>
              </a:rPr>
              <a:t>[category 3]</a:t>
            </a:r>
            <a:r>
              <a:rPr lang="en"/>
              <a:t>.</a:t>
            </a:r>
            <a:endParaRPr/>
          </a:p>
        </p:txBody>
      </p:sp>
      <p:sp>
        <p:nvSpPr>
          <p:cNvPr id="707" name="Google Shape;707;p81"/>
          <p:cNvSpPr txBox="1"/>
          <p:nvPr/>
        </p:nvSpPr>
        <p:spPr>
          <a:xfrm>
            <a:off x="376425" y="3883750"/>
            <a:ext cx="70764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Urbanist"/>
              <a:buChar char="●"/>
            </a:pPr>
            <a:r>
              <a:rPr lang="en" sz="18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One </a:t>
            </a:r>
            <a:r>
              <a:rPr lang="en" sz="18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 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of </a:t>
            </a:r>
            <a:r>
              <a:rPr lang="en" sz="18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food I like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 </a:t>
            </a:r>
            <a:r>
              <a:rPr lang="en" sz="180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[category 1]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Urbanist"/>
              <a:buChar char="●"/>
            </a:pPr>
            <a:r>
              <a:rPr lang="en" sz="18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Another </a:t>
            </a:r>
            <a:r>
              <a:rPr lang="en" sz="18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 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of </a:t>
            </a:r>
            <a:r>
              <a:rPr lang="en" sz="18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food I like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 </a:t>
            </a:r>
            <a:r>
              <a:rPr lang="en" sz="180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[category 2]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Urbanist"/>
              <a:buChar char="●"/>
            </a:pPr>
            <a:r>
              <a:rPr lang="en" sz="18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Finally, </a:t>
            </a:r>
            <a:r>
              <a:rPr lang="en" sz="180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[category 3]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</a:t>
            </a:r>
            <a:r>
              <a:rPr lang="en" sz="18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 another </a:t>
            </a:r>
            <a:r>
              <a:rPr lang="en" sz="18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type 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of </a:t>
            </a:r>
            <a:r>
              <a:rPr lang="en" sz="18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food I like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2"/>
          <p:cNvSpPr txBox="1"/>
          <p:nvPr>
            <p:ph type="title"/>
          </p:nvPr>
        </p:nvSpPr>
        <p:spPr>
          <a:xfrm>
            <a:off x="432000" y="521100"/>
            <a:ext cx="8280000" cy="419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0FF00"/>
                </a:solidFill>
              </a:rPr>
              <a:t>If I have </a:t>
            </a:r>
            <a:r>
              <a:rPr lang="en" sz="3600">
                <a:solidFill>
                  <a:srgbClr val="FFFF00"/>
                </a:solidFill>
              </a:rPr>
              <a:t>taken a position on a topic</a:t>
            </a:r>
            <a:r>
              <a:rPr lang="en" sz="3600">
                <a:solidFill>
                  <a:srgbClr val="00FF00"/>
                </a:solidFill>
              </a:rPr>
              <a:t>, and add</a:t>
            </a:r>
            <a:r>
              <a:rPr lang="en" sz="3600">
                <a:solidFill>
                  <a:srgbClr val="00FF00"/>
                </a:solidFill>
              </a:rPr>
              <a:t> a </a:t>
            </a:r>
            <a:r>
              <a:rPr lang="en" sz="3600">
                <a:solidFill>
                  <a:srgbClr val="00FFFF"/>
                </a:solidFill>
              </a:rPr>
              <a:t>list word</a:t>
            </a:r>
            <a:r>
              <a:rPr lang="en" sz="3600">
                <a:solidFill>
                  <a:srgbClr val="00FF00"/>
                </a:solidFill>
              </a:rPr>
              <a:t> and a </a:t>
            </a:r>
            <a:r>
              <a:rPr lang="en" sz="3600">
                <a:solidFill>
                  <a:srgbClr val="FF00FF"/>
                </a:solidFill>
              </a:rPr>
              <a:t>structural lynchipin</a:t>
            </a:r>
            <a:r>
              <a:rPr lang="en" sz="3600"/>
              <a:t>, </a:t>
            </a:r>
            <a:r>
              <a:rPr lang="en" sz="3600">
                <a:solidFill>
                  <a:srgbClr val="00FF00"/>
                </a:solidFill>
              </a:rPr>
              <a:t>then I can outline the </a:t>
            </a:r>
            <a:r>
              <a:rPr i="1" lang="en" sz="3600">
                <a:solidFill>
                  <a:srgbClr val="00FF00"/>
                </a:solidFill>
              </a:rPr>
              <a:t>entire </a:t>
            </a:r>
            <a:r>
              <a:rPr lang="en" sz="3600">
                <a:solidFill>
                  <a:srgbClr val="00FF00"/>
                </a:solidFill>
              </a:rPr>
              <a:t>essay-level structure without knowing </a:t>
            </a:r>
            <a:r>
              <a:rPr i="1" lang="en" sz="3600">
                <a:solidFill>
                  <a:srgbClr val="00FF00"/>
                </a:solidFill>
              </a:rPr>
              <a:t>any </a:t>
            </a:r>
            <a:r>
              <a:rPr lang="en" sz="3600">
                <a:solidFill>
                  <a:srgbClr val="00FF00"/>
                </a:solidFill>
              </a:rPr>
              <a:t>of the content</a:t>
            </a:r>
            <a:r>
              <a:rPr lang="en" sz="3600"/>
              <a:t>.</a:t>
            </a: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Categorizing Data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5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Your task is to look at the items in the dataset and organize them into three categories of your choosing.</a:t>
            </a:r>
            <a:endParaRPr sz="1600"/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Step 1: Create three category names. These should make sense based on how you group the items.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Step 2: Place at least three items in each category.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Not every item needs to be used, and the categories do not need to be equal in size.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Categories should be parallel—they should reflect a single organizing principle.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This is a thinking activity, not a quiz. There are many valid ways to organize the same list. 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85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Organizing Data into Categories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86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Valid Organization Rationales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7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Your task is to look at the items in the dataset and organize them into three categories of your choosing.</a:t>
            </a:r>
            <a:endParaRPr sz="1600"/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Step 1: Create three category names. These should make sense based on how you group the items.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Step 2: Place at least three items in each category.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Not every item needs to be used, and the categories do not need to be equal in size.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Categories should be parallel—they should reflect a single organizing principle.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This is a thinking activity, not a quiz. There are many valid ways to organize the same list. 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87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Organizing Data into Categories</a:t>
            </a:r>
            <a:endParaRPr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8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Out of Binaries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9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Sometimes students naturally come up with binary categories—two opposite groups, like:</a:t>
            </a:r>
            <a:endParaRPr sz="1600"/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Sauce / No Sauce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Hot / Cold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Plant-based / Animal-based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But most assignments (like yours) require three or more non-overlapping categories. So how do we get there?</a:t>
            </a:r>
            <a:endParaRPr sz="1600"/>
          </a:p>
        </p:txBody>
      </p:sp>
      <p:sp>
        <p:nvSpPr>
          <p:cNvPr id="749" name="Google Shape;749;p89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How to Find Three or More Categories</a:t>
            </a:r>
            <a:endParaRPr sz="3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0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These in-between categories let you create a third option that is distinct (not vague).</a:t>
            </a:r>
            <a:endParaRPr sz="1600"/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Sauce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 sauce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Might use</a:t>
            </a:r>
            <a:r>
              <a:rPr lang="en" sz="1600"/>
              <a:t> sauce (optional, mixed, or customizable meals like burritos, wings, sandwiches)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This makes the structure clear, inclusive, and non-overlapping.</a:t>
            </a:r>
            <a:endParaRPr sz="1600"/>
          </a:p>
        </p:txBody>
      </p:sp>
      <p:sp>
        <p:nvSpPr>
          <p:cNvPr id="755" name="Google Shape;755;p90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Strategy 1: Use “Maybe,” “Mixed,” “Neither,” or “Sometimes”</a:t>
            </a:r>
            <a:r>
              <a:rPr lang="en" sz="2500"/>
              <a:t> as a Middle Zone</a:t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1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If you’re stuck in a two-part system, look at your items from a different angle. Pull one category from another organizing idea, as long as it doesn’t overlap.</a:t>
            </a:r>
            <a:endParaRPr sz="1600"/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student organized by: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Fast Food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Slow-cooked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…but couldn’t find a third. Then they realized they could add: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Restaurant (sit-down meals)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Even though it's based on location, not prep time, it adds a third angle with minimal overlap.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61" name="Google Shape;761;p91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Strategy 2: Borrow a New Structure for a Third Category</a:t>
            </a:r>
            <a:endParaRPr sz="2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2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Brainstorming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List 10–15 things you like.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These may be a mix of more specific and more general things.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72" name="Google Shape;772;p9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Brainstorming</a:t>
            </a:r>
            <a:endParaRPr sz="3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94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Organize into 3 categories.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Include at least three items per category.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THEN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600"/>
              <a:t>Write a thesis statement that covers all three categories.</a:t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94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Organizing </a:t>
            </a:r>
            <a:r>
              <a:rPr lang="en" sz="3600"/>
              <a:t>into Categories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