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Lst>
  <p:sldSz cy="19050000" cx="7620000"/>
  <p:notesSz cx="6858000" cy="9144000"/>
  <p:embeddedFontLst>
    <p:embeddedFont>
      <p:font typeface="Caveat"/>
      <p:regular r:id="rId8"/>
      <p:bold r:id="rId9"/>
    </p:embeddedFont>
    <p:embeddedFont>
      <p:font typeface="Playfair Display"/>
      <p:regular r:id="rId10"/>
      <p:bold r:id="rId11"/>
      <p:italic r:id="rId12"/>
      <p:boldItalic r:id="rId13"/>
    </p:embeddedFont>
    <p:embeddedFont>
      <p:font typeface="Source Code Pro"/>
      <p:regular r:id="rId14"/>
      <p:bold r:id="rId15"/>
      <p:italic r:id="rId16"/>
      <p:boldItalic r:id="rId17"/>
    </p:embeddedFont>
    <p:embeddedFont>
      <p:font typeface="EB Garamond"/>
      <p:regular r:id="rId18"/>
      <p:bold r:id="rId19"/>
      <p:italic r:id="rId20"/>
      <p:boldItalic r:id="rId21"/>
    </p:embeddedFont>
    <p:embeddedFont>
      <p:font typeface="Dancing Script"/>
      <p:regular r:id="rId22"/>
      <p:bold r:id="rId23"/>
    </p:embeddedFont>
    <p:embeddedFont>
      <p:font typeface="Barlow"/>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000">
          <p15:clr>
            <a:srgbClr val="A4A3A4"/>
          </p15:clr>
        </p15:guide>
        <p15:guide id="2" pos="240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000" orient="horz"/>
        <p:guide pos="240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EBGaramond-italic.fntdata"/><Relationship Id="rId22" Type="http://schemas.openxmlformats.org/officeDocument/2006/relationships/font" Target="fonts/DancingScript-regular.fntdata"/><Relationship Id="rId21" Type="http://schemas.openxmlformats.org/officeDocument/2006/relationships/font" Target="fonts/EBGaramond-boldItalic.fntdata"/><Relationship Id="rId24" Type="http://schemas.openxmlformats.org/officeDocument/2006/relationships/font" Target="fonts/Barlow-regular.fntdata"/><Relationship Id="rId23" Type="http://schemas.openxmlformats.org/officeDocument/2006/relationships/font" Target="fonts/DancingScript-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Caveat-bold.fntdata"/><Relationship Id="rId26" Type="http://schemas.openxmlformats.org/officeDocument/2006/relationships/font" Target="fonts/Barlow-italic.fntdata"/><Relationship Id="rId25" Type="http://schemas.openxmlformats.org/officeDocument/2006/relationships/font" Target="fonts/Barlow-bold.fntdata"/><Relationship Id="rId27" Type="http://schemas.openxmlformats.org/officeDocument/2006/relationships/font" Target="fonts/Barlow-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font" Target="fonts/Caveat-regular.fntdata"/><Relationship Id="rId11" Type="http://schemas.openxmlformats.org/officeDocument/2006/relationships/font" Target="fonts/PlayfairDisplay-bold.fntdata"/><Relationship Id="rId10" Type="http://schemas.openxmlformats.org/officeDocument/2006/relationships/font" Target="fonts/PlayfairDisplay-regular.fntdata"/><Relationship Id="rId13" Type="http://schemas.openxmlformats.org/officeDocument/2006/relationships/font" Target="fonts/PlayfairDisplay-boldItalic.fntdata"/><Relationship Id="rId12" Type="http://schemas.openxmlformats.org/officeDocument/2006/relationships/font" Target="fonts/PlayfairDisplay-italic.fntdata"/><Relationship Id="rId15" Type="http://schemas.openxmlformats.org/officeDocument/2006/relationships/font" Target="fonts/SourceCodePro-bold.fntdata"/><Relationship Id="rId14" Type="http://schemas.openxmlformats.org/officeDocument/2006/relationships/font" Target="fonts/SourceCodePro-regular.fntdata"/><Relationship Id="rId17" Type="http://schemas.openxmlformats.org/officeDocument/2006/relationships/font" Target="fonts/SourceCodePro-boldItalic.fntdata"/><Relationship Id="rId16" Type="http://schemas.openxmlformats.org/officeDocument/2006/relationships/font" Target="fonts/SourceCodePro-italic.fntdata"/><Relationship Id="rId19" Type="http://schemas.openxmlformats.org/officeDocument/2006/relationships/font" Target="fonts/EBGaramond-bold.fntdata"/><Relationship Id="rId18" Type="http://schemas.openxmlformats.org/officeDocument/2006/relationships/font" Target="fonts/EBGaramond-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743529" y="685800"/>
            <a:ext cx="1371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c08959b149_0_53:notes"/>
          <p:cNvSpPr/>
          <p:nvPr>
            <p:ph idx="2" type="sldImg"/>
          </p:nvPr>
        </p:nvSpPr>
        <p:spPr>
          <a:xfrm>
            <a:off x="2743529" y="685800"/>
            <a:ext cx="13716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c08959b149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a81c6c3a40_0_0:notes"/>
          <p:cNvSpPr/>
          <p:nvPr>
            <p:ph idx="2" type="sldImg"/>
          </p:nvPr>
        </p:nvSpPr>
        <p:spPr>
          <a:xfrm>
            <a:off x="2743529" y="685800"/>
            <a:ext cx="13716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a81c6c3a4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59757" y="2757685"/>
            <a:ext cx="7100400" cy="760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259750" y="10496759"/>
            <a:ext cx="7100400" cy="293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59750" y="7966111"/>
            <a:ext cx="7100400" cy="31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259750" y="1648241"/>
            <a:ext cx="7100400" cy="2121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259750" y="4268426"/>
            <a:ext cx="7100400" cy="12653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259750" y="1648241"/>
            <a:ext cx="7100400" cy="2121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259750" y="4268426"/>
            <a:ext cx="3333300" cy="12653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027000" y="4268426"/>
            <a:ext cx="3333300" cy="12653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259750" y="1648241"/>
            <a:ext cx="7100400" cy="2121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259750" y="2057778"/>
            <a:ext cx="2340000" cy="27990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259750" y="5146667"/>
            <a:ext cx="2340000" cy="117756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08542" y="1667222"/>
            <a:ext cx="5306400" cy="151512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3810000" y="-463"/>
            <a:ext cx="3810000" cy="19050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21250" y="4567315"/>
            <a:ext cx="3371100" cy="54900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21250" y="10381759"/>
            <a:ext cx="3371100" cy="4574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116250" y="2681759"/>
            <a:ext cx="3197400" cy="136857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259750" y="15668796"/>
            <a:ext cx="4998900" cy="22410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259750" y="4096759"/>
            <a:ext cx="7100400" cy="727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259750" y="11674907"/>
            <a:ext cx="7100400" cy="48177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9750" y="1648241"/>
            <a:ext cx="7100400" cy="212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59750" y="4268426"/>
            <a:ext cx="7100400" cy="12653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7060382" y="17271173"/>
            <a:ext cx="457200" cy="1457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3.jpg"/><Relationship Id="rId11" Type="http://schemas.openxmlformats.org/officeDocument/2006/relationships/image" Target="../media/image4.png"/><Relationship Id="rId10" Type="http://schemas.openxmlformats.org/officeDocument/2006/relationships/image" Target="../media/image2.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png"/><Relationship Id="rId7" Type="http://schemas.openxmlformats.org/officeDocument/2006/relationships/image" Target="../media/image9.png"/><Relationship Id="rId8"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pic>
        <p:nvPicPr>
          <p:cNvPr id="54" name="Google Shape;54;p13"/>
          <p:cNvPicPr preferRelativeResize="0"/>
          <p:nvPr/>
        </p:nvPicPr>
        <p:blipFill rotWithShape="1">
          <a:blip r:embed="rId4">
            <a:alphaModFix/>
          </a:blip>
          <a:srcRect b="2892" l="4121" r="3882" t="11550"/>
          <a:stretch/>
        </p:blipFill>
        <p:spPr>
          <a:xfrm>
            <a:off x="314400" y="11382300"/>
            <a:ext cx="7010400" cy="3667199"/>
          </a:xfrm>
          <a:prstGeom prst="rect">
            <a:avLst/>
          </a:prstGeom>
          <a:noFill/>
          <a:ln>
            <a:noFill/>
          </a:ln>
        </p:spPr>
      </p:pic>
      <p:sp>
        <p:nvSpPr>
          <p:cNvPr id="55" name="Google Shape;55;p13"/>
          <p:cNvSpPr txBox="1"/>
          <p:nvPr/>
        </p:nvSpPr>
        <p:spPr>
          <a:xfrm>
            <a:off x="819150" y="13325475"/>
            <a:ext cx="6410400" cy="1238400"/>
          </a:xfrm>
          <a:prstGeom prst="rect">
            <a:avLst/>
          </a:prstGeom>
          <a:solidFill>
            <a:srgbClr val="FF00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3"/>
          <p:cNvSpPr txBox="1"/>
          <p:nvPr/>
        </p:nvSpPr>
        <p:spPr>
          <a:xfrm>
            <a:off x="828675" y="11563350"/>
            <a:ext cx="6258000" cy="1238400"/>
          </a:xfrm>
          <a:prstGeom prst="rect">
            <a:avLst/>
          </a:prstGeom>
          <a:solidFill>
            <a:srgbClr val="FF00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57" name="Google Shape;57;p13"/>
          <p:cNvPicPr preferRelativeResize="0"/>
          <p:nvPr/>
        </p:nvPicPr>
        <p:blipFill rotWithShape="1">
          <a:blip r:embed="rId5">
            <a:alphaModFix/>
          </a:blip>
          <a:srcRect b="0" l="31691" r="27386" t="0"/>
          <a:stretch/>
        </p:blipFill>
        <p:spPr>
          <a:xfrm rot="10800000">
            <a:off x="4985887" y="8083125"/>
            <a:ext cx="2447925" cy="3455650"/>
          </a:xfrm>
          <a:prstGeom prst="rect">
            <a:avLst/>
          </a:prstGeom>
          <a:noFill/>
          <a:ln>
            <a:noFill/>
          </a:ln>
        </p:spPr>
      </p:pic>
      <p:pic>
        <p:nvPicPr>
          <p:cNvPr id="58" name="Google Shape;58;p13"/>
          <p:cNvPicPr preferRelativeResize="0"/>
          <p:nvPr/>
        </p:nvPicPr>
        <p:blipFill rotWithShape="1">
          <a:blip r:embed="rId5">
            <a:alphaModFix/>
          </a:blip>
          <a:srcRect b="0" l="31691" r="27386" t="0"/>
          <a:stretch/>
        </p:blipFill>
        <p:spPr>
          <a:xfrm>
            <a:off x="2277675" y="8116300"/>
            <a:ext cx="2447925" cy="3455650"/>
          </a:xfrm>
          <a:prstGeom prst="rect">
            <a:avLst/>
          </a:prstGeom>
          <a:noFill/>
          <a:ln>
            <a:noFill/>
          </a:ln>
        </p:spPr>
      </p:pic>
      <p:sp>
        <p:nvSpPr>
          <p:cNvPr id="59" name="Google Shape;59;p13"/>
          <p:cNvSpPr txBox="1"/>
          <p:nvPr/>
        </p:nvSpPr>
        <p:spPr>
          <a:xfrm>
            <a:off x="3962400" y="3771900"/>
            <a:ext cx="3190800" cy="2712000"/>
          </a:xfrm>
          <a:prstGeom prst="rect">
            <a:avLst/>
          </a:prstGeom>
          <a:gradFill>
            <a:gsLst>
              <a:gs pos="0">
                <a:srgbClr val="DBD4EB"/>
              </a:gs>
              <a:gs pos="100000">
                <a:srgbClr val="9180BB"/>
              </a:gs>
            </a:gsLst>
            <a:path path="circle">
              <a:fillToRect b="50%" l="50%" r="50%" t="50%"/>
            </a:path>
            <a:tileRect/>
          </a:gra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60" name="Google Shape;60;p13"/>
          <p:cNvPicPr preferRelativeResize="0"/>
          <p:nvPr/>
        </p:nvPicPr>
        <p:blipFill>
          <a:blip r:embed="rId6">
            <a:alphaModFix/>
          </a:blip>
          <a:stretch>
            <a:fillRect/>
          </a:stretch>
        </p:blipFill>
        <p:spPr>
          <a:xfrm>
            <a:off x="-6309700" y="6626072"/>
            <a:ext cx="5149125" cy="4900674"/>
          </a:xfrm>
          <a:prstGeom prst="rect">
            <a:avLst/>
          </a:prstGeom>
          <a:noFill/>
          <a:ln>
            <a:noFill/>
          </a:ln>
        </p:spPr>
      </p:pic>
      <p:sp>
        <p:nvSpPr>
          <p:cNvPr id="61" name="Google Shape;61;p13"/>
          <p:cNvSpPr txBox="1"/>
          <p:nvPr/>
        </p:nvSpPr>
        <p:spPr>
          <a:xfrm>
            <a:off x="-11779675" y="-9525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latin typeface="Barlow"/>
                <a:ea typeface="Barlow"/>
                <a:cs typeface="Barlow"/>
                <a:sym typeface="Barlow"/>
              </a:rPr>
              <a:t>Having a hard time reading something?</a:t>
            </a:r>
            <a:endParaRPr b="1" sz="6000">
              <a:latin typeface="Barlow"/>
              <a:ea typeface="Barlow"/>
              <a:cs typeface="Barlow"/>
              <a:sym typeface="Barlow"/>
            </a:endParaRPr>
          </a:p>
          <a:p>
            <a:pPr indent="0" lvl="0" marL="0" rtl="0" algn="l">
              <a:spcBef>
                <a:spcPts val="0"/>
              </a:spcBef>
              <a:spcAft>
                <a:spcPts val="0"/>
              </a:spcAft>
              <a:buNone/>
            </a:pPr>
            <a:r>
              <a:rPr lang="en" sz="6000">
                <a:latin typeface="Barlow"/>
                <a:ea typeface="Barlow"/>
                <a:cs typeface="Barlow"/>
                <a:sym typeface="Barlow"/>
              </a:rPr>
              <a:t>Remember, you can zoom in on any part of this document. Just use the zoom button. The little dropdown arrow next to it has an option called “zoom in.”</a:t>
            </a:r>
            <a:endParaRPr sz="6000">
              <a:latin typeface="Barlow"/>
              <a:ea typeface="Barlow"/>
              <a:cs typeface="Barlow"/>
              <a:sym typeface="Barlow"/>
            </a:endParaRPr>
          </a:p>
        </p:txBody>
      </p:sp>
      <p:sp>
        <p:nvSpPr>
          <p:cNvPr id="62" name="Google Shape;62;p13"/>
          <p:cNvSpPr txBox="1"/>
          <p:nvPr/>
        </p:nvSpPr>
        <p:spPr>
          <a:xfrm>
            <a:off x="-11874950" y="1214790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latin typeface="Barlow"/>
                <a:ea typeface="Barlow"/>
                <a:cs typeface="Barlow"/>
                <a:sym typeface="Barlow"/>
              </a:rPr>
              <a:t>Or you can click the zoom button and then click and drag the area you want to zoom in. That way, it’s zoomed to exactly the part you need! And you can always zoom out by choosing “fit” in the zoom dropdown menu.</a:t>
            </a:r>
            <a:endParaRPr sz="6000">
              <a:latin typeface="Barlow"/>
              <a:ea typeface="Barlow"/>
              <a:cs typeface="Barlow"/>
              <a:sym typeface="Barlow"/>
            </a:endParaRPr>
          </a:p>
        </p:txBody>
      </p:sp>
      <p:sp>
        <p:nvSpPr>
          <p:cNvPr id="63" name="Google Shape;63;p13"/>
          <p:cNvSpPr txBox="1"/>
          <p:nvPr/>
        </p:nvSpPr>
        <p:spPr>
          <a:xfrm>
            <a:off x="314325" y="619125"/>
            <a:ext cx="5005800" cy="196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6000">
                <a:solidFill>
                  <a:srgbClr val="351C75"/>
                </a:solidFill>
                <a:latin typeface="Dancing Script"/>
                <a:ea typeface="Dancing Script"/>
                <a:cs typeface="Dancing Script"/>
                <a:sym typeface="Dancing Script"/>
              </a:rPr>
              <a:t>Lauren E. Levesque</a:t>
            </a:r>
            <a:endParaRPr sz="6000">
              <a:latin typeface="Georgia"/>
              <a:ea typeface="Georgia"/>
              <a:cs typeface="Georgia"/>
              <a:sym typeface="Georgia"/>
            </a:endParaRPr>
          </a:p>
        </p:txBody>
      </p:sp>
      <p:sp>
        <p:nvSpPr>
          <p:cNvPr id="64" name="Google Shape;64;p13"/>
          <p:cNvSpPr txBox="1"/>
          <p:nvPr/>
        </p:nvSpPr>
        <p:spPr>
          <a:xfrm>
            <a:off x="304800" y="2647950"/>
            <a:ext cx="7010400" cy="95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Georgia"/>
                <a:ea typeface="Georgia"/>
                <a:cs typeface="Georgia"/>
                <a:sym typeface="Georgia"/>
              </a:rPr>
              <a:t>End-of-Term Reflective Infographic</a:t>
            </a:r>
            <a:endParaRPr sz="3000"/>
          </a:p>
        </p:txBody>
      </p:sp>
      <p:sp>
        <p:nvSpPr>
          <p:cNvPr id="65" name="Google Shape;65;p13"/>
          <p:cNvSpPr txBox="1"/>
          <p:nvPr/>
        </p:nvSpPr>
        <p:spPr>
          <a:xfrm>
            <a:off x="8495375" y="1268325"/>
            <a:ext cx="5149200" cy="6639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Write your name.</a:t>
            </a:r>
            <a:endParaRPr sz="3000"/>
          </a:p>
        </p:txBody>
      </p:sp>
      <p:pic>
        <p:nvPicPr>
          <p:cNvPr id="66" name="Google Shape;66;p13"/>
          <p:cNvPicPr preferRelativeResize="0"/>
          <p:nvPr/>
        </p:nvPicPr>
        <p:blipFill>
          <a:blip r:embed="rId7">
            <a:alphaModFix/>
          </a:blip>
          <a:stretch>
            <a:fillRect/>
          </a:stretch>
        </p:blipFill>
        <p:spPr>
          <a:xfrm>
            <a:off x="371400" y="3697194"/>
            <a:ext cx="3410100" cy="2549705"/>
          </a:xfrm>
          <a:prstGeom prst="rect">
            <a:avLst/>
          </a:prstGeom>
          <a:noFill/>
          <a:ln>
            <a:noFill/>
          </a:ln>
        </p:spPr>
      </p:pic>
      <p:sp>
        <p:nvSpPr>
          <p:cNvPr id="67" name="Google Shape;67;p13"/>
          <p:cNvSpPr txBox="1"/>
          <p:nvPr/>
        </p:nvSpPr>
        <p:spPr>
          <a:xfrm>
            <a:off x="8495375" y="3600450"/>
            <a:ext cx="5149200" cy="10860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Write the title of the best thing you read this term.</a:t>
            </a:r>
            <a:endParaRPr sz="3000"/>
          </a:p>
        </p:txBody>
      </p:sp>
      <p:sp>
        <p:nvSpPr>
          <p:cNvPr id="68" name="Google Shape;68;p13"/>
          <p:cNvSpPr txBox="1"/>
          <p:nvPr/>
        </p:nvSpPr>
        <p:spPr>
          <a:xfrm>
            <a:off x="8495375" y="15049500"/>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What is one thing you are proud of doing this term?</a:t>
            </a:r>
            <a:endParaRPr sz="3000"/>
          </a:p>
        </p:txBody>
      </p:sp>
      <p:sp>
        <p:nvSpPr>
          <p:cNvPr id="69" name="Google Shape;69;p13"/>
          <p:cNvSpPr txBox="1"/>
          <p:nvPr/>
        </p:nvSpPr>
        <p:spPr>
          <a:xfrm>
            <a:off x="457200" y="15173400"/>
            <a:ext cx="2952900" cy="303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rgbClr val="E91D63"/>
                </a:solidFill>
                <a:latin typeface="EB Garamond"/>
                <a:ea typeface="EB Garamond"/>
                <a:cs typeface="EB Garamond"/>
                <a:sym typeface="EB Garamond"/>
              </a:rPr>
              <a:t>One thing I am proud of is coming to class on time and revising my writing instead of just accepting their grade when I get them back. Since I get the opportunity to make them up I should. </a:t>
            </a:r>
            <a:endParaRPr b="1" sz="2100">
              <a:solidFill>
                <a:schemeClr val="dk1"/>
              </a:solidFill>
              <a:latin typeface="Georgia"/>
              <a:ea typeface="Georgia"/>
              <a:cs typeface="Georgia"/>
              <a:sym typeface="Georgia"/>
            </a:endParaRPr>
          </a:p>
        </p:txBody>
      </p:sp>
      <p:sp>
        <p:nvSpPr>
          <p:cNvPr id="70" name="Google Shape;70;p13"/>
          <p:cNvSpPr txBox="1"/>
          <p:nvPr/>
        </p:nvSpPr>
        <p:spPr>
          <a:xfrm>
            <a:off x="8495400" y="16725900"/>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What is one thing you could work on doing better next term?</a:t>
            </a:r>
            <a:endParaRPr sz="3000"/>
          </a:p>
        </p:txBody>
      </p:sp>
      <p:sp>
        <p:nvSpPr>
          <p:cNvPr id="71" name="Google Shape;71;p13"/>
          <p:cNvSpPr txBox="1"/>
          <p:nvPr/>
        </p:nvSpPr>
        <p:spPr>
          <a:xfrm>
            <a:off x="3667125" y="15049500"/>
            <a:ext cx="3648000" cy="3352800"/>
          </a:xfrm>
          <a:prstGeom prst="rect">
            <a:avLst/>
          </a:prstGeom>
          <a:solidFill>
            <a:srgbClr val="FF00FF"/>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300">
                <a:solidFill>
                  <a:srgbClr val="FFFFFF"/>
                </a:solidFill>
                <a:latin typeface="Caveat"/>
                <a:ea typeface="Caveat"/>
                <a:cs typeface="Caveat"/>
                <a:sym typeface="Caveat"/>
              </a:rPr>
              <a:t>I</a:t>
            </a:r>
            <a:r>
              <a:rPr lang="en" sz="3000">
                <a:solidFill>
                  <a:srgbClr val="FFFFFF"/>
                </a:solidFill>
                <a:latin typeface="Caveat"/>
                <a:ea typeface="Caveat"/>
                <a:cs typeface="Caveat"/>
                <a:sym typeface="Caveat"/>
              </a:rPr>
              <a:t> did most of the assignments, but next term, I will work harder to attempt the assignments even if it doesn’t look perfect or is not completely finished.</a:t>
            </a:r>
            <a:endParaRPr sz="3000">
              <a:solidFill>
                <a:srgbClr val="FFFFFF"/>
              </a:solidFill>
              <a:latin typeface="Caveat"/>
              <a:ea typeface="Caveat"/>
              <a:cs typeface="Caveat"/>
              <a:sym typeface="Caveat"/>
            </a:endParaRPr>
          </a:p>
        </p:txBody>
      </p:sp>
      <p:sp>
        <p:nvSpPr>
          <p:cNvPr id="72" name="Google Shape;72;p13"/>
          <p:cNvSpPr txBox="1"/>
          <p:nvPr/>
        </p:nvSpPr>
        <p:spPr>
          <a:xfrm>
            <a:off x="2305050" y="4229100"/>
            <a:ext cx="1276500" cy="160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2400">
                <a:solidFill>
                  <a:schemeClr val="dk1"/>
                </a:solidFill>
                <a:latin typeface="Georgia"/>
                <a:ea typeface="Georgia"/>
                <a:cs typeface="Georgia"/>
                <a:sym typeface="Georgia"/>
              </a:rPr>
              <a:t>Batsuits and Capes</a:t>
            </a:r>
            <a:endParaRPr sz="2400">
              <a:solidFill>
                <a:schemeClr val="dk1"/>
              </a:solidFill>
              <a:latin typeface="Georgia"/>
              <a:ea typeface="Georgia"/>
              <a:cs typeface="Georgia"/>
              <a:sym typeface="Georgia"/>
            </a:endParaRPr>
          </a:p>
        </p:txBody>
      </p:sp>
      <p:sp>
        <p:nvSpPr>
          <p:cNvPr id="73" name="Google Shape;73;p13"/>
          <p:cNvSpPr txBox="1"/>
          <p:nvPr/>
        </p:nvSpPr>
        <p:spPr>
          <a:xfrm>
            <a:off x="3905250" y="3657600"/>
            <a:ext cx="3410100" cy="468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3000">
                <a:solidFill>
                  <a:schemeClr val="dk1"/>
                </a:solidFill>
                <a:latin typeface="Georgia"/>
                <a:ea typeface="Georgia"/>
                <a:cs typeface="Georgia"/>
                <a:sym typeface="Georgia"/>
              </a:rPr>
              <a:t>One assignment I enjoyed was the book report with choices. It was fun to do something creative.</a:t>
            </a:r>
            <a:endParaRPr sz="3000">
              <a:solidFill>
                <a:schemeClr val="dk1"/>
              </a:solidFill>
              <a:latin typeface="Georgia"/>
              <a:ea typeface="Georgia"/>
              <a:cs typeface="Georgia"/>
              <a:sym typeface="Georgia"/>
            </a:endParaRPr>
          </a:p>
        </p:txBody>
      </p:sp>
      <p:sp>
        <p:nvSpPr>
          <p:cNvPr id="74" name="Google Shape;74;p13"/>
          <p:cNvSpPr txBox="1"/>
          <p:nvPr/>
        </p:nvSpPr>
        <p:spPr>
          <a:xfrm>
            <a:off x="342900" y="6343650"/>
            <a:ext cx="3467100" cy="196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2400">
                <a:solidFill>
                  <a:schemeClr val="dk1"/>
                </a:solidFill>
                <a:latin typeface="Georgia"/>
                <a:ea typeface="Georgia"/>
                <a:cs typeface="Georgia"/>
                <a:sym typeface="Georgia"/>
              </a:rPr>
              <a:t>One thing I would like to learn more about is the different types of writing you might have to do for your job. </a:t>
            </a:r>
            <a:endParaRPr sz="2400">
              <a:solidFill>
                <a:schemeClr val="dk1"/>
              </a:solidFill>
              <a:latin typeface="Georgia"/>
              <a:ea typeface="Georgia"/>
              <a:cs typeface="Georgia"/>
              <a:sym typeface="Georgia"/>
            </a:endParaRPr>
          </a:p>
        </p:txBody>
      </p:sp>
      <p:sp>
        <p:nvSpPr>
          <p:cNvPr id="75" name="Google Shape;75;p13"/>
          <p:cNvSpPr txBox="1"/>
          <p:nvPr/>
        </p:nvSpPr>
        <p:spPr>
          <a:xfrm>
            <a:off x="2400300" y="8220000"/>
            <a:ext cx="4924500" cy="303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300">
              <a:solidFill>
                <a:schemeClr val="dk1"/>
              </a:solidFill>
              <a:latin typeface="Caveat"/>
              <a:ea typeface="Caveat"/>
              <a:cs typeface="Caveat"/>
              <a:sym typeface="Caveat"/>
            </a:endParaRPr>
          </a:p>
          <a:p>
            <a:pPr indent="0" lvl="0" marL="0" rtl="0" algn="l">
              <a:spcBef>
                <a:spcPts val="0"/>
              </a:spcBef>
              <a:spcAft>
                <a:spcPts val="0"/>
              </a:spcAft>
              <a:buNone/>
            </a:pPr>
            <a:r>
              <a:t/>
            </a:r>
            <a:endParaRPr sz="3300">
              <a:solidFill>
                <a:schemeClr val="dk1"/>
              </a:solidFill>
              <a:latin typeface="Caveat"/>
              <a:ea typeface="Caveat"/>
              <a:cs typeface="Caveat"/>
              <a:sym typeface="Caveat"/>
            </a:endParaRPr>
          </a:p>
          <a:p>
            <a:pPr indent="0" lvl="0" marL="0" rtl="0" algn="l">
              <a:spcBef>
                <a:spcPts val="0"/>
              </a:spcBef>
              <a:spcAft>
                <a:spcPts val="0"/>
              </a:spcAft>
              <a:buNone/>
            </a:pPr>
            <a:r>
              <a:t/>
            </a:r>
            <a:endParaRPr sz="3300">
              <a:solidFill>
                <a:schemeClr val="dk1"/>
              </a:solidFill>
              <a:latin typeface="Caveat"/>
              <a:ea typeface="Caveat"/>
              <a:cs typeface="Caveat"/>
              <a:sym typeface="Caveat"/>
            </a:endParaRPr>
          </a:p>
          <a:p>
            <a:pPr indent="0" lvl="0" marL="0" rtl="0" algn="l">
              <a:spcBef>
                <a:spcPts val="0"/>
              </a:spcBef>
              <a:spcAft>
                <a:spcPts val="0"/>
              </a:spcAft>
              <a:buNone/>
            </a:pPr>
            <a:r>
              <a:t/>
            </a:r>
            <a:endParaRPr sz="3300">
              <a:solidFill>
                <a:schemeClr val="dk1"/>
              </a:solidFill>
              <a:latin typeface="Caveat"/>
              <a:ea typeface="Caveat"/>
              <a:cs typeface="Caveat"/>
              <a:sym typeface="Caveat"/>
            </a:endParaRPr>
          </a:p>
          <a:p>
            <a:pPr indent="0" lvl="0" marL="0" rtl="0" algn="l">
              <a:spcBef>
                <a:spcPts val="0"/>
              </a:spcBef>
              <a:spcAft>
                <a:spcPts val="0"/>
              </a:spcAft>
              <a:buNone/>
            </a:pPr>
            <a:r>
              <a:t/>
            </a:r>
            <a:endParaRPr sz="3300">
              <a:solidFill>
                <a:schemeClr val="dk1"/>
              </a:solidFill>
              <a:latin typeface="Caveat"/>
              <a:ea typeface="Caveat"/>
              <a:cs typeface="Caveat"/>
              <a:sym typeface="Caveat"/>
            </a:endParaRPr>
          </a:p>
          <a:p>
            <a:pPr indent="0" lvl="0" marL="0" rtl="0" algn="l">
              <a:spcBef>
                <a:spcPts val="0"/>
              </a:spcBef>
              <a:spcAft>
                <a:spcPts val="0"/>
              </a:spcAft>
              <a:buClr>
                <a:schemeClr val="dk1"/>
              </a:buClr>
              <a:buSzPts val="1100"/>
              <a:buFont typeface="Arial"/>
              <a:buNone/>
            </a:pPr>
            <a:r>
              <a:rPr lang="en" sz="3300">
                <a:solidFill>
                  <a:srgbClr val="FFFFFF"/>
                </a:solidFill>
                <a:latin typeface="Caveat"/>
                <a:ea typeface="Caveat"/>
                <a:cs typeface="Caveat"/>
                <a:sym typeface="Caveat"/>
              </a:rPr>
              <a:t>Paolo Coelho</a:t>
            </a:r>
            <a:endParaRPr sz="3000">
              <a:solidFill>
                <a:srgbClr val="FFFFFF"/>
              </a:solidFill>
              <a:latin typeface="Georgia"/>
              <a:ea typeface="Georgia"/>
              <a:cs typeface="Georgia"/>
              <a:sym typeface="Georgia"/>
            </a:endParaRPr>
          </a:p>
        </p:txBody>
      </p:sp>
      <p:sp>
        <p:nvSpPr>
          <p:cNvPr id="76" name="Google Shape;76;p13"/>
          <p:cNvSpPr txBox="1"/>
          <p:nvPr/>
        </p:nvSpPr>
        <p:spPr>
          <a:xfrm>
            <a:off x="304800" y="11382300"/>
            <a:ext cx="7010400" cy="3667200"/>
          </a:xfrm>
          <a:prstGeom prst="rect">
            <a:avLst/>
          </a:prstGeom>
          <a:noFill/>
          <a:ln>
            <a:noFill/>
          </a:ln>
        </p:spPr>
        <p:txBody>
          <a:bodyPr anchorCtr="0" anchor="t" bIns="91425" lIns="91425" spcFirstLastPara="1" rIns="91425" wrap="square" tIns="91425">
            <a:noAutofit/>
          </a:bodyPr>
          <a:lstStyle/>
          <a:p>
            <a:pPr indent="-425450" lvl="0" marL="457200" marR="0" rtl="0" algn="l">
              <a:lnSpc>
                <a:spcPct val="100000"/>
              </a:lnSpc>
              <a:spcBef>
                <a:spcPts val="0"/>
              </a:spcBef>
              <a:spcAft>
                <a:spcPts val="0"/>
              </a:spcAft>
              <a:buClr>
                <a:srgbClr val="FFFFFF"/>
              </a:buClr>
              <a:buSzPts val="3100"/>
              <a:buFont typeface="Georgia"/>
              <a:buChar char="●"/>
            </a:pPr>
            <a:r>
              <a:rPr b="1" lang="en" sz="2800">
                <a:solidFill>
                  <a:srgbClr val="FFFFFF"/>
                </a:solidFill>
                <a:latin typeface="EB Garamond"/>
                <a:ea typeface="EB Garamond"/>
                <a:cs typeface="EB Garamond"/>
                <a:sym typeface="EB Garamond"/>
              </a:rPr>
              <a:t>My grade accurately reflects my work and work ethic because my grade was a C, and that’s about how much effort I put forth.</a:t>
            </a:r>
            <a:endParaRPr b="1" sz="2800">
              <a:solidFill>
                <a:srgbClr val="FFFFFF"/>
              </a:solidFill>
              <a:latin typeface="EB Garamond"/>
              <a:ea typeface="EB Garamond"/>
              <a:cs typeface="EB Garamond"/>
              <a:sym typeface="EB Garamond"/>
            </a:endParaRPr>
          </a:p>
          <a:p>
            <a:pPr indent="0" lvl="0" marL="0" marR="0" rtl="0" algn="l">
              <a:lnSpc>
                <a:spcPct val="100000"/>
              </a:lnSpc>
              <a:spcBef>
                <a:spcPts val="0"/>
              </a:spcBef>
              <a:spcAft>
                <a:spcPts val="0"/>
              </a:spcAft>
              <a:buNone/>
            </a:pPr>
            <a:r>
              <a:t/>
            </a:r>
            <a:endParaRPr b="1" sz="2800">
              <a:solidFill>
                <a:srgbClr val="FFFFFF"/>
              </a:solidFill>
              <a:latin typeface="EB Garamond"/>
              <a:ea typeface="EB Garamond"/>
              <a:cs typeface="EB Garamond"/>
              <a:sym typeface="EB Garamond"/>
            </a:endParaRPr>
          </a:p>
          <a:p>
            <a:pPr indent="-425450" lvl="0" marL="457200" marR="0" rtl="0" algn="l">
              <a:lnSpc>
                <a:spcPct val="100000"/>
              </a:lnSpc>
              <a:spcBef>
                <a:spcPts val="0"/>
              </a:spcBef>
              <a:spcAft>
                <a:spcPts val="0"/>
              </a:spcAft>
              <a:buClr>
                <a:srgbClr val="FFFFFF"/>
              </a:buClr>
              <a:buSzPts val="3100"/>
              <a:buFont typeface="Georgia"/>
              <a:buChar char="●"/>
            </a:pPr>
            <a:r>
              <a:rPr b="1" lang="en" sz="2800">
                <a:solidFill>
                  <a:srgbClr val="FFFFFF"/>
                </a:solidFill>
                <a:latin typeface="EB Garamond"/>
                <a:ea typeface="EB Garamond"/>
                <a:cs typeface="EB Garamond"/>
                <a:sym typeface="EB Garamond"/>
              </a:rPr>
              <a:t>One strength I could use to improve my grade is to relax so I stop procrastinating and just do my best and not have to worry.</a:t>
            </a:r>
            <a:endParaRPr b="1" sz="2800">
              <a:solidFill>
                <a:srgbClr val="FFFFFF"/>
              </a:solidFill>
              <a:latin typeface="EB Garamond"/>
              <a:ea typeface="EB Garamond"/>
              <a:cs typeface="EB Garamond"/>
              <a:sym typeface="EB Garamond"/>
            </a:endParaRPr>
          </a:p>
        </p:txBody>
      </p:sp>
      <p:sp>
        <p:nvSpPr>
          <p:cNvPr id="77" name="Google Shape;77;p13"/>
          <p:cNvSpPr txBox="1"/>
          <p:nvPr/>
        </p:nvSpPr>
        <p:spPr>
          <a:xfrm>
            <a:off x="8495400" y="8528976"/>
            <a:ext cx="5149200" cy="10860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Write a quote that inspires you.</a:t>
            </a:r>
            <a:endParaRPr sz="3000"/>
          </a:p>
        </p:txBody>
      </p:sp>
      <p:sp>
        <p:nvSpPr>
          <p:cNvPr id="78" name="Google Shape;78;p13"/>
          <p:cNvSpPr txBox="1"/>
          <p:nvPr/>
        </p:nvSpPr>
        <p:spPr>
          <a:xfrm>
            <a:off x="8495375" y="4856163"/>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This term, what assignment did you enjoy the most (or interested you the most)?</a:t>
            </a:r>
            <a:endParaRPr sz="3000"/>
          </a:p>
        </p:txBody>
      </p:sp>
      <p:sp>
        <p:nvSpPr>
          <p:cNvPr id="79" name="Google Shape;79;p13"/>
          <p:cNvSpPr txBox="1"/>
          <p:nvPr/>
        </p:nvSpPr>
        <p:spPr>
          <a:xfrm>
            <a:off x="8495400" y="6626075"/>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What is something you would like to learn about (or learn more about)?</a:t>
            </a:r>
            <a:endParaRPr sz="3000"/>
          </a:p>
        </p:txBody>
      </p:sp>
      <p:sp>
        <p:nvSpPr>
          <p:cNvPr id="80" name="Google Shape;80;p13"/>
          <p:cNvSpPr txBox="1"/>
          <p:nvPr/>
        </p:nvSpPr>
        <p:spPr>
          <a:xfrm>
            <a:off x="8495375" y="9725025"/>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Insert a picture related to the app (or website) you liked best.</a:t>
            </a:r>
            <a:endParaRPr sz="3000"/>
          </a:p>
        </p:txBody>
      </p:sp>
      <p:sp>
        <p:nvSpPr>
          <p:cNvPr id="81" name="Google Shape;81;p13"/>
          <p:cNvSpPr txBox="1"/>
          <p:nvPr/>
        </p:nvSpPr>
        <p:spPr>
          <a:xfrm>
            <a:off x="8495400" y="11675975"/>
            <a:ext cx="5149200" cy="29241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How well does your grade reflect your work and work ethic? Which of you strengths could you use to improve your grade or to keep the grade you have?</a:t>
            </a:r>
            <a:endParaRPr sz="3000"/>
          </a:p>
        </p:txBody>
      </p:sp>
      <p:pic>
        <p:nvPicPr>
          <p:cNvPr id="82" name="Google Shape;82;p13"/>
          <p:cNvPicPr preferRelativeResize="0"/>
          <p:nvPr/>
        </p:nvPicPr>
        <p:blipFill>
          <a:blip r:embed="rId8">
            <a:alphaModFix/>
          </a:blip>
          <a:stretch>
            <a:fillRect/>
          </a:stretch>
        </p:blipFill>
        <p:spPr>
          <a:xfrm>
            <a:off x="5320065" y="595740"/>
            <a:ext cx="1995070" cy="1995070"/>
          </a:xfrm>
          <a:prstGeom prst="rect">
            <a:avLst/>
          </a:prstGeom>
          <a:noFill/>
          <a:ln>
            <a:noFill/>
          </a:ln>
        </p:spPr>
      </p:pic>
      <p:sp>
        <p:nvSpPr>
          <p:cNvPr id="83" name="Google Shape;83;p13"/>
          <p:cNvSpPr/>
          <p:nvPr/>
        </p:nvSpPr>
        <p:spPr>
          <a:xfrm>
            <a:off x="2305050" y="8368425"/>
            <a:ext cx="4924500" cy="2204400"/>
          </a:xfrm>
          <a:prstGeom prst="wedgeEllipseCallout">
            <a:avLst>
              <a:gd fmla="val -20833" name="adj1"/>
              <a:gd fmla="val 62500" name="adj2"/>
            </a:avLst>
          </a:prstGeom>
          <a:solidFill>
            <a:srgbClr val="B6D7A8"/>
          </a:solidFill>
          <a:ln cap="flat" cmpd="sng" w="9525">
            <a:solidFill>
              <a:srgbClr val="424242"/>
            </a:solidFill>
            <a:prstDash val="solid"/>
            <a:round/>
            <a:headEnd len="sm" w="sm" type="none"/>
            <a:tailEnd len="sm" w="sm" type="none"/>
          </a:ln>
        </p:spPr>
        <p:txBody>
          <a:bodyPr anchorCtr="0" anchor="ctr" bIns="103175" lIns="103175" spcFirstLastPara="1" rIns="103175" wrap="square" tIns="103175">
            <a:noAutofit/>
          </a:bodyPr>
          <a:lstStyle/>
          <a:p>
            <a:pPr indent="0" lvl="0" marL="0" rtl="0" algn="l">
              <a:spcBef>
                <a:spcPts val="0"/>
              </a:spcBef>
              <a:spcAft>
                <a:spcPts val="0"/>
              </a:spcAft>
              <a:buNone/>
            </a:pPr>
            <a:r>
              <a:rPr lang="en" sz="3300">
                <a:solidFill>
                  <a:schemeClr val="dk1"/>
                </a:solidFill>
                <a:latin typeface="Caveat"/>
                <a:ea typeface="Caveat"/>
                <a:cs typeface="Caveat"/>
                <a:sym typeface="Caveat"/>
              </a:rPr>
              <a:t>A</a:t>
            </a:r>
            <a:r>
              <a:rPr lang="en" sz="2800">
                <a:solidFill>
                  <a:schemeClr val="dk1"/>
                </a:solidFill>
                <a:latin typeface="Caveat"/>
                <a:ea typeface="Caveat"/>
                <a:cs typeface="Caveat"/>
                <a:sym typeface="Caveat"/>
              </a:rPr>
              <a:t>sk yourself if what you’re doing today is getting you closer to where you want to be tomorrow.</a:t>
            </a:r>
            <a:endParaRPr/>
          </a:p>
        </p:txBody>
      </p:sp>
      <p:pic>
        <p:nvPicPr>
          <p:cNvPr id="84" name="Google Shape;84;p13"/>
          <p:cNvPicPr preferRelativeResize="0"/>
          <p:nvPr/>
        </p:nvPicPr>
        <p:blipFill>
          <a:blip r:embed="rId9">
            <a:alphaModFix/>
          </a:blip>
          <a:stretch>
            <a:fillRect/>
          </a:stretch>
        </p:blipFill>
        <p:spPr>
          <a:xfrm>
            <a:off x="371400" y="8985075"/>
            <a:ext cx="1906265" cy="1718100"/>
          </a:xfrm>
          <a:prstGeom prst="rect">
            <a:avLst/>
          </a:prstGeom>
          <a:noFill/>
          <a:ln>
            <a:noFill/>
          </a:ln>
        </p:spPr>
      </p:pic>
      <p:pic>
        <p:nvPicPr>
          <p:cNvPr id="85" name="Google Shape;85;p13"/>
          <p:cNvPicPr preferRelativeResize="0"/>
          <p:nvPr/>
        </p:nvPicPr>
        <p:blipFill>
          <a:blip r:embed="rId10">
            <a:alphaModFix/>
          </a:blip>
          <a:stretch>
            <a:fillRect/>
          </a:stretch>
        </p:blipFill>
        <p:spPr>
          <a:xfrm>
            <a:off x="5511449" y="6567126"/>
            <a:ext cx="1718100" cy="1718100"/>
          </a:xfrm>
          <a:prstGeom prst="rect">
            <a:avLst/>
          </a:prstGeom>
          <a:noFill/>
          <a:ln>
            <a:noFill/>
          </a:ln>
        </p:spPr>
      </p:pic>
      <p:sp>
        <p:nvSpPr>
          <p:cNvPr id="86" name="Google Shape;86;p13"/>
          <p:cNvSpPr txBox="1"/>
          <p:nvPr/>
        </p:nvSpPr>
        <p:spPr>
          <a:xfrm>
            <a:off x="504825" y="4171950"/>
            <a:ext cx="1276500" cy="160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t/>
            </a:r>
            <a:endParaRPr sz="1900">
              <a:solidFill>
                <a:schemeClr val="dk1"/>
              </a:solidFill>
              <a:latin typeface="Georgia"/>
              <a:ea typeface="Georgia"/>
              <a:cs typeface="Georgia"/>
              <a:sym typeface="Georgia"/>
            </a:endParaRPr>
          </a:p>
          <a:p>
            <a:pPr indent="0" lvl="0" marL="0" marR="0" rtl="0" algn="l">
              <a:lnSpc>
                <a:spcPct val="100000"/>
              </a:lnSpc>
              <a:spcBef>
                <a:spcPts val="0"/>
              </a:spcBef>
              <a:spcAft>
                <a:spcPts val="0"/>
              </a:spcAft>
              <a:buNone/>
            </a:pPr>
            <a:r>
              <a:rPr lang="en" sz="1900">
                <a:solidFill>
                  <a:schemeClr val="dk1"/>
                </a:solidFill>
                <a:latin typeface="Georgia"/>
                <a:ea typeface="Georgia"/>
                <a:cs typeface="Georgia"/>
                <a:sym typeface="Georgia"/>
              </a:rPr>
              <a:t>b</a:t>
            </a:r>
            <a:r>
              <a:rPr lang="en" sz="1900">
                <a:solidFill>
                  <a:schemeClr val="dk1"/>
                </a:solidFill>
                <a:latin typeface="Georgia"/>
                <a:ea typeface="Georgia"/>
                <a:cs typeface="Georgia"/>
                <a:sym typeface="Georgia"/>
              </a:rPr>
              <a:t>y</a:t>
            </a:r>
            <a:endParaRPr sz="1900">
              <a:solidFill>
                <a:schemeClr val="dk1"/>
              </a:solidFill>
              <a:latin typeface="Georgia"/>
              <a:ea typeface="Georgia"/>
              <a:cs typeface="Georgia"/>
              <a:sym typeface="Georgia"/>
            </a:endParaRPr>
          </a:p>
          <a:p>
            <a:pPr indent="0" lvl="0" marL="0" marR="0" rtl="0" algn="l">
              <a:lnSpc>
                <a:spcPct val="100000"/>
              </a:lnSpc>
              <a:spcBef>
                <a:spcPts val="0"/>
              </a:spcBef>
              <a:spcAft>
                <a:spcPts val="0"/>
              </a:spcAft>
              <a:buNone/>
            </a:pPr>
            <a:r>
              <a:rPr lang="en" sz="1900">
                <a:solidFill>
                  <a:schemeClr val="dk1"/>
                </a:solidFill>
                <a:latin typeface="Georgia"/>
                <a:ea typeface="Georgia"/>
                <a:cs typeface="Georgia"/>
                <a:sym typeface="Georgia"/>
              </a:rPr>
              <a:t>Agnieszka Biskup</a:t>
            </a:r>
            <a:endParaRPr sz="1900">
              <a:solidFill>
                <a:schemeClr val="dk1"/>
              </a:solidFill>
              <a:latin typeface="Georgia"/>
              <a:ea typeface="Georgia"/>
              <a:cs typeface="Georgia"/>
              <a:sym typeface="Georgia"/>
            </a:endParaRPr>
          </a:p>
        </p:txBody>
      </p:sp>
      <p:pic>
        <p:nvPicPr>
          <p:cNvPr id="87" name="Google Shape;87;p13"/>
          <p:cNvPicPr preferRelativeResize="0"/>
          <p:nvPr/>
        </p:nvPicPr>
        <p:blipFill>
          <a:blip r:embed="rId11">
            <a:alphaModFix/>
          </a:blip>
          <a:stretch>
            <a:fillRect/>
          </a:stretch>
        </p:blipFill>
        <p:spPr>
          <a:xfrm>
            <a:off x="837075" y="3533282"/>
            <a:ext cx="1467975" cy="1467975"/>
          </a:xfrm>
          <a:prstGeom prst="rect">
            <a:avLst/>
          </a:prstGeom>
          <a:noFill/>
          <a:ln>
            <a:noFill/>
          </a:ln>
        </p:spPr>
      </p:pic>
      <p:cxnSp>
        <p:nvCxnSpPr>
          <p:cNvPr id="88" name="Google Shape;88;p13"/>
          <p:cNvCxnSpPr>
            <a:stCxn id="85" idx="1"/>
            <a:endCxn id="73" idx="1"/>
          </p:cNvCxnSpPr>
          <p:nvPr/>
        </p:nvCxnSpPr>
        <p:spPr>
          <a:xfrm rot="10800000">
            <a:off x="3905249" y="6000876"/>
            <a:ext cx="1606200" cy="1425300"/>
          </a:xfrm>
          <a:prstGeom prst="curvedConnector3">
            <a:avLst>
              <a:gd fmla="val 106523" name="adj1"/>
            </a:avLst>
          </a:prstGeom>
          <a:noFill/>
          <a:ln cap="flat" cmpd="sng" w="38100">
            <a:solidFill>
              <a:srgbClr val="FF00FF"/>
            </a:solidFill>
            <a:prstDash val="solid"/>
            <a:round/>
            <a:headEnd len="med" w="med" type="oval"/>
            <a:tailEnd len="med" w="med" type="oval"/>
          </a:ln>
        </p:spPr>
      </p:cxnSp>
      <p:sp>
        <p:nvSpPr>
          <p:cNvPr id="89" name="Google Shape;89;p13"/>
          <p:cNvSpPr txBox="1"/>
          <p:nvPr/>
        </p:nvSpPr>
        <p:spPr>
          <a:xfrm>
            <a:off x="14519950" y="618075"/>
            <a:ext cx="6939600" cy="1964400"/>
          </a:xfrm>
          <a:prstGeom prst="rect">
            <a:avLst/>
          </a:prstGeom>
          <a:solidFill>
            <a:srgbClr val="FF00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6000">
                <a:solidFill>
                  <a:srgbClr val="FFFFFF"/>
                </a:solidFill>
                <a:latin typeface="Source Code Pro"/>
                <a:ea typeface="Source Code Pro"/>
                <a:cs typeface="Source Code Pro"/>
                <a:sym typeface="Source Code Pro"/>
              </a:rPr>
              <a:t>Option</a:t>
            </a:r>
            <a:r>
              <a:rPr b="1" lang="en" sz="6000">
                <a:solidFill>
                  <a:srgbClr val="FFFFFF"/>
                </a:solidFill>
                <a:latin typeface="Playfair Display"/>
                <a:ea typeface="Playfair Display"/>
                <a:cs typeface="Playfair Display"/>
                <a:sym typeface="Playfair Display"/>
              </a:rPr>
              <a:t> </a:t>
            </a:r>
            <a:r>
              <a:rPr b="1" lang="en" sz="6000">
                <a:solidFill>
                  <a:srgbClr val="FFFFFF"/>
                </a:solidFill>
                <a:latin typeface="Source Code Pro"/>
                <a:ea typeface="Source Code Pro"/>
                <a:cs typeface="Source Code Pro"/>
                <a:sym typeface="Source Code Pro"/>
              </a:rPr>
              <a:t>1</a:t>
            </a:r>
            <a:endParaRPr b="1" sz="6000">
              <a:solidFill>
                <a:srgbClr val="FFFFFF"/>
              </a:solidFill>
              <a:latin typeface="Source Code Pro"/>
              <a:ea typeface="Source Code Pro"/>
              <a:cs typeface="Source Code Pro"/>
              <a:sym typeface="Source Code Pro"/>
            </a:endParaRPr>
          </a:p>
          <a:p>
            <a:pPr indent="0" lvl="0" marL="0" marR="0" rtl="0" algn="ctr">
              <a:lnSpc>
                <a:spcPct val="100000"/>
              </a:lnSpc>
              <a:spcBef>
                <a:spcPts val="0"/>
              </a:spcBef>
              <a:spcAft>
                <a:spcPts val="0"/>
              </a:spcAft>
              <a:buNone/>
            </a:pPr>
            <a:r>
              <a:rPr b="1" lang="en" sz="3000">
                <a:solidFill>
                  <a:srgbClr val="FFFFFF"/>
                </a:solidFill>
                <a:latin typeface="Source Code Pro"/>
                <a:ea typeface="Source Code Pro"/>
                <a:cs typeface="Source Code Pro"/>
                <a:sym typeface="Source Code Pro"/>
              </a:rPr>
              <a:t>(Example with Instructions)</a:t>
            </a:r>
            <a:endParaRPr b="1" sz="3000">
              <a:solidFill>
                <a:srgbClr val="FFFFFF"/>
              </a:solidFill>
              <a:latin typeface="Source Code Pro"/>
              <a:ea typeface="Source Code Pro"/>
              <a:cs typeface="Source Code Pro"/>
              <a:sym typeface="Source Code Pr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3" name="Shape 93"/>
        <p:cNvGrpSpPr/>
        <p:nvPr/>
      </p:nvGrpSpPr>
      <p:grpSpPr>
        <a:xfrm>
          <a:off x="0" y="0"/>
          <a:ext cx="0" cy="0"/>
          <a:chOff x="0" y="0"/>
          <a:chExt cx="0" cy="0"/>
        </a:xfrm>
      </p:grpSpPr>
      <p:pic>
        <p:nvPicPr>
          <p:cNvPr id="94" name="Google Shape;94;p14"/>
          <p:cNvPicPr preferRelativeResize="0"/>
          <p:nvPr/>
        </p:nvPicPr>
        <p:blipFill>
          <a:blip r:embed="rId4">
            <a:alphaModFix/>
          </a:blip>
          <a:stretch>
            <a:fillRect/>
          </a:stretch>
        </p:blipFill>
        <p:spPr>
          <a:xfrm>
            <a:off x="-6309700" y="6626072"/>
            <a:ext cx="5149125" cy="4900674"/>
          </a:xfrm>
          <a:prstGeom prst="rect">
            <a:avLst/>
          </a:prstGeom>
          <a:noFill/>
          <a:ln>
            <a:noFill/>
          </a:ln>
        </p:spPr>
      </p:pic>
      <p:sp>
        <p:nvSpPr>
          <p:cNvPr id="95" name="Google Shape;95;p14"/>
          <p:cNvSpPr txBox="1"/>
          <p:nvPr/>
        </p:nvSpPr>
        <p:spPr>
          <a:xfrm>
            <a:off x="-11779700" y="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latin typeface="Barlow"/>
                <a:ea typeface="Barlow"/>
                <a:cs typeface="Barlow"/>
                <a:sym typeface="Barlow"/>
              </a:rPr>
              <a:t>Having a hard time reading something?</a:t>
            </a:r>
            <a:endParaRPr b="1" sz="6000">
              <a:latin typeface="Barlow"/>
              <a:ea typeface="Barlow"/>
              <a:cs typeface="Barlow"/>
              <a:sym typeface="Barlow"/>
            </a:endParaRPr>
          </a:p>
          <a:p>
            <a:pPr indent="0" lvl="0" marL="0" rtl="0" algn="l">
              <a:spcBef>
                <a:spcPts val="0"/>
              </a:spcBef>
              <a:spcAft>
                <a:spcPts val="0"/>
              </a:spcAft>
              <a:buNone/>
            </a:pPr>
            <a:r>
              <a:rPr lang="en" sz="6000">
                <a:latin typeface="Barlow"/>
                <a:ea typeface="Barlow"/>
                <a:cs typeface="Barlow"/>
                <a:sym typeface="Barlow"/>
              </a:rPr>
              <a:t>Remember, you can zoom in on any part of this document. Just use the zoom button. The little dropdown arrow next to it has an option called “zoom in.”</a:t>
            </a:r>
            <a:endParaRPr sz="6000">
              <a:latin typeface="Barlow"/>
              <a:ea typeface="Barlow"/>
              <a:cs typeface="Barlow"/>
              <a:sym typeface="Barlow"/>
            </a:endParaRPr>
          </a:p>
        </p:txBody>
      </p:sp>
      <p:sp>
        <p:nvSpPr>
          <p:cNvPr id="96" name="Google Shape;96;p14"/>
          <p:cNvSpPr txBox="1"/>
          <p:nvPr/>
        </p:nvSpPr>
        <p:spPr>
          <a:xfrm>
            <a:off x="-11779700" y="1214780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latin typeface="Barlow"/>
                <a:ea typeface="Barlow"/>
                <a:cs typeface="Barlow"/>
                <a:sym typeface="Barlow"/>
              </a:rPr>
              <a:t>Or you can click the zoom button and then click and drag the area you want to zoom in. That way, it’s zoomed to exactly the part you need! And you can always zoom out by choosing “fit” in the zoom dropdown menu.</a:t>
            </a:r>
            <a:endParaRPr sz="6000">
              <a:latin typeface="Barlow"/>
              <a:ea typeface="Barlow"/>
              <a:cs typeface="Barlow"/>
              <a:sym typeface="Barlow"/>
            </a:endParaRPr>
          </a:p>
        </p:txBody>
      </p:sp>
      <p:sp>
        <p:nvSpPr>
          <p:cNvPr id="97" name="Google Shape;97;p14"/>
          <p:cNvSpPr txBox="1"/>
          <p:nvPr/>
        </p:nvSpPr>
        <p:spPr>
          <a:xfrm>
            <a:off x="8027725" y="646000"/>
            <a:ext cx="6939600" cy="1964400"/>
          </a:xfrm>
          <a:prstGeom prst="rect">
            <a:avLst/>
          </a:prstGeom>
          <a:solidFill>
            <a:srgbClr val="FF00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6000">
                <a:solidFill>
                  <a:srgbClr val="FFFFFF"/>
                </a:solidFill>
                <a:latin typeface="Source Code Pro"/>
                <a:ea typeface="Source Code Pro"/>
                <a:cs typeface="Source Code Pro"/>
                <a:sym typeface="Source Code Pro"/>
              </a:rPr>
              <a:t>Option</a:t>
            </a:r>
            <a:r>
              <a:rPr b="1" lang="en" sz="6000">
                <a:solidFill>
                  <a:srgbClr val="FFFFFF"/>
                </a:solidFill>
                <a:latin typeface="Playfair Display"/>
                <a:ea typeface="Playfair Display"/>
                <a:cs typeface="Playfair Display"/>
                <a:sym typeface="Playfair Display"/>
              </a:rPr>
              <a:t> </a:t>
            </a:r>
            <a:r>
              <a:rPr b="1" lang="en" sz="6000">
                <a:solidFill>
                  <a:srgbClr val="FFFFFF"/>
                </a:solidFill>
                <a:latin typeface="Source Code Pro"/>
                <a:ea typeface="Source Code Pro"/>
                <a:cs typeface="Source Code Pro"/>
                <a:sym typeface="Source Code Pro"/>
              </a:rPr>
              <a:t>1 (Example)</a:t>
            </a:r>
            <a:endParaRPr b="1" sz="6000">
              <a:solidFill>
                <a:srgbClr val="FFFFFF"/>
              </a:solidFill>
              <a:latin typeface="Source Code Pro"/>
              <a:ea typeface="Source Code Pro"/>
              <a:cs typeface="Source Code Pro"/>
              <a:sym typeface="Source Code Pro"/>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