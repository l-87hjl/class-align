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9144000"/>
  <p:notesSz cx="6858000" cy="9144000"/>
  <p:embeddedFontLst>
    <p:embeddedFont>
      <p:font typeface="Amatic SC"/>
      <p:regular r:id="rId16"/>
      <p:bold r:id="rId17"/>
    </p:embeddedFont>
    <p:embeddedFont>
      <p:font typeface="Source Code Pro"/>
      <p:regular r:id="rId18"/>
      <p:bold r:id="rId19"/>
      <p:italic r:id="rId20"/>
      <p:boldItalic r:id="rId21"/>
    </p:embeddedFont>
    <p:embeddedFont>
      <p:font typeface="Permanent Marker"/>
      <p:regular r:id="rId22"/>
    </p:embeddedFont>
    <p:embeddedFont>
      <p:font typeface="Gochi Hand"/>
      <p:regular r:id="rId23"/>
    </p:embeddedFont>
    <p:embeddedFont>
      <p:font typeface="Ultra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italic.fntdata"/><Relationship Id="rId11" Type="http://schemas.openxmlformats.org/officeDocument/2006/relationships/slide" Target="slides/slide5.xml"/><Relationship Id="rId22" Type="http://schemas.openxmlformats.org/officeDocument/2006/relationships/font" Target="fonts/PermanentMarker-regular.fntdata"/><Relationship Id="rId10" Type="http://schemas.openxmlformats.org/officeDocument/2006/relationships/slide" Target="slides/slide4.xml"/><Relationship Id="rId21" Type="http://schemas.openxmlformats.org/officeDocument/2006/relationships/font" Target="fonts/SourceCodePro-boldItalic.fntdata"/><Relationship Id="rId13" Type="http://schemas.openxmlformats.org/officeDocument/2006/relationships/slide" Target="slides/slide7.xml"/><Relationship Id="rId24" Type="http://schemas.openxmlformats.org/officeDocument/2006/relationships/font" Target="fonts/Ultra-regular.fntdata"/><Relationship Id="rId12" Type="http://schemas.openxmlformats.org/officeDocument/2006/relationships/slide" Target="slides/slide6.xml"/><Relationship Id="rId23" Type="http://schemas.openxmlformats.org/officeDocument/2006/relationships/font" Target="fonts/GochiHan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AmaticSC-bold.fntdata"/><Relationship Id="rId16" Type="http://schemas.openxmlformats.org/officeDocument/2006/relationships/font" Target="fonts/AmaticSC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SourceCodePr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SourceCodePr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a203ff2c5c_0_956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a203ff2c5c_0_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a203ff330b_0_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a203ff33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🍐 This is a Pear Deck Draggable™ Slide.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🍐  To edit the type of question, go back to the "Ask Students a Question" in the Pear Deck sidebar.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35cc23b3bd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35cc23b3bd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135cc23b3bd_0_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a203ff330b_0_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a203ff330b_0_6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a203ff330b_0_6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a203ff330b_0_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a203ff330b_0_6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a203ff330b_0_6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348db8fc42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348db8fc42_0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1348db8fc42_0_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348db8fc42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348db8fc42_0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1348db8fc42_0_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348db8fc42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348db8fc42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1348db8fc42_0_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a203ff330b_0_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a203ff330b_0_7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🍐 This is a Pear Deck Text Slide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🍐 To edit the type of question, go back to the "Ask Students a Question" in the Pear Deck sidebar.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a203ff330b_0_7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514600" y="152400"/>
            <a:ext cx="41148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43450" y="2381250"/>
            <a:ext cx="5486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781050" y="514350"/>
            <a:ext cx="5486400" cy="56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0" y="0"/>
            <a:ext cx="9144000" cy="45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 txBox="1"/>
          <p:nvPr>
            <p:ph type="ctrTitle"/>
          </p:nvPr>
        </p:nvSpPr>
        <p:spPr>
          <a:xfrm>
            <a:off x="311700" y="522867"/>
            <a:ext cx="8520600" cy="358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91" name="Google Shape;91;p14"/>
          <p:cNvSpPr txBox="1"/>
          <p:nvPr>
            <p:ph idx="1" type="subTitle"/>
          </p:nvPr>
        </p:nvSpPr>
        <p:spPr>
          <a:xfrm>
            <a:off x="311700" y="5187200"/>
            <a:ext cx="8520600" cy="94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>
            <p:ph type="title"/>
          </p:nvPr>
        </p:nvSpPr>
        <p:spPr>
          <a:xfrm>
            <a:off x="2802750" y="1070000"/>
            <a:ext cx="3538500" cy="47181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311700" y="390467"/>
            <a:ext cx="8520600" cy="10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311700" y="1638233"/>
            <a:ext cx="8520600" cy="44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390467"/>
            <a:ext cx="8520600" cy="10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311700" y="1638233"/>
            <a:ext cx="3999900" cy="44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3" name="Google Shape;103;p17"/>
          <p:cNvSpPr txBox="1"/>
          <p:nvPr>
            <p:ph idx="2" type="body"/>
          </p:nvPr>
        </p:nvSpPr>
        <p:spPr>
          <a:xfrm>
            <a:off x="4832400" y="1638233"/>
            <a:ext cx="3999900" cy="44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" name="Google Shape;104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304800" y="412467"/>
            <a:ext cx="85377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07" name="Google Shape;107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490250" y="701800"/>
            <a:ext cx="56187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7" name="Google Shape;117;p21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21"/>
          <p:cNvSpPr txBox="1"/>
          <p:nvPr>
            <p:ph type="title"/>
          </p:nvPr>
        </p:nvSpPr>
        <p:spPr>
          <a:xfrm>
            <a:off x="265500" y="1441867"/>
            <a:ext cx="4045200" cy="228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19" name="Google Shape;119;p21"/>
          <p:cNvSpPr txBox="1"/>
          <p:nvPr>
            <p:ph idx="1" type="subTitle"/>
          </p:nvPr>
        </p:nvSpPr>
        <p:spPr>
          <a:xfrm>
            <a:off x="265500" y="3793630"/>
            <a:ext cx="4045200" cy="17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0" name="Google Shape;120;p21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121" name="Google Shape;121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19500" y="5640767"/>
            <a:ext cx="5998800" cy="7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124" name="Google Shape;124;p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653700"/>
            <a:ext cx="8520600" cy="264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44061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457200" y="27463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34" name="Google Shape;134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311700" y="390467"/>
            <a:ext cx="8520600" cy="10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311700" y="1638233"/>
            <a:ext cx="8520600" cy="44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dontchangethislink.peardeckmagic.zone?eyJ0eXBlIjoiZHJhZ2dhYmxlIiwiZHJhZ2dhYmxlcyI6W3siaWQiOiJkcmFnZ2FibGUwIiwidHlwZSI6Imljb24iLCJpY29uIjp7ImlkIjoib2JqZWN0LWRvZyJ9LCJjb2xvciI6IiNhNTQ1YzUifV0sImRyYWdnYWJsZVNpemUiOjEyLjYsImVtYmVkZGFibGVVcmwiOiJodHRwczovLyIsImFuc3dlcnMiOltdfQ==pearId=magic-pear-shape-identifier" TargetMode="External"/><Relationship Id="rId4" Type="http://schemas.openxmlformats.org/officeDocument/2006/relationships/image" Target="../media/image4.png"/><Relationship Id="rId5" Type="http://schemas.openxmlformats.org/officeDocument/2006/relationships/hyperlink" Target="http://dontchangethislink.peardeckmagic.zone?eyJ0eXBlIjoiZ29vZ2xlLXNsaWRlcy1hZGRvbi1yZXNwb25zZS1mb290ZXIiLCJsYXN0RWRpdGVkQnkiOiIxMTIxNzExNzQyMDA0NTkxOTM1ODciLCJwcmVzZW50YXRpb25JZCI6IjF3OFJTYjhnOWhNQUtCU2tRTjU4SU5Db05QcHdvc1JhLUZGMndBc25QdTVzIiwiY29udGVudElkIjoiY3VzdG9tLXJlc3BvbnNlLWRyYWdnYWJsZSIsInNsaWRlSWQiOiJnYTIwNjVkOGRiMl8wXzAiLCJjb250ZW50SW5zdGFuY2VJZCI6IjF3OFJTYjhnOWhNQUtCU2tRTjU4SU5Db05QcHdvc1JhLUZGMndBc25QdTVzLzZjYjg0Nzg4LTEwZDgtNDA4Mi1hZDJhLWEyOTIxYzczMzlkYSJ9pearId=magic-pear-metadata-identifier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www.youtube.com/watch?v=M6g4bxJBjcU" TargetMode="External"/><Relationship Id="rId4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hyperlink" Target="http://dontchangethislink.peardeckmagic.zone?eyJ0eXBlIjoiZnJlZVJlc3BvbnNlLXRleHQiLCJkcmFnZ2FibGVzIjpbeyJpZCI6ImRyYWdnYWJsZTAiLCJ0eXBlIjoiaWNvbiIsImljb24iOnsiaWQiOiJkZWZhdWx0LWNpcmNsZSJ9LCJjb2xvciI6IiNENTFEMjgifV0sImRyYWdnYWJsZVNpemUiOjEyLjU1LCJlbWJlZGRhYmxlVXJsIjoiaHR0cHM6Ly8iLCJhbnN3ZXJzIjpbXX0=pearId=magic-pear-shape-identifier" TargetMode="External"/><Relationship Id="rId5" Type="http://schemas.openxmlformats.org/officeDocument/2006/relationships/image" Target="../media/image5.png"/><Relationship Id="rId6" Type="http://schemas.openxmlformats.org/officeDocument/2006/relationships/hyperlink" Target="http://dontchangethislink.peardeckmagic.zone?eyJ0eXBlIjoiZ29vZ2xlLXNsaWRlcy1hZGRvbi1yZXNwb25zZS1mb290ZXIiLCJsYXN0RWRpdGVkQnkiOiIxMTIxNzExNzQyMDA0NTkxOTM1ODciLCJwcmVzZW50YXRpb25JZCI6IjFKZ1FDcGZWV05XU0tRSGtJVGRLYlh4bmJjODdFQklKMTB3a0xFRjQ0eVZ3IiwiY29udGVudElkIjoiY3VzdG9tLXJlc3BvbnNlLWZyZWVSZXNwb25zZS10ZXh0Iiwic2xpZGVJZCI6ImdhMjAzZmYzMzBiXzBfNzciLCJjb250ZW50SW5zdGFuY2VJZCI6IjFKZ1FDcGZWV05XU0tRSGtJVGRLYlh4bmJjODdFQklKMTB3a0xFRjQ0eVZ3L2Q1OGQyOWE4LTI2NWQtNDY0Ny1iYmVkLWYzMDE2ZjIwNTAzZiJ9pearId=magic-pear-metadata-identifi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/>
        </p:nvSpPr>
        <p:spPr>
          <a:xfrm>
            <a:off x="1402125" y="2332000"/>
            <a:ext cx="6173100" cy="2311800"/>
          </a:xfrm>
          <a:prstGeom prst="rect">
            <a:avLst/>
          </a:prstGeom>
          <a:solidFill>
            <a:srgbClr val="4A86E8">
              <a:alpha val="485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rgbClr val="FFFFFF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5W Sentence Stretching Method with Examples</a:t>
            </a:r>
            <a:endParaRPr sz="4100">
              <a:solidFill>
                <a:srgbClr val="FFFFFF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/>
        </p:nvSpPr>
        <p:spPr>
          <a:xfrm>
            <a:off x="79900" y="173100"/>
            <a:ext cx="8928600" cy="18909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Source Code Pro"/>
                <a:ea typeface="Source Code Pro"/>
                <a:cs typeface="Source Code Pro"/>
                <a:sym typeface="Source Code Pro"/>
              </a:rPr>
              <a:t>Which </a:t>
            </a:r>
            <a:r>
              <a:rPr lang="en-US" sz="3000">
                <a:latin typeface="Source Code Pro"/>
                <a:ea typeface="Source Code Pro"/>
                <a:cs typeface="Source Code Pro"/>
                <a:sym typeface="Source Code Pro"/>
              </a:rPr>
              <a:t>sentence do you think gives a better example of a hungry dog?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47" name="Google Shape;147;p27"/>
          <p:cNvSpPr txBox="1"/>
          <p:nvPr/>
        </p:nvSpPr>
        <p:spPr>
          <a:xfrm>
            <a:off x="169775" y="2826567"/>
            <a:ext cx="2406900" cy="3822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Source Code Pro"/>
                <a:ea typeface="Source Code Pro"/>
                <a:cs typeface="Source Code Pro"/>
                <a:sym typeface="Source Code Pro"/>
              </a:rPr>
              <a:t>The dog was hungry.</a:t>
            </a:r>
            <a:endParaRPr sz="24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48" name="Google Shape;148;p27"/>
          <p:cNvSpPr txBox="1"/>
          <p:nvPr/>
        </p:nvSpPr>
        <p:spPr>
          <a:xfrm>
            <a:off x="3352650" y="2826567"/>
            <a:ext cx="2406900" cy="38220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Source Code Pro"/>
                <a:ea typeface="Source Code Pro"/>
                <a:cs typeface="Source Code Pro"/>
                <a:sym typeface="Source Code Pro"/>
              </a:rPr>
              <a:t>The dog howled in hunger. </a:t>
            </a:r>
            <a:endParaRPr sz="24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49" name="Google Shape;149;p27"/>
          <p:cNvSpPr txBox="1"/>
          <p:nvPr/>
        </p:nvSpPr>
        <p:spPr>
          <a:xfrm>
            <a:off x="6535525" y="2826567"/>
            <a:ext cx="2406900" cy="38220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Source Code Pro"/>
                <a:ea typeface="Source Code Pro"/>
                <a:cs typeface="Source Code Pro"/>
                <a:sym typeface="Source Code Pro"/>
              </a:rPr>
              <a:t>The stray dog howled mournfully in the alley at midnight because of its hunger.   </a:t>
            </a:r>
            <a:endParaRPr sz="24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50" name="Google Shape;150;p27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905500"/>
            <a:ext cx="914400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7">
            <a:hlinkClick r:id="rId5"/>
          </p:cNvPr>
          <p:cNvSpPr/>
          <p:nvPr/>
        </p:nvSpPr>
        <p:spPr>
          <a:xfrm>
            <a:off x="0" y="6942667"/>
            <a:ext cx="12600" cy="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corded with http://screencast-o-matic.com" id="157" name="Google Shape;157;p28" title="Stretchy Sentence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793550" cy="659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/>
        </p:nvSpPr>
        <p:spPr>
          <a:xfrm>
            <a:off x="549225" y="677400"/>
            <a:ext cx="2686800" cy="12726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Illustration Transitions</a:t>
            </a:r>
            <a:endParaRPr sz="2400">
              <a:solidFill>
                <a:srgbClr val="FFFFFF"/>
              </a:solidFill>
              <a:latin typeface="Ultra"/>
              <a:ea typeface="Ultra"/>
              <a:cs typeface="Ultra"/>
              <a:sym typeface="Ultra"/>
            </a:endParaRPr>
          </a:p>
        </p:txBody>
      </p:sp>
      <p:sp>
        <p:nvSpPr>
          <p:cNvPr id="164" name="Google Shape;164;p29"/>
          <p:cNvSpPr txBox="1"/>
          <p:nvPr/>
        </p:nvSpPr>
        <p:spPr>
          <a:xfrm>
            <a:off x="4327063" y="677400"/>
            <a:ext cx="2686800" cy="12726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Stretched</a:t>
            </a:r>
            <a:endParaRPr sz="2400">
              <a:solidFill>
                <a:srgbClr val="FFFFFF"/>
              </a:solidFill>
              <a:latin typeface="Ultra"/>
              <a:ea typeface="Ultra"/>
              <a:cs typeface="Ultra"/>
              <a:sym typeface="Ult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(5W) Sentences</a:t>
            </a:r>
            <a:endParaRPr sz="2400">
              <a:solidFill>
                <a:srgbClr val="FFFFFF"/>
              </a:solidFill>
              <a:latin typeface="Ultra"/>
              <a:ea typeface="Ultra"/>
              <a:cs typeface="Ultra"/>
              <a:sym typeface="Ultra"/>
            </a:endParaRPr>
          </a:p>
        </p:txBody>
      </p:sp>
      <p:sp>
        <p:nvSpPr>
          <p:cNvPr id="165" name="Google Shape;165;p29"/>
          <p:cNvSpPr txBox="1"/>
          <p:nvPr/>
        </p:nvSpPr>
        <p:spPr>
          <a:xfrm>
            <a:off x="549225" y="2701625"/>
            <a:ext cx="7733700" cy="33924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Awesome Examples</a:t>
            </a:r>
            <a:endParaRPr sz="4800">
              <a:solidFill>
                <a:srgbClr val="FFFFFF"/>
              </a:solidFill>
              <a:latin typeface="Ultra"/>
              <a:ea typeface="Ultra"/>
              <a:cs typeface="Ultra"/>
              <a:sym typeface="Ultra"/>
            </a:endParaRPr>
          </a:p>
        </p:txBody>
      </p:sp>
      <p:sp>
        <p:nvSpPr>
          <p:cNvPr id="166" name="Google Shape;166;p29"/>
          <p:cNvSpPr/>
          <p:nvPr/>
        </p:nvSpPr>
        <p:spPr>
          <a:xfrm>
            <a:off x="3161800" y="677400"/>
            <a:ext cx="1202400" cy="1272600"/>
          </a:xfrm>
          <a:prstGeom prst="mathPlus">
            <a:avLst>
              <a:gd fmla="val 23520" name="adj1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9"/>
          <p:cNvSpPr/>
          <p:nvPr/>
        </p:nvSpPr>
        <p:spPr>
          <a:xfrm>
            <a:off x="7080650" y="677400"/>
            <a:ext cx="1202400" cy="1272600"/>
          </a:xfrm>
          <a:prstGeom prst="mathEqual">
            <a:avLst>
              <a:gd fmla="val 23520" name="adj1"/>
              <a:gd fmla="val 11760" name="adj2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1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577" y="0"/>
            <a:ext cx="3212533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2425" y="0"/>
            <a:ext cx="536980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1"/>
          <p:cNvPicPr preferRelativeResize="0"/>
          <p:nvPr/>
        </p:nvPicPr>
        <p:blipFill rotWithShape="1">
          <a:blip r:embed="rId3">
            <a:alphaModFix/>
          </a:blip>
          <a:srcRect b="50000" l="0" r="0" t="0"/>
          <a:stretch/>
        </p:blipFill>
        <p:spPr>
          <a:xfrm>
            <a:off x="190113" y="600500"/>
            <a:ext cx="8763775" cy="565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2"/>
          <p:cNvPicPr preferRelativeResize="0"/>
          <p:nvPr/>
        </p:nvPicPr>
        <p:blipFill rotWithShape="1">
          <a:blip r:embed="rId3">
            <a:alphaModFix/>
          </a:blip>
          <a:srcRect b="50000" l="0" r="0" t="0"/>
          <a:stretch/>
        </p:blipFill>
        <p:spPr>
          <a:xfrm>
            <a:off x="134300" y="464525"/>
            <a:ext cx="8875375" cy="5729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33"/>
          <p:cNvPicPr preferRelativeResize="0"/>
          <p:nvPr/>
        </p:nvPicPr>
        <p:blipFill rotWithShape="1">
          <a:blip r:embed="rId3">
            <a:alphaModFix/>
          </a:blip>
          <a:srcRect b="48985" l="0" r="0" t="0"/>
          <a:stretch/>
        </p:blipFill>
        <p:spPr>
          <a:xfrm>
            <a:off x="171375" y="268425"/>
            <a:ext cx="8801250" cy="579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75" y="0"/>
            <a:ext cx="52256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4"/>
          <p:cNvSpPr txBox="1"/>
          <p:nvPr/>
        </p:nvSpPr>
        <p:spPr>
          <a:xfrm>
            <a:off x="5291550" y="2389900"/>
            <a:ext cx="3503100" cy="30876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Gochi Hand"/>
                <a:ea typeface="Gochi Hand"/>
                <a:cs typeface="Gochi Hand"/>
                <a:sym typeface="Gochi Hand"/>
              </a:rPr>
              <a:t>My friend is with his dog playing fetch at the park because they both want to have fun and exercise.</a:t>
            </a:r>
            <a:endParaRPr sz="3000">
              <a:latin typeface="Gochi Hand"/>
              <a:ea typeface="Gochi Hand"/>
              <a:cs typeface="Gochi Hand"/>
              <a:sym typeface="Gochi Hand"/>
            </a:endParaRPr>
          </a:p>
        </p:txBody>
      </p:sp>
      <p:sp>
        <p:nvSpPr>
          <p:cNvPr id="200" name="Google Shape;200;p34"/>
          <p:cNvSpPr txBox="1"/>
          <p:nvPr/>
        </p:nvSpPr>
        <p:spPr>
          <a:xfrm>
            <a:off x="5261875" y="1558625"/>
            <a:ext cx="3547800" cy="771900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Gochi Hand"/>
                <a:ea typeface="Gochi Hand"/>
                <a:cs typeface="Gochi Hand"/>
                <a:sym typeface="Gochi Hand"/>
              </a:rPr>
              <a:t>Example</a:t>
            </a:r>
            <a:endParaRPr sz="3000">
              <a:latin typeface="Gochi Hand"/>
              <a:ea typeface="Gochi Hand"/>
              <a:cs typeface="Gochi Hand"/>
              <a:sym typeface="Gochi Hand"/>
            </a:endParaRPr>
          </a:p>
        </p:txBody>
      </p:sp>
      <p:pic>
        <p:nvPicPr>
          <p:cNvPr id="201" name="Google Shape;201;p3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6143625"/>
            <a:ext cx="914400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4">
            <a:hlinkClick r:id="rId6"/>
          </p:cNvPr>
          <p:cNvSpPr/>
          <p:nvPr/>
        </p:nvSpPr>
        <p:spPr>
          <a:xfrm>
            <a:off x="0" y="52070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