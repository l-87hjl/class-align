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11217D-9DAD-4C68-B1CA-221016E506AF}">
  <a:tblStyle styleId="{D811217D-9DAD-4C68-B1CA-221016E506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CAA3D16-6F6B-4E5E-AC41-039EF0FFE4CC}"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352ed206f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1352ed206f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73a1661f9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273a1661f97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73a1661f9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273a1661f97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67b5387a69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367b5387a69_0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7b5387a69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7b5387a69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67b5387a69_0_2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67b5387a6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73a1661f97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73a1661f9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73a1661f9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273a1661f97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73a1661f97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273a1661f97_0_3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0" r="0" t="0"/>
          <a:stretch/>
        </p:blipFill>
        <p:spPr>
          <a:xfrm>
            <a:off x="11278" y="0"/>
            <a:ext cx="12180722" cy="6858000"/>
          </a:xfrm>
          <a:prstGeom prst="rect">
            <a:avLst/>
          </a:prstGeom>
          <a:noFill/>
          <a:ln>
            <a:noFill/>
          </a:ln>
        </p:spPr>
      </p:pic>
      <p:sp>
        <p:nvSpPr>
          <p:cNvPr id="17" name="Google Shape;17;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FC000"/>
              </a:buClr>
              <a:buSzPts val="7200"/>
              <a:buFont typeface="Arial"/>
              <a:buNone/>
              <a:defRPr b="0" i="0" sz="7200" u="none" cap="none" strike="noStrike">
                <a:solidFill>
                  <a:srgbClr val="FFC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8200" y="1535722"/>
            <a:ext cx="10515600" cy="482524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4"/>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5"/>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8200" y="1569308"/>
            <a:ext cx="5181600" cy="47697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2" type="body"/>
          </p:nvPr>
        </p:nvSpPr>
        <p:spPr>
          <a:xfrm>
            <a:off x="6172200" y="1569308"/>
            <a:ext cx="5181600" cy="47697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6"/>
          <p:cNvSpPr txBox="1"/>
          <p:nvPr>
            <p:ph type="title"/>
          </p:nvPr>
        </p:nvSpPr>
        <p:spPr>
          <a:xfrm>
            <a:off x="838200" y="0"/>
            <a:ext cx="10515600" cy="125421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839788" y="1526705"/>
            <a:ext cx="5157787" cy="46273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6"/>
          <p:cNvSpPr txBox="1"/>
          <p:nvPr>
            <p:ph idx="2" type="body"/>
          </p:nvPr>
        </p:nvSpPr>
        <p:spPr>
          <a:xfrm>
            <a:off x="839788" y="2162432"/>
            <a:ext cx="5157787" cy="42074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
          <p:cNvSpPr txBox="1"/>
          <p:nvPr>
            <p:ph idx="3" type="body"/>
          </p:nvPr>
        </p:nvSpPr>
        <p:spPr>
          <a:xfrm>
            <a:off x="6172200" y="1526705"/>
            <a:ext cx="5183188" cy="46273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
          <p:cNvSpPr txBox="1"/>
          <p:nvPr>
            <p:ph idx="4" type="body"/>
          </p:nvPr>
        </p:nvSpPr>
        <p:spPr>
          <a:xfrm>
            <a:off x="6172200" y="2162432"/>
            <a:ext cx="5183188" cy="420747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7"/>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5" name="Shape 55"/>
        <p:cNvGrpSpPr/>
        <p:nvPr/>
      </p:nvGrpSpPr>
      <p:grpSpPr>
        <a:xfrm>
          <a:off x="0" y="0"/>
          <a:ext cx="0" cy="0"/>
          <a:chOff x="0" y="0"/>
          <a:chExt cx="0" cy="0"/>
        </a:xfrm>
      </p:grpSpPr>
      <p:sp>
        <p:nvSpPr>
          <p:cNvPr id="56" name="Google Shape;56;p8"/>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
          <p:cNvSpPr/>
          <p:nvPr>
            <p:ph idx="2" type="pic"/>
          </p:nvPr>
        </p:nvSpPr>
        <p:spPr>
          <a:xfrm>
            <a:off x="5183188" y="987425"/>
            <a:ext cx="6172200" cy="4873625"/>
          </a:xfrm>
          <a:prstGeom prst="rect">
            <a:avLst/>
          </a:prstGeom>
          <a:noFill/>
          <a:ln>
            <a:noFill/>
          </a:ln>
        </p:spPr>
      </p:sp>
      <p:sp>
        <p:nvSpPr>
          <p:cNvPr id="69" name="Google Shape;69;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0"/>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1"/>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1"/>
          <p:cNvSpPr txBox="1"/>
          <p:nvPr>
            <p:ph idx="1" type="body"/>
          </p:nvPr>
        </p:nvSpPr>
        <p:spPr>
          <a:xfrm rot="5400000">
            <a:off x="3683378" y="-1309455"/>
            <a:ext cx="4825245"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1"/>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2"/>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85" name="Shape 85"/>
        <p:cNvGrpSpPr/>
        <p:nvPr/>
      </p:nvGrpSpPr>
      <p:grpSpPr>
        <a:xfrm>
          <a:off x="0" y="0"/>
          <a:ext cx="0" cy="0"/>
          <a:chOff x="0" y="0"/>
          <a:chExt cx="0" cy="0"/>
        </a:xfrm>
      </p:grpSpPr>
      <p:sp>
        <p:nvSpPr>
          <p:cNvPr id="86" name="Google Shape;86;p13"/>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3"/>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0" name="Shape 90"/>
        <p:cNvGrpSpPr/>
        <p:nvPr/>
      </p:nvGrpSpPr>
      <p:grpSpPr>
        <a:xfrm>
          <a:off x="0" y="0"/>
          <a:ext cx="0" cy="0"/>
          <a:chOff x="0" y="0"/>
          <a:chExt cx="0" cy="0"/>
        </a:xfrm>
      </p:grpSpPr>
      <p:grpSp>
        <p:nvGrpSpPr>
          <p:cNvPr id="91" name="Google Shape;91;p14"/>
          <p:cNvGrpSpPr/>
          <p:nvPr/>
        </p:nvGrpSpPr>
        <p:grpSpPr>
          <a:xfrm>
            <a:off x="0" y="0"/>
            <a:ext cx="12192000" cy="6858000"/>
            <a:chOff x="403860" y="2040695"/>
            <a:chExt cx="914400" cy="1083505"/>
          </a:xfrm>
        </p:grpSpPr>
        <p:sp>
          <p:nvSpPr>
            <p:cNvPr id="92" name="Google Shape;92;p14"/>
            <p:cNvSpPr/>
            <p:nvPr/>
          </p:nvSpPr>
          <p:spPr>
            <a:xfrm>
              <a:off x="403860" y="2110740"/>
              <a:ext cx="914400" cy="914400"/>
            </a:xfrm>
            <a:prstGeom prst="rect">
              <a:avLst/>
            </a:prstGeom>
            <a:solidFill>
              <a:srgbClr val="1D59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4"/>
            <p:cNvSpPr/>
            <p:nvPr/>
          </p:nvSpPr>
          <p:spPr>
            <a:xfrm>
              <a:off x="403860" y="2040695"/>
              <a:ext cx="914400" cy="99060"/>
            </a:xfrm>
            <a:prstGeom prst="rect">
              <a:avLst/>
            </a:prstGeom>
            <a:solidFill>
              <a:srgbClr val="F5A1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4"/>
            <p:cNvSpPr/>
            <p:nvPr/>
          </p:nvSpPr>
          <p:spPr>
            <a:xfrm>
              <a:off x="403860" y="3025140"/>
              <a:ext cx="914400" cy="99060"/>
            </a:xfrm>
            <a:prstGeom prst="rect">
              <a:avLst/>
            </a:prstGeom>
            <a:solidFill>
              <a:srgbClr val="F5A1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95" name="Google Shape;95;p14"/>
          <p:cNvSpPr txBox="1"/>
          <p:nvPr>
            <p:ph type="title"/>
          </p:nvPr>
        </p:nvSpPr>
        <p:spPr>
          <a:xfrm>
            <a:off x="838200" y="2718550"/>
            <a:ext cx="10515600" cy="12372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4"/>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4"/>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4"/>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9" name="Shape 109"/>
        <p:cNvGrpSpPr/>
        <p:nvPr/>
      </p:nvGrpSpPr>
      <p:grpSpPr>
        <a:xfrm>
          <a:off x="0" y="0"/>
          <a:ext cx="0" cy="0"/>
          <a:chOff x="0" y="0"/>
          <a:chExt cx="0" cy="0"/>
        </a:xfrm>
      </p:grpSpPr>
      <p:pic>
        <p:nvPicPr>
          <p:cNvPr id="110" name="Google Shape;110;p16"/>
          <p:cNvPicPr preferRelativeResize="0"/>
          <p:nvPr/>
        </p:nvPicPr>
        <p:blipFill rotWithShape="1">
          <a:blip r:embed="rId2">
            <a:alphaModFix/>
          </a:blip>
          <a:srcRect b="0" l="0" r="0" t="0"/>
          <a:stretch/>
        </p:blipFill>
        <p:spPr>
          <a:xfrm>
            <a:off x="11278" y="0"/>
            <a:ext cx="12180720" cy="6857999"/>
          </a:xfrm>
          <a:prstGeom prst="rect">
            <a:avLst/>
          </a:prstGeom>
          <a:noFill/>
          <a:ln>
            <a:noFill/>
          </a:ln>
        </p:spPr>
      </p:pic>
      <p:sp>
        <p:nvSpPr>
          <p:cNvPr id="111" name="Google Shape;111;p1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FC000"/>
              </a:buClr>
              <a:buSzPts val="7200"/>
              <a:buFont typeface="Arial"/>
              <a:buNone/>
              <a:defRPr b="0" i="0" sz="7200" u="none" cap="none" strike="noStrike">
                <a:solidFill>
                  <a:srgbClr val="FFC000"/>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3" name="Google Shape;113;p16"/>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6"/>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6"/>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6" name="Shape 116"/>
        <p:cNvGrpSpPr/>
        <p:nvPr/>
      </p:nvGrpSpPr>
      <p:grpSpPr>
        <a:xfrm>
          <a:off x="0" y="0"/>
          <a:ext cx="0" cy="0"/>
          <a:chOff x="0" y="0"/>
          <a:chExt cx="0" cy="0"/>
        </a:xfrm>
      </p:grpSpPr>
      <p:sp>
        <p:nvSpPr>
          <p:cNvPr id="117" name="Google Shape;117;p17"/>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7"/>
          <p:cNvSpPr txBox="1"/>
          <p:nvPr>
            <p:ph idx="1" type="body"/>
          </p:nvPr>
        </p:nvSpPr>
        <p:spPr>
          <a:xfrm>
            <a:off x="838200" y="1535722"/>
            <a:ext cx="10515600" cy="4825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7"/>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7"/>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2" name="Shape 122"/>
        <p:cNvGrpSpPr/>
        <p:nvPr/>
      </p:nvGrpSpPr>
      <p:grpSpPr>
        <a:xfrm>
          <a:off x="0" y="0"/>
          <a:ext cx="0" cy="0"/>
          <a:chOff x="0" y="0"/>
          <a:chExt cx="0" cy="0"/>
        </a:xfrm>
      </p:grpSpPr>
      <p:sp>
        <p:nvSpPr>
          <p:cNvPr id="123" name="Google Shape;123;p18"/>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8"/>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5" name="Google Shape;125;p18"/>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8"/>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8"/>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8" name="Shape 128"/>
        <p:cNvGrpSpPr/>
        <p:nvPr/>
      </p:nvGrpSpPr>
      <p:grpSpPr>
        <a:xfrm>
          <a:off x="0" y="0"/>
          <a:ext cx="0" cy="0"/>
          <a:chOff x="0" y="0"/>
          <a:chExt cx="0" cy="0"/>
        </a:xfrm>
      </p:grpSpPr>
      <p:sp>
        <p:nvSpPr>
          <p:cNvPr id="129" name="Google Shape;129;p19"/>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9"/>
          <p:cNvSpPr txBox="1"/>
          <p:nvPr>
            <p:ph idx="1" type="body"/>
          </p:nvPr>
        </p:nvSpPr>
        <p:spPr>
          <a:xfrm>
            <a:off x="838200" y="1569308"/>
            <a:ext cx="5181600" cy="4769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19"/>
          <p:cNvSpPr txBox="1"/>
          <p:nvPr>
            <p:ph idx="2" type="body"/>
          </p:nvPr>
        </p:nvSpPr>
        <p:spPr>
          <a:xfrm>
            <a:off x="6172200" y="1569308"/>
            <a:ext cx="5181600" cy="4769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9"/>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5" name="Shape 135"/>
        <p:cNvGrpSpPr/>
        <p:nvPr/>
      </p:nvGrpSpPr>
      <p:grpSpPr>
        <a:xfrm>
          <a:off x="0" y="0"/>
          <a:ext cx="0" cy="0"/>
          <a:chOff x="0" y="0"/>
          <a:chExt cx="0" cy="0"/>
        </a:xfrm>
      </p:grpSpPr>
      <p:sp>
        <p:nvSpPr>
          <p:cNvPr id="136" name="Google Shape;136;p20"/>
          <p:cNvSpPr txBox="1"/>
          <p:nvPr>
            <p:ph type="title"/>
          </p:nvPr>
        </p:nvSpPr>
        <p:spPr>
          <a:xfrm>
            <a:off x="838200" y="0"/>
            <a:ext cx="10515600" cy="1254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0"/>
          <p:cNvSpPr txBox="1"/>
          <p:nvPr>
            <p:ph idx="1" type="body"/>
          </p:nvPr>
        </p:nvSpPr>
        <p:spPr>
          <a:xfrm>
            <a:off x="839788" y="1526705"/>
            <a:ext cx="5157900" cy="462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20"/>
          <p:cNvSpPr txBox="1"/>
          <p:nvPr>
            <p:ph idx="2" type="body"/>
          </p:nvPr>
        </p:nvSpPr>
        <p:spPr>
          <a:xfrm>
            <a:off x="839788" y="2162432"/>
            <a:ext cx="5157900" cy="4207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20"/>
          <p:cNvSpPr txBox="1"/>
          <p:nvPr>
            <p:ph idx="3" type="body"/>
          </p:nvPr>
        </p:nvSpPr>
        <p:spPr>
          <a:xfrm>
            <a:off x="6172200" y="1526705"/>
            <a:ext cx="5183100" cy="462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20"/>
          <p:cNvSpPr txBox="1"/>
          <p:nvPr>
            <p:ph idx="4" type="body"/>
          </p:nvPr>
        </p:nvSpPr>
        <p:spPr>
          <a:xfrm>
            <a:off x="6172200" y="2162432"/>
            <a:ext cx="5183100" cy="4207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20"/>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0"/>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0"/>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4" name="Shape 144"/>
        <p:cNvGrpSpPr/>
        <p:nvPr/>
      </p:nvGrpSpPr>
      <p:grpSpPr>
        <a:xfrm>
          <a:off x="0" y="0"/>
          <a:ext cx="0" cy="0"/>
          <a:chOff x="0" y="0"/>
          <a:chExt cx="0" cy="0"/>
        </a:xfrm>
      </p:grpSpPr>
      <p:sp>
        <p:nvSpPr>
          <p:cNvPr id="145" name="Google Shape;145;p21"/>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1"/>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1"/>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1"/>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49" name="Shape 149"/>
        <p:cNvGrpSpPr/>
        <p:nvPr/>
      </p:nvGrpSpPr>
      <p:grpSpPr>
        <a:xfrm>
          <a:off x="0" y="0"/>
          <a:ext cx="0" cy="0"/>
          <a:chOff x="0" y="0"/>
          <a:chExt cx="0" cy="0"/>
        </a:xfrm>
      </p:grpSpPr>
      <p:sp>
        <p:nvSpPr>
          <p:cNvPr id="150" name="Google Shape;150;p22"/>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2"/>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2"/>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3" name="Shape 153"/>
        <p:cNvGrpSpPr/>
        <p:nvPr/>
      </p:nvGrpSpPr>
      <p:grpSpPr>
        <a:xfrm>
          <a:off x="0" y="0"/>
          <a:ext cx="0" cy="0"/>
          <a:chOff x="0" y="0"/>
          <a:chExt cx="0" cy="0"/>
        </a:xfrm>
      </p:grpSpPr>
      <p:sp>
        <p:nvSpPr>
          <p:cNvPr id="154" name="Google Shape;154;p2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23"/>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6" name="Google Shape;156;p23"/>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7" name="Google Shape;157;p23"/>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3"/>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3"/>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0" name="Shape 160"/>
        <p:cNvGrpSpPr/>
        <p:nvPr/>
      </p:nvGrpSpPr>
      <p:grpSpPr>
        <a:xfrm>
          <a:off x="0" y="0"/>
          <a:ext cx="0" cy="0"/>
          <a:chOff x="0" y="0"/>
          <a:chExt cx="0" cy="0"/>
        </a:xfrm>
      </p:grpSpPr>
      <p:sp>
        <p:nvSpPr>
          <p:cNvPr id="161" name="Google Shape;161;p2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4"/>
          <p:cNvSpPr/>
          <p:nvPr>
            <p:ph idx="2" type="pic"/>
          </p:nvPr>
        </p:nvSpPr>
        <p:spPr>
          <a:xfrm>
            <a:off x="5183188" y="987425"/>
            <a:ext cx="6172200" cy="4873500"/>
          </a:xfrm>
          <a:prstGeom prst="rect">
            <a:avLst/>
          </a:prstGeom>
          <a:noFill/>
          <a:ln>
            <a:noFill/>
          </a:ln>
        </p:spPr>
      </p:sp>
      <p:sp>
        <p:nvSpPr>
          <p:cNvPr id="163" name="Google Shape;163;p24"/>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64" name="Google Shape;164;p24"/>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4"/>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4"/>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7" name="Shape 167"/>
        <p:cNvGrpSpPr/>
        <p:nvPr/>
      </p:nvGrpSpPr>
      <p:grpSpPr>
        <a:xfrm>
          <a:off x="0" y="0"/>
          <a:ext cx="0" cy="0"/>
          <a:chOff x="0" y="0"/>
          <a:chExt cx="0" cy="0"/>
        </a:xfrm>
      </p:grpSpPr>
      <p:sp>
        <p:nvSpPr>
          <p:cNvPr id="168" name="Google Shape;168;p25"/>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25"/>
          <p:cNvSpPr txBox="1"/>
          <p:nvPr>
            <p:ph idx="1" type="body"/>
          </p:nvPr>
        </p:nvSpPr>
        <p:spPr>
          <a:xfrm rot="5400000">
            <a:off x="3683400" y="-1309478"/>
            <a:ext cx="4825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25"/>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5"/>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25"/>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3" name="Shape 173"/>
        <p:cNvGrpSpPr/>
        <p:nvPr/>
      </p:nvGrpSpPr>
      <p:grpSpPr>
        <a:xfrm>
          <a:off x="0" y="0"/>
          <a:ext cx="0" cy="0"/>
          <a:chOff x="0" y="0"/>
          <a:chExt cx="0" cy="0"/>
        </a:xfrm>
      </p:grpSpPr>
      <p:sp>
        <p:nvSpPr>
          <p:cNvPr id="174" name="Google Shape;174;p26"/>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26"/>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26"/>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6"/>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6"/>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79" name="Shape 179"/>
        <p:cNvGrpSpPr/>
        <p:nvPr/>
      </p:nvGrpSpPr>
      <p:grpSpPr>
        <a:xfrm>
          <a:off x="0" y="0"/>
          <a:ext cx="0" cy="0"/>
          <a:chOff x="0" y="0"/>
          <a:chExt cx="0" cy="0"/>
        </a:xfrm>
      </p:grpSpPr>
      <p:sp>
        <p:nvSpPr>
          <p:cNvPr id="180" name="Google Shape;180;p27"/>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7"/>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27"/>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27"/>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84" name="Shape 184"/>
        <p:cNvGrpSpPr/>
        <p:nvPr/>
      </p:nvGrpSpPr>
      <p:grpSpPr>
        <a:xfrm>
          <a:off x="0" y="0"/>
          <a:ext cx="0" cy="0"/>
          <a:chOff x="0" y="0"/>
          <a:chExt cx="0" cy="0"/>
        </a:xfrm>
      </p:grpSpPr>
      <p:grpSp>
        <p:nvGrpSpPr>
          <p:cNvPr id="185" name="Google Shape;185;p28"/>
          <p:cNvGrpSpPr/>
          <p:nvPr/>
        </p:nvGrpSpPr>
        <p:grpSpPr>
          <a:xfrm>
            <a:off x="-13" y="85"/>
            <a:ext cx="12191970" cy="6857665"/>
            <a:chOff x="403860" y="2040695"/>
            <a:chExt cx="914400" cy="1083445"/>
          </a:xfrm>
        </p:grpSpPr>
        <p:sp>
          <p:nvSpPr>
            <p:cNvPr id="186" name="Google Shape;186;p28"/>
            <p:cNvSpPr/>
            <p:nvPr/>
          </p:nvSpPr>
          <p:spPr>
            <a:xfrm>
              <a:off x="403860" y="2110740"/>
              <a:ext cx="914400" cy="914400"/>
            </a:xfrm>
            <a:prstGeom prst="rect">
              <a:avLst/>
            </a:prstGeom>
            <a:solidFill>
              <a:srgbClr val="1D59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p28"/>
            <p:cNvSpPr/>
            <p:nvPr/>
          </p:nvSpPr>
          <p:spPr>
            <a:xfrm>
              <a:off x="403860" y="2040695"/>
              <a:ext cx="914400" cy="99000"/>
            </a:xfrm>
            <a:prstGeom prst="rect">
              <a:avLst/>
            </a:prstGeom>
            <a:solidFill>
              <a:srgbClr val="F5A1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8" name="Google Shape;188;p28"/>
            <p:cNvSpPr/>
            <p:nvPr/>
          </p:nvSpPr>
          <p:spPr>
            <a:xfrm>
              <a:off x="403860" y="3025140"/>
              <a:ext cx="914400" cy="99000"/>
            </a:xfrm>
            <a:prstGeom prst="rect">
              <a:avLst/>
            </a:prstGeom>
            <a:solidFill>
              <a:srgbClr val="F5A10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89" name="Google Shape;189;p28"/>
          <p:cNvSpPr txBox="1"/>
          <p:nvPr>
            <p:ph type="title"/>
          </p:nvPr>
        </p:nvSpPr>
        <p:spPr>
          <a:xfrm>
            <a:off x="838200" y="2718550"/>
            <a:ext cx="10515600" cy="1237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8"/>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28"/>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8"/>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3.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theme" Target="../theme/theme2.xml"/><Relationship Id="rId14" Type="http://schemas.openxmlformats.org/officeDocument/2006/relationships/slideLayout" Target="../slideLayouts/slideLayout2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0" y="1"/>
            <a:ext cx="12194328" cy="1447800"/>
            <a:chOff x="0" y="-1898"/>
            <a:chExt cx="12194328" cy="1608425"/>
          </a:xfrm>
        </p:grpSpPr>
        <p:sp>
          <p:nvSpPr>
            <p:cNvPr id="7" name="Google Shape;7;p1"/>
            <p:cNvSpPr/>
            <p:nvPr/>
          </p:nvSpPr>
          <p:spPr>
            <a:xfrm>
              <a:off x="0" y="-1898"/>
              <a:ext cx="12192000" cy="1495650"/>
            </a:xfrm>
            <a:prstGeom prst="rect">
              <a:avLst/>
            </a:prstGeom>
            <a:solidFill>
              <a:srgbClr val="1D599E"/>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50"/>
                <a:buFont typeface="Calibri"/>
                <a:buNone/>
              </a:pPr>
              <a:r>
                <a:rPr b="0" i="0" lang="en-US" sz="1800" u="none" cap="none" strike="noStrike">
                  <a:solidFill>
                    <a:schemeClr val="lt1"/>
                  </a:solidFill>
                  <a:latin typeface="Calibri"/>
                  <a:ea typeface="Calibri"/>
                  <a:cs typeface="Calibri"/>
                  <a:sym typeface="Calibri"/>
                </a:rPr>
                <a:t> </a:t>
              </a:r>
              <a:endParaRPr/>
            </a:p>
          </p:txBody>
        </p:sp>
        <p:sp>
          <p:nvSpPr>
            <p:cNvPr id="8" name="Google Shape;8;p1"/>
            <p:cNvSpPr/>
            <p:nvPr/>
          </p:nvSpPr>
          <p:spPr>
            <a:xfrm>
              <a:off x="2328" y="1393803"/>
              <a:ext cx="12192000" cy="212724"/>
            </a:xfrm>
            <a:prstGeom prst="rect">
              <a:avLst/>
            </a:prstGeom>
            <a:solidFill>
              <a:srgbClr val="F5A10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grpSp>
      <p:sp>
        <p:nvSpPr>
          <p:cNvPr id="9" name="Google Shape;9;p1"/>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5400"/>
              <a:buFont typeface="Arial"/>
              <a:buNone/>
              <a:defRPr b="0" i="0" sz="5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 type="body"/>
          </p:nvPr>
        </p:nvSpPr>
        <p:spPr>
          <a:xfrm>
            <a:off x="838200" y="1535722"/>
            <a:ext cx="10515600" cy="482524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0" type="dt"/>
          </p:nvPr>
        </p:nvSpPr>
        <p:spPr>
          <a:xfrm>
            <a:off x="2632387" y="6462482"/>
            <a:ext cx="9490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1" type="ftr"/>
          </p:nvPr>
        </p:nvSpPr>
        <p:spPr>
          <a:xfrm>
            <a:off x="4038600" y="6462482"/>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8610600" y="6462482"/>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4" name="Google Shape;14;p1"/>
          <p:cNvPicPr preferRelativeResize="0"/>
          <p:nvPr/>
        </p:nvPicPr>
        <p:blipFill rotWithShape="1">
          <a:blip r:embed="rId1">
            <a:alphaModFix/>
          </a:blip>
          <a:srcRect b="0" l="0" r="0" t="0"/>
          <a:stretch/>
        </p:blipFill>
        <p:spPr>
          <a:xfrm>
            <a:off x="58253" y="6465580"/>
            <a:ext cx="2116934" cy="3620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grpSp>
        <p:nvGrpSpPr>
          <p:cNvPr id="100" name="Google Shape;100;p15"/>
          <p:cNvGrpSpPr/>
          <p:nvPr/>
        </p:nvGrpSpPr>
        <p:grpSpPr>
          <a:xfrm>
            <a:off x="0" y="1"/>
            <a:ext cx="12194328" cy="1447722"/>
            <a:chOff x="0" y="-1898"/>
            <a:chExt cx="12194328" cy="1608401"/>
          </a:xfrm>
        </p:grpSpPr>
        <p:sp>
          <p:nvSpPr>
            <p:cNvPr id="101" name="Google Shape;101;p15"/>
            <p:cNvSpPr/>
            <p:nvPr/>
          </p:nvSpPr>
          <p:spPr>
            <a:xfrm>
              <a:off x="0" y="-1898"/>
              <a:ext cx="12192000" cy="1495800"/>
            </a:xfrm>
            <a:prstGeom prst="rect">
              <a:avLst/>
            </a:prstGeom>
            <a:solidFill>
              <a:srgbClr val="1D599E"/>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450"/>
                <a:buFont typeface="Calibri"/>
                <a:buNone/>
              </a:pPr>
              <a:r>
                <a:rPr b="0" i="0" lang="en-US" sz="1800" u="none" cap="none" strike="noStrike">
                  <a:solidFill>
                    <a:schemeClr val="lt1"/>
                  </a:solidFill>
                  <a:latin typeface="Calibri"/>
                  <a:ea typeface="Calibri"/>
                  <a:cs typeface="Calibri"/>
                  <a:sym typeface="Calibri"/>
                </a:rPr>
                <a:t> </a:t>
              </a:r>
              <a:endParaRPr/>
            </a:p>
          </p:txBody>
        </p:sp>
        <p:sp>
          <p:nvSpPr>
            <p:cNvPr id="102" name="Google Shape;102;p15"/>
            <p:cNvSpPr/>
            <p:nvPr/>
          </p:nvSpPr>
          <p:spPr>
            <a:xfrm>
              <a:off x="2328" y="1393803"/>
              <a:ext cx="12192000" cy="212700"/>
            </a:xfrm>
            <a:prstGeom prst="rect">
              <a:avLst/>
            </a:prstGeom>
            <a:solidFill>
              <a:srgbClr val="F5A10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grpSp>
      <p:sp>
        <p:nvSpPr>
          <p:cNvPr id="103" name="Google Shape;103;p15"/>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lt1"/>
              </a:buClr>
              <a:buSzPts val="5400"/>
              <a:buFont typeface="Arial"/>
              <a:buNone/>
              <a:defRPr b="0" i="0" sz="5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 name="Google Shape;104;p15"/>
          <p:cNvSpPr txBox="1"/>
          <p:nvPr>
            <p:ph idx="1" type="body"/>
          </p:nvPr>
        </p:nvSpPr>
        <p:spPr>
          <a:xfrm>
            <a:off x="838200" y="1535722"/>
            <a:ext cx="10515600" cy="4825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15"/>
          <p:cNvSpPr txBox="1"/>
          <p:nvPr>
            <p:ph idx="10" type="dt"/>
          </p:nvPr>
        </p:nvSpPr>
        <p:spPr>
          <a:xfrm>
            <a:off x="2632387" y="6462482"/>
            <a:ext cx="9489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15"/>
          <p:cNvSpPr txBox="1"/>
          <p:nvPr>
            <p:ph idx="11" type="ftr"/>
          </p:nvPr>
        </p:nvSpPr>
        <p:spPr>
          <a:xfrm>
            <a:off x="4038600" y="6462482"/>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15"/>
          <p:cNvSpPr txBox="1"/>
          <p:nvPr>
            <p:ph idx="12" type="sldNum"/>
          </p:nvPr>
        </p:nvSpPr>
        <p:spPr>
          <a:xfrm>
            <a:off x="8610600" y="6462482"/>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08" name="Google Shape;108;p15"/>
          <p:cNvPicPr preferRelativeResize="0"/>
          <p:nvPr/>
        </p:nvPicPr>
        <p:blipFill rotWithShape="1">
          <a:blip r:embed="rId1">
            <a:alphaModFix/>
          </a:blip>
          <a:srcRect b="0" l="0" r="0" t="0"/>
          <a:stretch/>
        </p:blipFill>
        <p:spPr>
          <a:xfrm>
            <a:off x="58253" y="6465580"/>
            <a:ext cx="2116934" cy="3620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slide" Target="/ppt/slides/slide14.xml"/><Relationship Id="rId10" Type="http://schemas.openxmlformats.org/officeDocument/2006/relationships/slide" Target="/ppt/slides/slide10.xml"/><Relationship Id="rId13" Type="http://schemas.openxmlformats.org/officeDocument/2006/relationships/slide" Target="/ppt/slides/slide16.xml"/><Relationship Id="rId12" Type="http://schemas.openxmlformats.org/officeDocument/2006/relationships/slide" Target="/ppt/slides/slide15.xml"/><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slide" Target="/ppt/slides/slide13.xml"/><Relationship Id="rId9" Type="http://schemas.openxmlformats.org/officeDocument/2006/relationships/slide" Target="/ppt/slides/slide13.xml"/><Relationship Id="rId5" Type="http://schemas.openxmlformats.org/officeDocument/2006/relationships/slide" Target="/ppt/slides/slide13.xml"/><Relationship Id="rId6" Type="http://schemas.openxmlformats.org/officeDocument/2006/relationships/slide" Target="/ppt/slides/slide13.xml"/><Relationship Id="rId7" Type="http://schemas.openxmlformats.org/officeDocument/2006/relationships/slide" Target="/ppt/slides/slide13.xml"/><Relationship Id="rId8" Type="http://schemas.openxmlformats.org/officeDocument/2006/relationships/slide" Target="/ppt/slides/slide13.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0.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2.xml"/><Relationship Id="rId16" Type="http://schemas.openxmlformats.org/officeDocument/2006/relationships/slide" Target="/ppt/slides/slide16.xml"/><Relationship Id="rId5" Type="http://schemas.openxmlformats.org/officeDocument/2006/relationships/slide" Target="/ppt/slides/slide13.xml"/><Relationship Id="rId19" Type="http://schemas.openxmlformats.org/officeDocument/2006/relationships/slide" Target="/ppt/slides/slide12.xml"/><Relationship Id="rId6" Type="http://schemas.openxmlformats.org/officeDocument/2006/relationships/slide" Target="/ppt/slides/slide13.xml"/><Relationship Id="rId18"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s>
</file>

<file path=ppt/slides/_rels/slide3.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0.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2.xml"/><Relationship Id="rId16" Type="http://schemas.openxmlformats.org/officeDocument/2006/relationships/slide" Target="/ppt/slides/slide16.xml"/><Relationship Id="rId5" Type="http://schemas.openxmlformats.org/officeDocument/2006/relationships/slide" Target="/ppt/slides/slide13.xml"/><Relationship Id="rId19" Type="http://schemas.openxmlformats.org/officeDocument/2006/relationships/slide" Target="/ppt/slides/slide12.xml"/><Relationship Id="rId6" Type="http://schemas.openxmlformats.org/officeDocument/2006/relationships/slide" Target="/ppt/slides/slide13.xml"/><Relationship Id="rId18"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s>
</file>

<file path=ppt/slides/_rels/slide4.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0.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2.xml"/><Relationship Id="rId16" Type="http://schemas.openxmlformats.org/officeDocument/2006/relationships/slide" Target="/ppt/slides/slide16.xml"/><Relationship Id="rId5" Type="http://schemas.openxmlformats.org/officeDocument/2006/relationships/slide" Target="/ppt/slides/slide13.xml"/><Relationship Id="rId19" Type="http://schemas.openxmlformats.org/officeDocument/2006/relationships/slide" Target="/ppt/slides/slide12.xml"/><Relationship Id="rId6" Type="http://schemas.openxmlformats.org/officeDocument/2006/relationships/slide" Target="/ppt/slides/slide13.xml"/><Relationship Id="rId18"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s>
</file>

<file path=ppt/slides/_rels/slide5.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0.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2.xml"/><Relationship Id="rId16" Type="http://schemas.openxmlformats.org/officeDocument/2006/relationships/slide" Target="/ppt/slides/slide16.xml"/><Relationship Id="rId5" Type="http://schemas.openxmlformats.org/officeDocument/2006/relationships/slide" Target="/ppt/slides/slide13.xml"/><Relationship Id="rId19" Type="http://schemas.openxmlformats.org/officeDocument/2006/relationships/slide" Target="/ppt/slides/slide12.xml"/><Relationship Id="rId6" Type="http://schemas.openxmlformats.org/officeDocument/2006/relationships/slide" Target="/ppt/slides/slide13.xml"/><Relationship Id="rId18"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s>
</file>

<file path=ppt/slides/_rels/slide6.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0.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2.xml"/><Relationship Id="rId16" Type="http://schemas.openxmlformats.org/officeDocument/2006/relationships/slide" Target="/ppt/slides/slide16.xml"/><Relationship Id="rId5" Type="http://schemas.openxmlformats.org/officeDocument/2006/relationships/slide" Target="/ppt/slides/slide13.xml"/><Relationship Id="rId19" Type="http://schemas.openxmlformats.org/officeDocument/2006/relationships/slide" Target="/ppt/slides/slide12.xml"/><Relationship Id="rId6" Type="http://schemas.openxmlformats.org/officeDocument/2006/relationships/slide" Target="/ppt/slides/slide13.xml"/><Relationship Id="rId18"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s>
</file>

<file path=ppt/slides/_rels/slide7.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0.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5.xml"/><Relationship Id="rId14" Type="http://schemas.openxmlformats.org/officeDocument/2006/relationships/slide" Target="/ppt/slides/slide14.xml"/><Relationship Id="rId17" Type="http://schemas.openxmlformats.org/officeDocument/2006/relationships/slide" Target="/ppt/slides/slide12.xml"/><Relationship Id="rId16" Type="http://schemas.openxmlformats.org/officeDocument/2006/relationships/slide" Target="/ppt/slides/slide16.xml"/><Relationship Id="rId5" Type="http://schemas.openxmlformats.org/officeDocument/2006/relationships/slide" Target="/ppt/slides/slide13.xml"/><Relationship Id="rId19" Type="http://schemas.openxmlformats.org/officeDocument/2006/relationships/slide" Target="/ppt/slides/slide12.xml"/><Relationship Id="rId6" Type="http://schemas.openxmlformats.org/officeDocument/2006/relationships/slide" Target="/ppt/slides/slide13.xml"/><Relationship Id="rId18"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s>
</file>

<file path=ppt/slides/_rels/slide8.xml.rels><?xml version="1.0" encoding="UTF-8" standalone="yes"?><Relationships xmlns="http://schemas.openxmlformats.org/package/2006/relationships"><Relationship Id="rId11" Type="http://schemas.openxmlformats.org/officeDocument/2006/relationships/slide" Target="/ppt/slides/slide13.xml"/><Relationship Id="rId10" Type="http://schemas.openxmlformats.org/officeDocument/2006/relationships/slide" Target="/ppt/slides/slide13.xml"/><Relationship Id="rId13" Type="http://schemas.openxmlformats.org/officeDocument/2006/relationships/slide" Target="/ppt/slides/slide12.xml"/><Relationship Id="rId12" Type="http://schemas.openxmlformats.org/officeDocument/2006/relationships/slide" Target="/ppt/slides/slide13.xml"/><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slide" Target="/ppt/slides/slide13.xml"/><Relationship Id="rId9" Type="http://schemas.openxmlformats.org/officeDocument/2006/relationships/slide" Target="/ppt/slides/slide13.xml"/><Relationship Id="rId15" Type="http://schemas.openxmlformats.org/officeDocument/2006/relationships/slide" Target="/ppt/slides/slide12.xml"/><Relationship Id="rId14" Type="http://schemas.openxmlformats.org/officeDocument/2006/relationships/slide" Target="/ppt/slides/slide12.xml"/><Relationship Id="rId17" Type="http://schemas.openxmlformats.org/officeDocument/2006/relationships/slide" Target="/ppt/slides/slide14.xml"/><Relationship Id="rId16" Type="http://schemas.openxmlformats.org/officeDocument/2006/relationships/slide" Target="/ppt/slides/slide10.xml"/><Relationship Id="rId5" Type="http://schemas.openxmlformats.org/officeDocument/2006/relationships/slide" Target="/ppt/slides/slide13.xml"/><Relationship Id="rId19" Type="http://schemas.openxmlformats.org/officeDocument/2006/relationships/slide" Target="/ppt/slides/slide16.xml"/><Relationship Id="rId6" Type="http://schemas.openxmlformats.org/officeDocument/2006/relationships/slide" Target="/ppt/slides/slide13.xml"/><Relationship Id="rId18" Type="http://schemas.openxmlformats.org/officeDocument/2006/relationships/slide" Target="/ppt/slides/slide15.xml"/><Relationship Id="rId7" Type="http://schemas.openxmlformats.org/officeDocument/2006/relationships/slide" Target="/ppt/slides/slide13.xml"/><Relationship Id="rId8" Type="http://schemas.openxmlformats.org/officeDocument/2006/relationships/slide" Target="/ppt/slid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lang="en-US"/>
              <a:t>Eliezer (</a:t>
            </a:r>
            <a:r>
              <a:rPr b="0" i="0" lang="en-US" sz="5400" u="none" cap="none" strike="noStrike">
                <a:solidFill>
                  <a:schemeClr val="lt1"/>
                </a:solidFill>
                <a:latin typeface="Arial"/>
                <a:ea typeface="Arial"/>
                <a:cs typeface="Arial"/>
                <a:sym typeface="Arial"/>
              </a:rPr>
              <a:t>Elie) Wiesel (Ch. 1-9)</a:t>
            </a:r>
            <a:endParaRPr/>
          </a:p>
        </p:txBody>
      </p:sp>
      <p:pic>
        <p:nvPicPr>
          <p:cNvPr id="198" name="Google Shape;198;p29"/>
          <p:cNvPicPr preferRelativeResize="0"/>
          <p:nvPr/>
        </p:nvPicPr>
        <p:blipFill rotWithShape="1">
          <a:blip r:embed="rId3">
            <a:alphaModFix/>
          </a:blip>
          <a:srcRect b="0" l="0" r="62002" t="0"/>
          <a:stretch/>
        </p:blipFill>
        <p:spPr>
          <a:xfrm>
            <a:off x="457200" y="1536200"/>
            <a:ext cx="2029050" cy="4828024"/>
          </a:xfrm>
          <a:prstGeom prst="rect">
            <a:avLst/>
          </a:prstGeom>
          <a:noFill/>
          <a:ln cap="flat" cmpd="sng" w="9525">
            <a:solidFill>
              <a:srgbClr val="FFFFFF"/>
            </a:solidFill>
            <a:prstDash val="solid"/>
            <a:round/>
            <a:headEnd len="sm" w="sm" type="none"/>
            <a:tailEnd len="sm" w="sm" type="none"/>
          </a:ln>
        </p:spPr>
      </p:pic>
      <p:graphicFrame>
        <p:nvGraphicFramePr>
          <p:cNvPr id="199" name="Google Shape;199;p29"/>
          <p:cNvGraphicFramePr/>
          <p:nvPr/>
        </p:nvGraphicFramePr>
        <p:xfrm>
          <a:off x="3997350" y="1596500"/>
          <a:ext cx="3000000" cy="3000000"/>
        </p:xfrm>
        <a:graphic>
          <a:graphicData uri="http://schemas.openxmlformats.org/drawingml/2006/table">
            <a:tbl>
              <a:tblPr>
                <a:noFill/>
                <a:tableStyleId>{D811217D-9DAD-4C68-B1CA-221016E506AF}</a:tableStyleId>
              </a:tblPr>
              <a:tblGrid>
                <a:gridCol w="8014300"/>
              </a:tblGrid>
              <a:tr h="1676375">
                <a:tc>
                  <a:txBody>
                    <a:bodyPr/>
                    <a:lstStyle/>
                    <a:p>
                      <a:pPr indent="0" lvl="0" marL="0" rtl="0" algn="l">
                        <a:spcBef>
                          <a:spcPts val="0"/>
                        </a:spcBef>
                        <a:spcAft>
                          <a:spcPts val="0"/>
                        </a:spcAft>
                        <a:buNone/>
                      </a:pPr>
                      <a:r>
                        <a:rPr lang="en-US">
                          <a:latin typeface="Georgia"/>
                          <a:ea typeface="Georgia"/>
                          <a:cs typeface="Georgia"/>
                          <a:sym typeface="Georgia"/>
                        </a:rPr>
                        <a:t>Elie believes in God and studies the Talmud and Jewish mysticism under the guidance of </a:t>
                      </a:r>
                      <a:r>
                        <a:rPr lang="en-US">
                          <a:latin typeface="Georgia"/>
                          <a:ea typeface="Georgia"/>
                          <a:cs typeface="Georgia"/>
                          <a:sym typeface="Georgia"/>
                        </a:rPr>
                        <a:t>Moishe the Beadle</a:t>
                      </a:r>
                      <a:endParaRPr>
                        <a:latin typeface="Georgia"/>
                        <a:ea typeface="Georgia"/>
                        <a:cs typeface="Georgia"/>
                        <a:sym typeface="Georgia"/>
                      </a:endParaRPr>
                    </a:p>
                    <a:p>
                      <a:pPr indent="-317500" lvl="0" marL="457200" rtl="0" algn="l">
                        <a:spcBef>
                          <a:spcPts val="0"/>
                        </a:spcBef>
                        <a:spcAft>
                          <a:spcPts val="0"/>
                        </a:spcAft>
                        <a:buSzPts val="1400"/>
                        <a:buFont typeface="Georgia"/>
                        <a:buChar char="●"/>
                      </a:pPr>
                      <a:r>
                        <a:rPr lang="en-US">
                          <a:latin typeface="Georgia"/>
                          <a:ea typeface="Georgia"/>
                          <a:cs typeface="Georgia"/>
                          <a:sym typeface="Georgia"/>
                        </a:rPr>
                        <a:t>“[Moishe] spoke to me for hours on end about the Kabbalah's revelations and its mysteries. Thus began my initiation. Together we would read, over and over again, the same page of the Zohar. Not to learn it by heart but to discover within the very essence of divinity” (Wiesel 5).</a:t>
                      </a:r>
                      <a:endParaRPr>
                        <a:latin typeface="Georgia"/>
                        <a:ea typeface="Georgia"/>
                        <a:cs typeface="Georgia"/>
                        <a:sym typeface="Georgia"/>
                      </a:endParaRPr>
                    </a:p>
                    <a:p>
                      <a:pPr indent="0" lvl="0" marL="0" rtl="0" algn="l">
                        <a:spcBef>
                          <a:spcPts val="0"/>
                        </a:spcBef>
                        <a:spcAft>
                          <a:spcPts val="0"/>
                        </a:spcAft>
                        <a:buNone/>
                      </a:pPr>
                      <a:r>
                        <a:t/>
                      </a:r>
                      <a:endParaRPr>
                        <a:latin typeface="Georgia"/>
                        <a:ea typeface="Georgia"/>
                        <a:cs typeface="Georgia"/>
                        <a:sym typeface="Georgia"/>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highlight>
                            <a:srgbClr val="FFFF00"/>
                          </a:highlight>
                          <a:latin typeface="Georgia"/>
                          <a:ea typeface="Georgia"/>
                          <a:cs typeface="Georgia"/>
                          <a:sym typeface="Georgia"/>
                        </a:rPr>
                        <a:t>___________.</a:t>
                      </a:r>
                      <a:endParaRPr>
                        <a:highlight>
                          <a:srgbClr val="FFFF00"/>
                        </a:highlight>
                        <a:latin typeface="Georgia"/>
                        <a:ea typeface="Georgia"/>
                        <a:cs typeface="Georgia"/>
                        <a:sym typeface="Georgia"/>
                      </a:endParaRPr>
                    </a:p>
                    <a:p>
                      <a:pPr indent="-317500" lvl="0" marL="457200" rtl="0" algn="l">
                        <a:spcBef>
                          <a:spcPts val="0"/>
                        </a:spcBef>
                        <a:spcAft>
                          <a:spcPts val="0"/>
                        </a:spcAft>
                        <a:buSzPts val="1400"/>
                        <a:buFont typeface="Georgia"/>
                        <a:buChar char="●"/>
                      </a:pPr>
                      <a:r>
                        <a:rPr lang="en-US">
                          <a:latin typeface="Georgia"/>
                          <a:ea typeface="Georgia"/>
                          <a:cs typeface="Georgia"/>
                          <a:sym typeface="Georgia"/>
                        </a:rPr>
                        <a:t>“</a:t>
                      </a:r>
                      <a:r>
                        <a:rPr lang="en-US">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highlight>
                            <a:srgbClr val="FFFF00"/>
                          </a:highlight>
                          <a:latin typeface="Georgia"/>
                          <a:ea typeface="Georgia"/>
                          <a:cs typeface="Georgia"/>
                          <a:sym typeface="Georgia"/>
                        </a:rPr>
                        <a:t>______</a:t>
                      </a:r>
                      <a:r>
                        <a:rPr lang="en-US">
                          <a:latin typeface="Georgia"/>
                          <a:ea typeface="Georgia"/>
                          <a:cs typeface="Georgia"/>
                          <a:sym typeface="Georgia"/>
                        </a:rPr>
                        <a:t>” (Wiesel </a:t>
                      </a:r>
                      <a:r>
                        <a:rPr lang="en-US">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highlight>
                            <a:srgbClr val="FFFF00"/>
                          </a:highlight>
                          <a:latin typeface="Georgia"/>
                          <a:ea typeface="Georgia"/>
                          <a:cs typeface="Georgia"/>
                          <a:sym typeface="Georgia"/>
                        </a:rPr>
                        <a:t>_</a:t>
                      </a:r>
                      <a:r>
                        <a:rPr lang="en-US">
                          <a:latin typeface="Georgia"/>
                          <a:ea typeface="Georgia"/>
                          <a:cs typeface="Georgia"/>
                          <a:sym typeface="Georgia"/>
                        </a:rPr>
                        <a:t>).</a:t>
                      </a:r>
                      <a:endParaRPr>
                        <a:latin typeface="Georgia"/>
                        <a:ea typeface="Georgia"/>
                        <a:cs typeface="Georgia"/>
                        <a:sym typeface="Georgia"/>
                      </a:endParaRPr>
                    </a:p>
                  </a:txBody>
                  <a:tcPr marT="91425" marB="91425" marR="91425" marL="91425">
                    <a:solidFill>
                      <a:srgbClr val="17BBDA">
                        <a:alpha val="54440"/>
                      </a:srgbClr>
                    </a:solidFill>
                  </a:tcPr>
                </a:tc>
              </a:tr>
              <a:tr h="1589250">
                <a:tc>
                  <a:txBody>
                    <a:bodyPr/>
                    <a:lstStyle/>
                    <a:p>
                      <a:pPr indent="-317500" lvl="0" marL="457200" rtl="0" algn="l">
                        <a:spcBef>
                          <a:spcPts val="0"/>
                        </a:spcBef>
                        <a:spcAft>
                          <a:spcPts val="0"/>
                        </a:spcAft>
                        <a:buClr>
                          <a:schemeClr val="dk1"/>
                        </a:buClr>
                        <a:buSzPts val="1400"/>
                        <a:buFont typeface="Georgia"/>
                        <a:buChar char="●"/>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solidFill>
                          <a:schemeClr val="dk1"/>
                        </a:solidFill>
                        <a:highlight>
                          <a:srgbClr val="FFFF00"/>
                        </a:highlight>
                        <a:latin typeface="Georgia"/>
                        <a:ea typeface="Georgia"/>
                        <a:cs typeface="Georgia"/>
                        <a:sym typeface="Georgia"/>
                      </a:endParaRPr>
                    </a:p>
                  </a:txBody>
                  <a:tcPr marT="91425" marB="91425" marR="91425" marL="91425">
                    <a:solidFill>
                      <a:srgbClr val="0CFF00">
                        <a:alpha val="57990"/>
                      </a:srgbClr>
                    </a:solidFill>
                  </a:tcPr>
                </a:tc>
              </a:tr>
            </a:tbl>
          </a:graphicData>
        </a:graphic>
      </p:graphicFrame>
      <p:graphicFrame>
        <p:nvGraphicFramePr>
          <p:cNvPr id="200" name="Google Shape;200;p29"/>
          <p:cNvGraphicFramePr/>
          <p:nvPr/>
        </p:nvGraphicFramePr>
        <p:xfrm>
          <a:off x="2624400" y="1596475"/>
          <a:ext cx="3000000" cy="3000000"/>
        </p:xfrm>
        <a:graphic>
          <a:graphicData uri="http://schemas.openxmlformats.org/drawingml/2006/table">
            <a:tbl>
              <a:tblPr>
                <a:noFill/>
                <a:tableStyleId>{D811217D-9DAD-4C68-B1CA-221016E506AF}</a:tableStyleId>
              </a:tblPr>
              <a:tblGrid>
                <a:gridCol w="1234775"/>
              </a:tblGrid>
              <a:tr h="1676400">
                <a:tc>
                  <a:txBody>
                    <a:bodyPr/>
                    <a:lstStyle/>
                    <a:p>
                      <a:pPr indent="0" lvl="0" marL="0" rtl="0" algn="l">
                        <a:spcBef>
                          <a:spcPts val="0"/>
                        </a:spcBef>
                        <a:spcAft>
                          <a:spcPts val="0"/>
                        </a:spcAft>
                        <a:buNone/>
                      </a:pPr>
                      <a:r>
                        <a:rPr lang="en-US">
                          <a:latin typeface="Georgia"/>
                          <a:ea typeface="Georgia"/>
                          <a:cs typeface="Georgia"/>
                          <a:sym typeface="Georgia"/>
                        </a:rPr>
                        <a:t>Elie’s Faith at the Beginning of The Novel </a:t>
                      </a:r>
                      <a:endParaRPr>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lang="en-US" sz="1200">
                          <a:latin typeface="Georgia"/>
                          <a:ea typeface="Georgia"/>
                          <a:cs typeface="Georgia"/>
                          <a:sym typeface="Georgia"/>
                        </a:rPr>
                        <a:t>(</a:t>
                      </a:r>
                      <a:r>
                        <a:rPr lang="en-US" sz="1200">
                          <a:latin typeface="Georgia"/>
                          <a:ea typeface="Georgia"/>
                          <a:cs typeface="Georgia"/>
                          <a:sym typeface="Georgia"/>
                        </a:rPr>
                        <a:t>Chapter 1:</a:t>
                      </a:r>
                      <a:endParaRPr sz="1200">
                        <a:latin typeface="Georgia"/>
                        <a:ea typeface="Georgia"/>
                        <a:cs typeface="Georgia"/>
                        <a:sym typeface="Georgia"/>
                      </a:endParaRPr>
                    </a:p>
                    <a:p>
                      <a:pPr indent="0" lvl="0" marL="0" rtl="0" algn="l">
                        <a:spcBef>
                          <a:spcPts val="0"/>
                        </a:spcBef>
                        <a:spcAft>
                          <a:spcPts val="0"/>
                        </a:spcAft>
                        <a:buNone/>
                      </a:pPr>
                      <a:r>
                        <a:rPr lang="en-US" sz="1200">
                          <a:latin typeface="Georgia"/>
                          <a:ea typeface="Georgia"/>
                          <a:cs typeface="Georgia"/>
                          <a:sym typeface="Georgia"/>
                        </a:rPr>
                        <a:t>pre-Holocaust)</a:t>
                      </a:r>
                      <a:endParaRPr sz="1200">
                        <a:latin typeface="Georgia"/>
                        <a:ea typeface="Georgia"/>
                        <a:cs typeface="Georgia"/>
                        <a:sym typeface="Georgia"/>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latin typeface="Georgia"/>
                          <a:ea typeface="Georgia"/>
                          <a:cs typeface="Georgia"/>
                          <a:sym typeface="Georgia"/>
                        </a:rPr>
                        <a:t>Elie’s Faith at the Middle of The Novel</a:t>
                      </a:r>
                      <a:endParaRPr>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lang="en-US" sz="1200">
                          <a:solidFill>
                            <a:schemeClr val="dk1"/>
                          </a:solidFill>
                          <a:latin typeface="Georgia"/>
                          <a:ea typeface="Georgia"/>
                          <a:cs typeface="Georgia"/>
                          <a:sym typeface="Georgia"/>
                        </a:rPr>
                        <a:t>(Chapters 2-6:</a:t>
                      </a:r>
                      <a:endParaRPr sz="1200">
                        <a:solidFill>
                          <a:schemeClr val="dk1"/>
                        </a:solidFill>
                        <a:latin typeface="Georgia"/>
                        <a:ea typeface="Georgia"/>
                        <a:cs typeface="Georgia"/>
                        <a:sym typeface="Georgia"/>
                      </a:endParaRPr>
                    </a:p>
                    <a:p>
                      <a:pPr indent="0" lvl="0" marL="0" rtl="0" algn="l">
                        <a:spcBef>
                          <a:spcPts val="0"/>
                        </a:spcBef>
                        <a:spcAft>
                          <a:spcPts val="0"/>
                        </a:spcAft>
                        <a:buNone/>
                      </a:pPr>
                      <a:r>
                        <a:rPr lang="en-US" sz="1200">
                          <a:solidFill>
                            <a:schemeClr val="dk1"/>
                          </a:solidFill>
                          <a:latin typeface="Georgia"/>
                          <a:ea typeface="Georgia"/>
                          <a:cs typeface="Georgia"/>
                          <a:sym typeface="Georgia"/>
                        </a:rPr>
                        <a:t>Atrocities)</a:t>
                      </a:r>
                      <a:r>
                        <a:rPr lang="en-US">
                          <a:solidFill>
                            <a:schemeClr val="dk1"/>
                          </a:solidFill>
                          <a:latin typeface="Georgia"/>
                          <a:ea typeface="Georgia"/>
                          <a:cs typeface="Georgia"/>
                          <a:sym typeface="Georgia"/>
                        </a:rPr>
                        <a:t> </a:t>
                      </a:r>
                      <a:endParaRPr>
                        <a:latin typeface="Georgia"/>
                        <a:ea typeface="Georgia"/>
                        <a:cs typeface="Georgia"/>
                        <a:sym typeface="Georgia"/>
                      </a:endParaRPr>
                    </a:p>
                  </a:txBody>
                  <a:tcPr marT="91425" marB="91425" marR="91425" marL="91425">
                    <a:solidFill>
                      <a:srgbClr val="17BBDA">
                        <a:alpha val="54440"/>
                      </a:srgbClr>
                    </a:solidFill>
                  </a:tcPr>
                </a:tc>
              </a:tr>
              <a:tr h="1618300">
                <a:tc>
                  <a:txBody>
                    <a:bodyPr/>
                    <a:lstStyle/>
                    <a:p>
                      <a:pPr indent="0" lvl="0" marL="0" rtl="0" algn="l">
                        <a:spcBef>
                          <a:spcPts val="0"/>
                        </a:spcBef>
                        <a:spcAft>
                          <a:spcPts val="0"/>
                        </a:spcAft>
                        <a:buNone/>
                      </a:pPr>
                      <a:r>
                        <a:rPr lang="en-US">
                          <a:solidFill>
                            <a:schemeClr val="dk1"/>
                          </a:solidFill>
                          <a:latin typeface="Georgia"/>
                          <a:ea typeface="Georgia"/>
                          <a:cs typeface="Georgia"/>
                          <a:sym typeface="Georgia"/>
                        </a:rPr>
                        <a:t>Elie’s Faith at the End of The Novel</a:t>
                      </a:r>
                      <a:endParaRPr>
                        <a:solidFill>
                          <a:schemeClr val="dk1"/>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rPr lang="en-US" sz="1200">
                          <a:solidFill>
                            <a:schemeClr val="dk1"/>
                          </a:solidFill>
                          <a:latin typeface="Georgia"/>
                          <a:ea typeface="Georgia"/>
                          <a:cs typeface="Georgia"/>
                          <a:sym typeface="Georgia"/>
                        </a:rPr>
                        <a:t>(Chapters 7-9:</a:t>
                      </a:r>
                      <a:endParaRPr sz="1200">
                        <a:solidFill>
                          <a:schemeClr val="dk1"/>
                        </a:solidFill>
                        <a:latin typeface="Georgia"/>
                        <a:ea typeface="Georgia"/>
                        <a:cs typeface="Georgia"/>
                        <a:sym typeface="Georgia"/>
                      </a:endParaRPr>
                    </a:p>
                    <a:p>
                      <a:pPr indent="0" lvl="0" marL="0" rtl="0" algn="l">
                        <a:spcBef>
                          <a:spcPts val="0"/>
                        </a:spcBef>
                        <a:spcAft>
                          <a:spcPts val="0"/>
                        </a:spcAft>
                        <a:buNone/>
                      </a:pPr>
                      <a:r>
                        <a:rPr lang="en-US" sz="1200">
                          <a:solidFill>
                            <a:schemeClr val="dk1"/>
                          </a:solidFill>
                          <a:latin typeface="Georgia"/>
                          <a:ea typeface="Georgia"/>
                          <a:cs typeface="Georgia"/>
                          <a:sym typeface="Georgia"/>
                        </a:rPr>
                        <a:t>Loss &amp; Liberation)</a:t>
                      </a:r>
                      <a:r>
                        <a:rPr lang="en-US">
                          <a:solidFill>
                            <a:schemeClr val="dk1"/>
                          </a:solidFill>
                          <a:latin typeface="Georgia"/>
                          <a:ea typeface="Georgia"/>
                          <a:cs typeface="Georgia"/>
                          <a:sym typeface="Georgia"/>
                        </a:rPr>
                        <a:t> </a:t>
                      </a:r>
                      <a:endParaRPr>
                        <a:latin typeface="Georgia"/>
                        <a:ea typeface="Georgia"/>
                        <a:cs typeface="Georgia"/>
                        <a:sym typeface="Georgia"/>
                      </a:endParaRPr>
                    </a:p>
                  </a:txBody>
                  <a:tcPr marT="91425" marB="91425" marR="91425" marL="91425">
                    <a:solidFill>
                      <a:srgbClr val="0CFF00">
                        <a:alpha val="57990"/>
                      </a:srgbClr>
                    </a:solidFill>
                  </a:tcPr>
                </a:tc>
              </a:tr>
            </a:tbl>
          </a:graphicData>
        </a:graphic>
      </p:graphicFrame>
      <p:sp>
        <p:nvSpPr>
          <p:cNvPr id="201" name="Google Shape;201;p29"/>
          <p:cNvSpPr txBox="1"/>
          <p:nvPr/>
        </p:nvSpPr>
        <p:spPr>
          <a:xfrm>
            <a:off x="12290475" y="1630150"/>
            <a:ext cx="2200800" cy="15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Chapter 1</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400">
                <a:solidFill>
                  <a:schemeClr val="dk1"/>
                </a:solidFill>
                <a:latin typeface="Calibri"/>
                <a:ea typeface="Calibri"/>
                <a:cs typeface="Calibri"/>
                <a:sym typeface="Calibri"/>
              </a:rPr>
              <a:t>(pre-Holocaust)</a:t>
            </a:r>
            <a:endParaRPr sz="2400">
              <a:solidFill>
                <a:schemeClr val="dk1"/>
              </a:solidFill>
              <a:latin typeface="Calibri"/>
              <a:ea typeface="Calibri"/>
              <a:cs typeface="Calibri"/>
              <a:sym typeface="Calibri"/>
            </a:endParaRPr>
          </a:p>
        </p:txBody>
      </p:sp>
      <p:sp>
        <p:nvSpPr>
          <p:cNvPr id="202" name="Google Shape;202;p29"/>
          <p:cNvSpPr txBox="1"/>
          <p:nvPr/>
        </p:nvSpPr>
        <p:spPr>
          <a:xfrm>
            <a:off x="12290475" y="3263888"/>
            <a:ext cx="2200800" cy="15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Chapters 2-6</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(Atrocities)</a:t>
            </a:r>
            <a:endParaRPr sz="2800">
              <a:solidFill>
                <a:schemeClr val="dk1"/>
              </a:solidFill>
              <a:latin typeface="Calibri"/>
              <a:ea typeface="Calibri"/>
              <a:cs typeface="Calibri"/>
              <a:sym typeface="Calibri"/>
            </a:endParaRPr>
          </a:p>
        </p:txBody>
      </p:sp>
      <p:sp>
        <p:nvSpPr>
          <p:cNvPr id="203" name="Google Shape;203;p29"/>
          <p:cNvSpPr txBox="1"/>
          <p:nvPr/>
        </p:nvSpPr>
        <p:spPr>
          <a:xfrm>
            <a:off x="12290475" y="4897638"/>
            <a:ext cx="2200800" cy="15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Chapters 7-9</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(Loss &amp; Liberation)</a:t>
            </a:r>
            <a:endParaRPr sz="2800">
              <a:solidFill>
                <a:schemeClr val="dk1"/>
              </a:solidFill>
              <a:latin typeface="Calibri"/>
              <a:ea typeface="Calibri"/>
              <a:cs typeface="Calibri"/>
              <a:sym typeface="Calibri"/>
            </a:endParaRPr>
          </a:p>
        </p:txBody>
      </p:sp>
      <p:sp>
        <p:nvSpPr>
          <p:cNvPr id="204" name="Google Shape;204;p29"/>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0"/>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1"/>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2"/>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3"/>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0"/>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Moishe the Beadle (Ch. 1)</a:t>
            </a:r>
            <a:endParaRPr/>
          </a:p>
        </p:txBody>
      </p:sp>
      <p:pic>
        <p:nvPicPr>
          <p:cNvPr id="210" name="Google Shape;210;p30"/>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11" name="Google Shape;211;p30"/>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sp>
        <p:nvSpPr>
          <p:cNvPr id="212" name="Google Shape;212;p30"/>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3"/>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4"/>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5"/>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6"/>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graphicFrame>
        <p:nvGraphicFramePr>
          <p:cNvPr id="213" name="Google Shape;213;p30"/>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7"/>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8"/>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9"/>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Idek (Ch. </a:t>
            </a:r>
            <a:r>
              <a:rPr lang="en-US"/>
              <a:t>4</a:t>
            </a:r>
            <a:r>
              <a:rPr b="0" i="0" lang="en-US" sz="5400" u="none" cap="none" strike="noStrike">
                <a:solidFill>
                  <a:schemeClr val="lt1"/>
                </a:solidFill>
                <a:latin typeface="Arial"/>
                <a:ea typeface="Arial"/>
                <a:cs typeface="Arial"/>
                <a:sym typeface="Arial"/>
              </a:rPr>
              <a:t>) </a:t>
            </a:r>
            <a:endParaRPr/>
          </a:p>
        </p:txBody>
      </p:sp>
      <p:pic>
        <p:nvPicPr>
          <p:cNvPr id="219" name="Google Shape;219;p31"/>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20" name="Google Shape;220;p31"/>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sp>
        <p:nvSpPr>
          <p:cNvPr id="221" name="Google Shape;221;p31"/>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3"/>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4"/>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5"/>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6"/>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graphicFrame>
        <p:nvGraphicFramePr>
          <p:cNvPr id="222" name="Google Shape;222;p31"/>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7"/>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8"/>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9"/>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Franek (Ch. </a:t>
            </a:r>
            <a:r>
              <a:rPr lang="en-US"/>
              <a:t>4</a:t>
            </a:r>
            <a:r>
              <a:rPr b="0" i="0" lang="en-US" sz="5400" u="none" cap="none" strike="noStrike">
                <a:solidFill>
                  <a:schemeClr val="lt1"/>
                </a:solidFill>
                <a:latin typeface="Arial"/>
                <a:ea typeface="Arial"/>
                <a:cs typeface="Arial"/>
                <a:sym typeface="Arial"/>
              </a:rPr>
              <a:t>)</a:t>
            </a:r>
            <a:endParaRPr/>
          </a:p>
        </p:txBody>
      </p:sp>
      <p:pic>
        <p:nvPicPr>
          <p:cNvPr id="228" name="Google Shape;228;p32"/>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29" name="Google Shape;229;p32"/>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sp>
        <p:nvSpPr>
          <p:cNvPr id="230" name="Google Shape;230;p32"/>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3"/>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4"/>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5"/>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6"/>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graphicFrame>
        <p:nvGraphicFramePr>
          <p:cNvPr id="231" name="Google Shape;231;p32"/>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7"/>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8"/>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9"/>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Tibi &amp; Yosi (Ch. 4-</a:t>
            </a:r>
            <a:r>
              <a:rPr lang="en-US"/>
              <a:t>5</a:t>
            </a:r>
            <a:r>
              <a:rPr b="0" i="0" lang="en-US" sz="5400" u="none" cap="none" strike="noStrike">
                <a:solidFill>
                  <a:schemeClr val="lt1"/>
                </a:solidFill>
                <a:latin typeface="Arial"/>
                <a:ea typeface="Arial"/>
                <a:cs typeface="Arial"/>
                <a:sym typeface="Arial"/>
              </a:rPr>
              <a:t>)</a:t>
            </a:r>
            <a:endParaRPr/>
          </a:p>
        </p:txBody>
      </p:sp>
      <p:pic>
        <p:nvPicPr>
          <p:cNvPr id="237" name="Google Shape;237;p33"/>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38" name="Google Shape;238;p33"/>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sp>
        <p:nvSpPr>
          <p:cNvPr id="239" name="Google Shape;239;p33"/>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3"/>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4"/>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5"/>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6"/>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graphicFrame>
        <p:nvGraphicFramePr>
          <p:cNvPr id="240" name="Google Shape;240;p33"/>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7"/>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8"/>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9"/>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Juliek (Ch. 6)</a:t>
            </a:r>
            <a:endParaRPr/>
          </a:p>
        </p:txBody>
      </p:sp>
      <p:pic>
        <p:nvPicPr>
          <p:cNvPr id="246" name="Google Shape;246;p34"/>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47" name="Google Shape;247;p34"/>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sp>
        <p:nvSpPr>
          <p:cNvPr id="248" name="Google Shape;248;p34"/>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3"/>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4"/>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5"/>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6"/>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graphicFrame>
        <p:nvGraphicFramePr>
          <p:cNvPr id="249" name="Google Shape;249;p34"/>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7"/>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8"/>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9"/>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5"/>
          <p:cNvSpPr txBox="1"/>
          <p:nvPr>
            <p:ph type="title"/>
          </p:nvPr>
        </p:nvSpPr>
        <p:spPr>
          <a:xfrm>
            <a:off x="838200" y="17120"/>
            <a:ext cx="10515600" cy="12372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Rabbi Eliahou (Ch. 6-7)</a:t>
            </a:r>
            <a:endParaRPr/>
          </a:p>
        </p:txBody>
      </p:sp>
      <p:pic>
        <p:nvPicPr>
          <p:cNvPr id="255" name="Google Shape;255;p35"/>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56" name="Google Shape;256;p35"/>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sp>
        <p:nvSpPr>
          <p:cNvPr id="257" name="Google Shape;257;p35"/>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3"/>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4"/>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5"/>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6"/>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graphicFrame>
        <p:nvGraphicFramePr>
          <p:cNvPr id="258" name="Google Shape;258;p35"/>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7"/>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8"/>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9"/>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457200" y="17125"/>
            <a:ext cx="11249700" cy="1237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Arial"/>
              <a:buNone/>
            </a:pPr>
            <a:r>
              <a:rPr b="0" i="0" lang="en-US" sz="5400" u="none" cap="none" strike="noStrike">
                <a:solidFill>
                  <a:schemeClr val="lt1"/>
                </a:solidFill>
                <a:latin typeface="Arial"/>
                <a:ea typeface="Arial"/>
                <a:cs typeface="Arial"/>
                <a:sym typeface="Arial"/>
              </a:rPr>
              <a:t>Elie's Father (S</a:t>
            </a:r>
            <a:r>
              <a:rPr lang="en-US"/>
              <a:t>hlomo </a:t>
            </a:r>
            <a:r>
              <a:rPr lang="en-US"/>
              <a:t>Wiesel</a:t>
            </a:r>
            <a:r>
              <a:rPr b="0" i="0" lang="en-US" sz="5400" u="none" cap="none" strike="noStrike">
                <a:solidFill>
                  <a:schemeClr val="lt1"/>
                </a:solidFill>
                <a:latin typeface="Arial"/>
                <a:ea typeface="Arial"/>
                <a:cs typeface="Arial"/>
                <a:sym typeface="Arial"/>
              </a:rPr>
              <a:t>) (Ch. 1-</a:t>
            </a:r>
            <a:r>
              <a:rPr lang="en-US"/>
              <a:t>7</a:t>
            </a:r>
            <a:r>
              <a:rPr b="0" i="0" lang="en-US" sz="5400" u="none" cap="none" strike="noStrike">
                <a:solidFill>
                  <a:schemeClr val="lt1"/>
                </a:solidFill>
                <a:latin typeface="Arial"/>
                <a:ea typeface="Arial"/>
                <a:cs typeface="Arial"/>
                <a:sym typeface="Arial"/>
              </a:rPr>
              <a:t>)</a:t>
            </a:r>
            <a:endParaRPr/>
          </a:p>
        </p:txBody>
      </p:sp>
      <p:pic>
        <p:nvPicPr>
          <p:cNvPr id="264" name="Google Shape;264;p36"/>
          <p:cNvPicPr preferRelativeResize="0"/>
          <p:nvPr/>
        </p:nvPicPr>
        <p:blipFill rotWithShape="1">
          <a:blip r:embed="rId3">
            <a:alphaModFix/>
          </a:blip>
          <a:srcRect b="0" l="0" r="0" t="0"/>
          <a:stretch/>
        </p:blipFill>
        <p:spPr>
          <a:xfrm>
            <a:off x="457200" y="1536192"/>
            <a:ext cx="5340096" cy="4828032"/>
          </a:xfrm>
          <a:prstGeom prst="rect">
            <a:avLst/>
          </a:prstGeom>
          <a:noFill/>
          <a:ln cap="flat" cmpd="sng" w="9525">
            <a:solidFill>
              <a:srgbClr val="FFFFFF"/>
            </a:solidFill>
            <a:prstDash val="solid"/>
            <a:round/>
            <a:headEnd len="sm" w="sm" type="none"/>
            <a:tailEnd len="sm" w="sm" type="none"/>
          </a:ln>
        </p:spPr>
      </p:pic>
      <p:graphicFrame>
        <p:nvGraphicFramePr>
          <p:cNvPr id="265" name="Google Shape;265;p36"/>
          <p:cNvGraphicFramePr/>
          <p:nvPr/>
        </p:nvGraphicFramePr>
        <p:xfrm>
          <a:off x="5885825" y="1596500"/>
          <a:ext cx="3000000" cy="3000000"/>
        </p:xfrm>
        <a:graphic>
          <a:graphicData uri="http://schemas.openxmlformats.org/drawingml/2006/table">
            <a:tbl>
              <a:tblPr>
                <a:noFill/>
                <a:tableStyleId>{D811217D-9DAD-4C68-B1CA-221016E506AF}</a:tableStyleId>
              </a:tblPr>
              <a:tblGrid>
                <a:gridCol w="6125825"/>
              </a:tblGrid>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4"/>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5"/>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6"/>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FF00B5">
                        <a:alpha val="5799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7"/>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8"/>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9"/>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17BBDA">
                        <a:alpha val="54440"/>
                      </a:srgbClr>
                    </a:solidFill>
                  </a:tcPr>
                </a:tc>
              </a:tr>
              <a:tr h="1589250">
                <a:tc>
                  <a:txBody>
                    <a:bodyPr/>
                    <a:lstStyle/>
                    <a:p>
                      <a:pPr indent="0" lvl="0" marL="0" rtl="0" algn="l">
                        <a:spcBef>
                          <a:spcPts val="0"/>
                        </a:spcBef>
                        <a:spcAft>
                          <a:spcPts val="0"/>
                        </a:spcAft>
                        <a:buNone/>
                      </a:pPr>
                      <a:r>
                        <a:rPr lang="en-US">
                          <a:solidFill>
                            <a:schemeClr val="dk1"/>
                          </a:solidFill>
                          <a:highlight>
                            <a:srgbClr val="FFFF00"/>
                          </a:highlight>
                          <a:latin typeface="Georgia"/>
                          <a:ea typeface="Georgia"/>
                          <a:cs typeface="Georgia"/>
                          <a:sym typeface="Georgia"/>
                        </a:rPr>
                        <a:t>__________</a:t>
                      </a:r>
                      <a:r>
                        <a:rPr lang="en-US" u="sng">
                          <a:solidFill>
                            <a:schemeClr val="hlink"/>
                          </a:solidFill>
                          <a:highlight>
                            <a:srgbClr val="FFFF00"/>
                          </a:highlight>
                          <a:latin typeface="Georgia"/>
                          <a:ea typeface="Georgia"/>
                          <a:cs typeface="Georgia"/>
                          <a:sym typeface="Georgia"/>
                          <a:hlinkClick action="ppaction://hlinksldjump" r:id="rId10"/>
                        </a:rPr>
                        <a:t>Your Claim</a:t>
                      </a:r>
                      <a:r>
                        <a:rPr lang="en-US">
                          <a:solidFill>
                            <a:schemeClr val="dk1"/>
                          </a:solidFill>
                          <a:highlight>
                            <a:srgbClr val="FFFF00"/>
                          </a:highlight>
                          <a:latin typeface="Georgia"/>
                          <a:ea typeface="Georgia"/>
                          <a:cs typeface="Georgia"/>
                          <a:sym typeface="Georgia"/>
                        </a:rPr>
                        <a:t>___________.</a:t>
                      </a:r>
                      <a:endParaRPr>
                        <a:solidFill>
                          <a:schemeClr val="dk1"/>
                        </a:solidFill>
                        <a:highlight>
                          <a:srgbClr val="FFFF00"/>
                        </a:highlight>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US">
                          <a:solidFill>
                            <a:schemeClr val="dk1"/>
                          </a:solidFill>
                          <a:latin typeface="Georgia"/>
                          <a:ea typeface="Georgia"/>
                          <a:cs typeface="Georgia"/>
                          <a:sym typeface="Georgia"/>
                        </a:rPr>
                        <a:t>“</a:t>
                      </a:r>
                      <a:r>
                        <a:rPr lang="en-US">
                          <a:solidFill>
                            <a:schemeClr val="dk1"/>
                          </a:solidFill>
                          <a:highlight>
                            <a:srgbClr val="FFFF00"/>
                          </a:highlight>
                          <a:latin typeface="Georgia"/>
                          <a:ea typeface="Georgia"/>
                          <a:cs typeface="Georgia"/>
                          <a:sym typeface="Georgia"/>
                        </a:rPr>
                        <a:t>_____</a:t>
                      </a:r>
                      <a:r>
                        <a:rPr lang="en-US" u="sng">
                          <a:solidFill>
                            <a:schemeClr val="hlink"/>
                          </a:solidFill>
                          <a:highlight>
                            <a:srgbClr val="FFFF00"/>
                          </a:highlight>
                          <a:latin typeface="Georgia"/>
                          <a:ea typeface="Georgia"/>
                          <a:cs typeface="Georgia"/>
                          <a:sym typeface="Georgia"/>
                          <a:hlinkClick action="ppaction://hlinksldjump" r:id="rId11"/>
                        </a:rPr>
                        <a:t>Supporting Quote</a:t>
                      </a:r>
                      <a:r>
                        <a:rPr lang="en-US">
                          <a:solidFill>
                            <a:schemeClr val="dk1"/>
                          </a:solidFill>
                          <a:highlight>
                            <a:srgbClr val="FFFF00"/>
                          </a:highlight>
                          <a:latin typeface="Georgia"/>
                          <a:ea typeface="Georgia"/>
                          <a:cs typeface="Georgia"/>
                          <a:sym typeface="Georgia"/>
                        </a:rPr>
                        <a:t>______</a:t>
                      </a:r>
                      <a:r>
                        <a:rPr lang="en-US">
                          <a:solidFill>
                            <a:schemeClr val="dk1"/>
                          </a:solidFill>
                          <a:latin typeface="Georgia"/>
                          <a:ea typeface="Georgia"/>
                          <a:cs typeface="Georgia"/>
                          <a:sym typeface="Georgia"/>
                        </a:rPr>
                        <a:t>” (Wiesel </a:t>
                      </a:r>
                      <a:r>
                        <a:rPr lang="en-US">
                          <a:solidFill>
                            <a:schemeClr val="dk1"/>
                          </a:solidFill>
                          <a:highlight>
                            <a:srgbClr val="FFFF00"/>
                          </a:highlight>
                          <a:latin typeface="Georgia"/>
                          <a:ea typeface="Georgia"/>
                          <a:cs typeface="Georgia"/>
                          <a:sym typeface="Georgia"/>
                        </a:rPr>
                        <a:t>_</a:t>
                      </a:r>
                      <a:r>
                        <a:rPr lang="en-US" u="sng">
                          <a:solidFill>
                            <a:schemeClr val="hlink"/>
                          </a:solidFill>
                          <a:highlight>
                            <a:srgbClr val="FFFF00"/>
                          </a:highlight>
                          <a:latin typeface="Georgia"/>
                          <a:ea typeface="Georgia"/>
                          <a:cs typeface="Georgia"/>
                          <a:sym typeface="Georgia"/>
                          <a:hlinkClick action="ppaction://hlinksldjump" r:id="rId12"/>
                        </a:rPr>
                        <a:t>Page Number</a:t>
                      </a:r>
                      <a:r>
                        <a:rPr lang="en-US">
                          <a:solidFill>
                            <a:schemeClr val="dk1"/>
                          </a:solidFill>
                          <a:highlight>
                            <a:srgbClr val="FFFF00"/>
                          </a:highlight>
                          <a:latin typeface="Georgia"/>
                          <a:ea typeface="Georgia"/>
                          <a:cs typeface="Georgia"/>
                          <a:sym typeface="Georgia"/>
                        </a:rPr>
                        <a:t>_</a:t>
                      </a:r>
                      <a:r>
                        <a:rPr lang="en-US">
                          <a:solidFill>
                            <a:schemeClr val="dk1"/>
                          </a:solidFill>
                          <a:latin typeface="Georgia"/>
                          <a:ea typeface="Georgia"/>
                          <a:cs typeface="Georgia"/>
                          <a:sym typeface="Georgia"/>
                        </a:rPr>
                        <a:t>).</a:t>
                      </a:r>
                      <a:endParaRPr/>
                    </a:p>
                  </a:txBody>
                  <a:tcPr marT="91425" marB="91425" marR="91425" marL="91425">
                    <a:solidFill>
                      <a:srgbClr val="0CFF00">
                        <a:alpha val="57990"/>
                      </a:srgbClr>
                    </a:solidFill>
                  </a:tcPr>
                </a:tc>
              </a:tr>
            </a:tbl>
          </a:graphicData>
        </a:graphic>
      </p:graphicFrame>
      <p:graphicFrame>
        <p:nvGraphicFramePr>
          <p:cNvPr id="266" name="Google Shape;266;p36"/>
          <p:cNvGraphicFramePr/>
          <p:nvPr/>
        </p:nvGraphicFramePr>
        <p:xfrm>
          <a:off x="2535150" y="1596475"/>
          <a:ext cx="3000000" cy="3000000"/>
        </p:xfrm>
        <a:graphic>
          <a:graphicData uri="http://schemas.openxmlformats.org/drawingml/2006/table">
            <a:tbl>
              <a:tblPr>
                <a:noFill/>
                <a:tableStyleId>{D811217D-9DAD-4C68-B1CA-221016E506AF}</a:tableStyleId>
              </a:tblPr>
              <a:tblGrid>
                <a:gridCol w="3211150"/>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rPr lang="en-US">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3"/>
                        </a:rPr>
                        <a:t>notes/observations</a:t>
                      </a:r>
                      <a:r>
                        <a:rPr lang="en-US">
                          <a:highlight>
                            <a:srgbClr val="FFFF00"/>
                          </a:highlight>
                          <a:latin typeface="Georgia"/>
                          <a:ea typeface="Georgia"/>
                          <a:cs typeface="Georgia"/>
                          <a:sym typeface="Georgia"/>
                        </a:rPr>
                        <a:t>.</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4"/>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highlight>
                            <a:srgbClr val="FFFF00"/>
                          </a:highlight>
                          <a:latin typeface="Georgia"/>
                          <a:ea typeface="Georgia"/>
                          <a:cs typeface="Georgia"/>
                          <a:sym typeface="Georgia"/>
                        </a:rPr>
                        <a:t>Insert </a:t>
                      </a:r>
                      <a:r>
                        <a:rPr lang="en-US" u="sng">
                          <a:solidFill>
                            <a:schemeClr val="hlink"/>
                          </a:solidFill>
                          <a:highlight>
                            <a:srgbClr val="FFFF00"/>
                          </a:highlight>
                          <a:latin typeface="Georgia"/>
                          <a:ea typeface="Georgia"/>
                          <a:cs typeface="Georgia"/>
                          <a:sym typeface="Georgia"/>
                          <a:hlinkClick action="ppaction://hlinksldjump" r:id="rId15"/>
                        </a:rPr>
                        <a:t>notes/observations</a:t>
                      </a:r>
                      <a:r>
                        <a:rPr lang="en-US">
                          <a:solidFill>
                            <a:schemeClr val="dk1"/>
                          </a:solidFill>
                          <a:highlight>
                            <a:srgbClr val="FFFF00"/>
                          </a:highlight>
                          <a:latin typeface="Georgia"/>
                          <a:ea typeface="Georgia"/>
                          <a:cs typeface="Georgia"/>
                          <a:sym typeface="Georgia"/>
                        </a:rPr>
                        <a:t>.</a:t>
                      </a:r>
                      <a:endParaRPr>
                        <a:solidFill>
                          <a:schemeClr val="dk1"/>
                        </a:solidFill>
                      </a:endParaRPr>
                    </a:p>
                  </a:txBody>
                  <a:tcPr marT="91425" marB="91425" marR="91425" marL="91425">
                    <a:solidFill>
                      <a:srgbClr val="0CFF00">
                        <a:alpha val="57990"/>
                      </a:srgbClr>
                    </a:solidFill>
                  </a:tcPr>
                </a:tc>
              </a:tr>
            </a:tbl>
          </a:graphicData>
        </a:graphic>
      </p:graphicFrame>
      <p:sp>
        <p:nvSpPr>
          <p:cNvPr id="267" name="Google Shape;267;p36"/>
          <p:cNvSpPr txBox="1"/>
          <p:nvPr/>
        </p:nvSpPr>
        <p:spPr>
          <a:xfrm>
            <a:off x="101975" y="968800"/>
            <a:ext cx="2880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highlight>
                  <a:schemeClr val="lt1"/>
                </a:highlight>
                <a:latin typeface="Georgia"/>
                <a:ea typeface="Georgia"/>
                <a:cs typeface="Georgia"/>
                <a:sym typeface="Georgia"/>
                <a:hlinkClick action="ppaction://hlinksldjump" r:id="rId16"/>
              </a:rPr>
              <a:t>Directions</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7"/>
              </a:rPr>
              <a:t>Example</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8"/>
              </a:rPr>
              <a:t>Index</a:t>
            </a:r>
            <a:r>
              <a:rPr lang="en-US" sz="1000">
                <a:solidFill>
                  <a:schemeClr val="dk1"/>
                </a:solidFill>
                <a:highlight>
                  <a:schemeClr val="lt1"/>
                </a:highlight>
                <a:latin typeface="Georgia"/>
                <a:ea typeface="Georgia"/>
                <a:cs typeface="Georgia"/>
                <a:sym typeface="Georgia"/>
              </a:rPr>
              <a:t> | </a:t>
            </a:r>
            <a:r>
              <a:rPr lang="en-US" sz="1000" u="sng">
                <a:solidFill>
                  <a:schemeClr val="hlink"/>
                </a:solidFill>
                <a:highlight>
                  <a:schemeClr val="lt1"/>
                </a:highlight>
                <a:latin typeface="Georgia"/>
                <a:ea typeface="Georgia"/>
                <a:cs typeface="Georgia"/>
                <a:sym typeface="Georgia"/>
                <a:hlinkClick action="ppaction://hlinksldjump" r:id="rId19"/>
              </a:rPr>
              <a:t>Schedule</a:t>
            </a:r>
            <a:r>
              <a:rPr lang="en-US" sz="1000">
                <a:solidFill>
                  <a:schemeClr val="dk1"/>
                </a:solidFill>
                <a:highlight>
                  <a:schemeClr val="lt1"/>
                </a:highlight>
                <a:latin typeface="Georgia"/>
                <a:ea typeface="Georgia"/>
                <a:cs typeface="Georgia"/>
                <a:sym typeface="Georgia"/>
              </a:rPr>
              <a:t>  </a:t>
            </a:r>
            <a:endParaRPr sz="1000">
              <a:solidFill>
                <a:schemeClr val="dk1"/>
              </a:solidFill>
              <a:highlight>
                <a:schemeClr val="lt1"/>
              </a:highlight>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type="ctrTitle"/>
          </p:nvPr>
        </p:nvSpPr>
        <p:spPr>
          <a:xfrm>
            <a:off x="1070500" y="2615638"/>
            <a:ext cx="9144000" cy="2387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FFC000"/>
              </a:buClr>
              <a:buSzPct val="100000"/>
              <a:buFont typeface="Arial"/>
              <a:buNone/>
            </a:pPr>
            <a:r>
              <a:rPr b="0" i="1" lang="en-US" sz="7200" u="none" cap="none" strike="noStrike">
                <a:solidFill>
                  <a:srgbClr val="000000"/>
                </a:solidFill>
                <a:latin typeface="Arial"/>
                <a:ea typeface="Arial"/>
                <a:cs typeface="Arial"/>
                <a:sym typeface="Arial"/>
              </a:rPr>
              <a:t>Night</a:t>
            </a:r>
            <a:endParaRPr i="1">
              <a:solidFill>
                <a:srgbClr val="000000"/>
              </a:solidFill>
            </a:endParaRPr>
          </a:p>
          <a:p>
            <a:pPr indent="0" lvl="0" marL="0" rtl="0" algn="ctr">
              <a:lnSpc>
                <a:spcPct val="90000"/>
              </a:lnSpc>
              <a:spcBef>
                <a:spcPts val="0"/>
              </a:spcBef>
              <a:spcAft>
                <a:spcPts val="0"/>
              </a:spcAft>
              <a:buClr>
                <a:srgbClr val="FFC000"/>
              </a:buClr>
              <a:buSzPct val="100000"/>
              <a:buFont typeface="Arial"/>
              <a:buNone/>
            </a:pPr>
            <a:r>
              <a:rPr b="0" i="0" lang="en-US" sz="7200" u="none" cap="none" strike="noStrike">
                <a:solidFill>
                  <a:srgbClr val="FFC000"/>
                </a:solidFill>
                <a:latin typeface="Arial"/>
                <a:ea typeface="Arial"/>
                <a:cs typeface="Arial"/>
                <a:sym typeface="Arial"/>
              </a:rPr>
              <a:t>Character Map</a:t>
            </a:r>
            <a:endParaRPr/>
          </a:p>
          <a:p>
            <a:pPr indent="0" lvl="0" marL="0" rtl="0" algn="ctr">
              <a:lnSpc>
                <a:spcPct val="90000"/>
              </a:lnSpc>
              <a:spcBef>
                <a:spcPts val="0"/>
              </a:spcBef>
              <a:spcAft>
                <a:spcPts val="0"/>
              </a:spcAft>
              <a:buClr>
                <a:srgbClr val="FFC000"/>
              </a:buClr>
              <a:buSzPct val="100000"/>
              <a:buFont typeface="Arial"/>
              <a:buNone/>
            </a:pPr>
            <a:r>
              <a:rPr lang="en-US"/>
              <a:t>Graphic Organizer</a:t>
            </a:r>
            <a:endParaRPr/>
          </a:p>
        </p:txBody>
      </p:sp>
      <p:pic>
        <p:nvPicPr>
          <p:cNvPr id="273" name="Google Shape;273;p37"/>
          <p:cNvPicPr preferRelativeResize="0"/>
          <p:nvPr/>
        </p:nvPicPr>
        <p:blipFill rotWithShape="1">
          <a:blip r:embed="rId3">
            <a:alphaModFix/>
          </a:blip>
          <a:srcRect b="0" l="0" r="0" t="0"/>
          <a:stretch/>
        </p:blipFill>
        <p:spPr>
          <a:xfrm>
            <a:off x="6096000" y="5679235"/>
            <a:ext cx="5861935" cy="1002476"/>
          </a:xfrm>
          <a:prstGeom prst="rect">
            <a:avLst/>
          </a:prstGeom>
          <a:noFill/>
          <a:ln>
            <a:noFill/>
          </a:ln>
          <a:effectLst>
            <a:outerShdw blurRad="381000" rotWithShape="0" algn="ctr" dir="5400000" dist="266700">
              <a:schemeClr val="lt1">
                <a:alpha val="54900"/>
              </a:scheme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lang="en-US"/>
              <a:t>Directions</a:t>
            </a:r>
            <a:endParaRPr/>
          </a:p>
        </p:txBody>
      </p:sp>
      <p:sp>
        <p:nvSpPr>
          <p:cNvPr id="279" name="Google Shape;279;p38"/>
          <p:cNvSpPr txBox="1"/>
          <p:nvPr/>
        </p:nvSpPr>
        <p:spPr>
          <a:xfrm>
            <a:off x="108075" y="1601950"/>
            <a:ext cx="11957400" cy="47121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For each section (each slide has three sections), write one claim/conclusion, then include one or more supporting quotations from the text accompanied by a citation.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To receive credit on the character map, you must include </a:t>
            </a:r>
            <a:r>
              <a:rPr i="1" lang="en-US" sz="2200">
                <a:latin typeface="Georgia"/>
                <a:ea typeface="Georgia"/>
                <a:cs typeface="Georgia"/>
                <a:sym typeface="Georgia"/>
              </a:rPr>
              <a:t>at least one quotation</a:t>
            </a:r>
            <a:r>
              <a:rPr lang="en-US" sz="2200">
                <a:latin typeface="Georgia"/>
                <a:ea typeface="Georgia"/>
                <a:cs typeface="Georgia"/>
                <a:sym typeface="Georgia"/>
              </a:rPr>
              <a:t> </a:t>
            </a:r>
            <a:r>
              <a:rPr b="1" lang="en-US" sz="2200">
                <a:latin typeface="Georgia"/>
                <a:ea typeface="Georgia"/>
                <a:cs typeface="Georgia"/>
                <a:sym typeface="Georgia"/>
              </a:rPr>
              <a:t>with a citation</a:t>
            </a:r>
            <a:r>
              <a:rPr lang="en-US" sz="2200">
                <a:latin typeface="Georgia"/>
                <a:ea typeface="Georgia"/>
                <a:cs typeface="Georgia"/>
                <a:sym typeface="Georgia"/>
              </a:rPr>
              <a:t>. If you forgot to add citations (page numbers), you can easily find the page numbers by searching up your quote in the digital version of the text. </a:t>
            </a:r>
            <a:endParaRPr sz="2200">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b="0" i="0" lang="en-US" sz="5400" u="none" cap="none" strike="noStrike">
                <a:solidFill>
                  <a:schemeClr val="lt1"/>
                </a:solidFill>
                <a:latin typeface="Arial"/>
                <a:ea typeface="Arial"/>
                <a:cs typeface="Arial"/>
                <a:sym typeface="Arial"/>
              </a:rPr>
              <a:t>Akiba Drumer</a:t>
            </a:r>
            <a:endParaRPr/>
          </a:p>
        </p:txBody>
      </p:sp>
      <p:pic>
        <p:nvPicPr>
          <p:cNvPr id="285" name="Google Shape;285;p39"/>
          <p:cNvPicPr preferRelativeResize="0"/>
          <p:nvPr/>
        </p:nvPicPr>
        <p:blipFill rotWithShape="1">
          <a:blip r:embed="rId3">
            <a:alphaModFix/>
          </a:blip>
          <a:srcRect b="0" l="0" r="0" t="0"/>
          <a:stretch/>
        </p:blipFill>
        <p:spPr>
          <a:xfrm>
            <a:off x="457200" y="1536192"/>
            <a:ext cx="5340096" cy="4828031"/>
          </a:xfrm>
          <a:prstGeom prst="rect">
            <a:avLst/>
          </a:prstGeom>
          <a:noFill/>
          <a:ln cap="flat" cmpd="sng" w="9525">
            <a:solidFill>
              <a:srgbClr val="FFFFFF"/>
            </a:solidFill>
            <a:prstDash val="solid"/>
            <a:round/>
            <a:headEnd len="sm" w="sm" type="none"/>
            <a:tailEnd len="sm" w="sm" type="none"/>
          </a:ln>
        </p:spPr>
      </p:pic>
      <p:graphicFrame>
        <p:nvGraphicFramePr>
          <p:cNvPr id="286" name="Google Shape;286;p39"/>
          <p:cNvGraphicFramePr/>
          <p:nvPr/>
        </p:nvGraphicFramePr>
        <p:xfrm>
          <a:off x="5885825" y="1596500"/>
          <a:ext cx="3000000" cy="3000000"/>
        </p:xfrm>
        <a:graphic>
          <a:graphicData uri="http://schemas.openxmlformats.org/drawingml/2006/table">
            <a:tbl>
              <a:tblPr>
                <a:noFill/>
                <a:tableStyleId>{4CAA3D16-6F6B-4E5E-AC41-039EF0FFE4CC}</a:tableStyleId>
              </a:tblPr>
              <a:tblGrid>
                <a:gridCol w="6125825"/>
              </a:tblGrid>
              <a:tr h="1589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FF00B5">
                        <a:alpha val="57250"/>
                      </a:srgbClr>
                    </a:solidFill>
                  </a:tcPr>
                </a:tc>
              </a:tr>
              <a:tr h="1589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17BBDA">
                        <a:alpha val="53730"/>
                      </a:srgbClr>
                    </a:solidFill>
                  </a:tcPr>
                </a:tc>
              </a:tr>
              <a:tr h="1589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solidFill>
                      <a:srgbClr val="0CFF00">
                        <a:alpha val="57250"/>
                      </a:srgbClr>
                    </a:solidFill>
                  </a:tcPr>
                </a:tc>
              </a:tr>
            </a:tbl>
          </a:graphicData>
        </a:graphic>
      </p:graphicFrame>
      <p:sp>
        <p:nvSpPr>
          <p:cNvPr id="287" name="Google Shape;287;p39"/>
          <p:cNvSpPr txBox="1"/>
          <p:nvPr/>
        </p:nvSpPr>
        <p:spPr>
          <a:xfrm>
            <a:off x="2457625" y="2000975"/>
            <a:ext cx="3222900" cy="109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8" name="Google Shape;288;p39"/>
          <p:cNvSpPr txBox="1"/>
          <p:nvPr/>
        </p:nvSpPr>
        <p:spPr>
          <a:xfrm>
            <a:off x="2457625" y="3680229"/>
            <a:ext cx="3222900" cy="99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9" name="Google Shape;289;p39"/>
          <p:cNvSpPr txBox="1"/>
          <p:nvPr/>
        </p:nvSpPr>
        <p:spPr>
          <a:xfrm>
            <a:off x="2457625" y="5062075"/>
            <a:ext cx="3222900" cy="12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aphicFrame>
        <p:nvGraphicFramePr>
          <p:cNvPr id="290" name="Google Shape;290;p39"/>
          <p:cNvGraphicFramePr/>
          <p:nvPr/>
        </p:nvGraphicFramePr>
        <p:xfrm>
          <a:off x="2457625" y="1596475"/>
          <a:ext cx="3000000" cy="3000000"/>
        </p:xfrm>
        <a:graphic>
          <a:graphicData uri="http://schemas.openxmlformats.org/drawingml/2006/table">
            <a:tbl>
              <a:tblPr>
                <a:noFill/>
                <a:tableStyleId>{D811217D-9DAD-4C68-B1CA-221016E506AF}</a:tableStyleId>
              </a:tblPr>
              <a:tblGrid>
                <a:gridCol w="3288675"/>
              </a:tblGrid>
              <a:tr h="1606000">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highlight>
                          <a:srgbClr val="FFFF00"/>
                        </a:highlight>
                        <a:latin typeface="Georgia"/>
                        <a:ea typeface="Georgia"/>
                        <a:cs typeface="Georgia"/>
                        <a:sym typeface="Georgia"/>
                      </a:endParaRPr>
                    </a:p>
                  </a:txBody>
                  <a:tcPr marT="91425" marB="91425" marR="91425" marL="91425">
                    <a:solidFill>
                      <a:srgbClr val="FF00B5">
                        <a:alpha val="57990"/>
                      </a:srgbClr>
                    </a:solidFill>
                  </a:tcPr>
                </a:tc>
              </a:tr>
              <a:tr h="1514925">
                <a:tc>
                  <a:txBody>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rgbClr val="17BBDA">
                        <a:alpha val="54440"/>
                      </a:srgbClr>
                    </a:solidFill>
                  </a:tcPr>
                </a:tc>
              </a:tr>
              <a:tr h="1570375">
                <a:tc>
                  <a:txBody>
                    <a:bodyPr/>
                    <a:lstStyle/>
                    <a:p>
                      <a:pPr indent="0" lvl="0" marL="0" rtl="0" algn="l">
                        <a:spcBef>
                          <a:spcPts val="0"/>
                        </a:spcBef>
                        <a:spcAft>
                          <a:spcPts val="0"/>
                        </a:spcAft>
                        <a:buNone/>
                      </a:pPr>
                      <a:r>
                        <a:t/>
                      </a:r>
                      <a:endParaRPr>
                        <a:solidFill>
                          <a:schemeClr val="dk1"/>
                        </a:solidFill>
                      </a:endParaRPr>
                    </a:p>
                  </a:txBody>
                  <a:tcPr marT="91425" marB="91425" marR="91425" marL="91425">
                    <a:solidFill>
                      <a:srgbClr val="0CFF00">
                        <a:alpha val="57990"/>
                      </a:srgbClr>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40" title="Night✡️🌃🕯️ Character Map-Graphic Organizer _ Instructions, Example. and Character Index.png"/>
          <p:cNvPicPr preferRelativeResize="0"/>
          <p:nvPr/>
        </p:nvPicPr>
        <p:blipFill rotWithShape="1">
          <a:blip r:embed="rId3">
            <a:alphaModFix/>
          </a:blip>
          <a:srcRect b="0" l="0" r="52119" t="0"/>
          <a:stretch/>
        </p:blipFill>
        <p:spPr>
          <a:xfrm>
            <a:off x="6350000" y="236138"/>
            <a:ext cx="5435600" cy="6385725"/>
          </a:xfrm>
          <a:prstGeom prst="rect">
            <a:avLst/>
          </a:prstGeom>
          <a:noFill/>
          <a:ln>
            <a:noFill/>
          </a:ln>
        </p:spPr>
      </p:pic>
      <p:sp>
        <p:nvSpPr>
          <p:cNvPr id="296" name="Google Shape;296;p40"/>
          <p:cNvSpPr txBox="1"/>
          <p:nvPr/>
        </p:nvSpPr>
        <p:spPr>
          <a:xfrm>
            <a:off x="139700" y="203200"/>
            <a:ext cx="6121500" cy="14604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US" sz="2000">
                <a:solidFill>
                  <a:schemeClr val="dk1"/>
                </a:solidFill>
                <a:latin typeface="Georgia"/>
                <a:ea typeface="Georgia"/>
                <a:cs typeface="Georgia"/>
                <a:sym typeface="Georgia"/>
              </a:rPr>
              <a:t>Side Boxes:</a:t>
            </a:r>
            <a:endParaRPr b="1" sz="2000">
              <a:solidFill>
                <a:schemeClr val="dk1"/>
              </a:solidFill>
              <a:latin typeface="Georgia"/>
              <a:ea typeface="Georgia"/>
              <a:cs typeface="Georgia"/>
              <a:sym typeface="Georgia"/>
            </a:endParaRPr>
          </a:p>
          <a:p>
            <a:pPr indent="0" lvl="0" marL="0" rtl="0" algn="l">
              <a:spcBef>
                <a:spcPts val="1200"/>
              </a:spcBef>
              <a:spcAft>
                <a:spcPts val="200"/>
              </a:spcAft>
              <a:buNone/>
            </a:pPr>
            <a:r>
              <a:rPr b="1" lang="en-US" sz="2000">
                <a:solidFill>
                  <a:schemeClr val="dk1"/>
                </a:solidFill>
                <a:latin typeface="Georgia"/>
                <a:ea typeface="Georgia"/>
                <a:cs typeface="Georgia"/>
                <a:sym typeface="Georgia"/>
              </a:rPr>
              <a:t>These are for observations and connections — not claims.</a:t>
            </a:r>
            <a:endParaRPr sz="3700">
              <a:solidFill>
                <a:schemeClr val="dk1"/>
              </a:solidFill>
              <a:latin typeface="Calibri"/>
              <a:ea typeface="Calibri"/>
              <a:cs typeface="Calibri"/>
              <a:sym typeface="Calibri"/>
            </a:endParaRPr>
          </a:p>
        </p:txBody>
      </p:sp>
      <p:sp>
        <p:nvSpPr>
          <p:cNvPr id="297" name="Google Shape;297;p40"/>
          <p:cNvSpPr txBox="1"/>
          <p:nvPr/>
        </p:nvSpPr>
        <p:spPr>
          <a:xfrm>
            <a:off x="190500" y="1625600"/>
            <a:ext cx="6464400" cy="4508400"/>
          </a:xfrm>
          <a:prstGeom prst="rect">
            <a:avLst/>
          </a:prstGeom>
          <a:noFill/>
          <a:ln>
            <a:noFill/>
          </a:ln>
        </p:spPr>
        <p:txBody>
          <a:bodyPr anchorCtr="0" anchor="t" bIns="91425" lIns="91425" spcFirstLastPara="1" rIns="91425" wrap="square" tIns="91425">
            <a:noAutofit/>
          </a:bodyPr>
          <a:lstStyle/>
          <a:p>
            <a:pPr indent="-336550" lvl="0" marL="457200" rtl="0" algn="l">
              <a:spcBef>
                <a:spcPts val="1200"/>
              </a:spcBef>
              <a:spcAft>
                <a:spcPts val="0"/>
              </a:spcAft>
              <a:buClr>
                <a:schemeClr val="dk1"/>
              </a:buClr>
              <a:buSzPts val="1700"/>
              <a:buFont typeface="Georgia"/>
              <a:buAutoNum type="arabicPeriod"/>
            </a:pPr>
            <a:r>
              <a:rPr b="1" lang="en-US" sz="1700">
                <a:solidFill>
                  <a:schemeClr val="dk1"/>
                </a:solidFill>
                <a:latin typeface="Georgia"/>
                <a:ea typeface="Georgia"/>
                <a:cs typeface="Georgia"/>
                <a:sym typeface="Georgia"/>
              </a:rPr>
              <a:t>Character Info / Traits</a:t>
            </a:r>
            <a:br>
              <a:rPr b="1" lang="en-US" sz="1700">
                <a:solidFill>
                  <a:schemeClr val="dk1"/>
                </a:solidFill>
                <a:latin typeface="Georgia"/>
                <a:ea typeface="Georgia"/>
                <a:cs typeface="Georgia"/>
                <a:sym typeface="Georgia"/>
              </a:rPr>
            </a:br>
            <a:br>
              <a:rPr b="1" lang="en-US" sz="1700">
                <a:solidFill>
                  <a:schemeClr val="dk1"/>
                </a:solidFill>
                <a:latin typeface="Georgia"/>
                <a:ea typeface="Georgia"/>
                <a:cs typeface="Georgia"/>
                <a:sym typeface="Georgia"/>
              </a:rPr>
            </a:br>
            <a:r>
              <a:rPr b="1" lang="en-US" sz="1700">
                <a:solidFill>
                  <a:schemeClr val="dk1"/>
                </a:solidFill>
                <a:latin typeface="Georgia"/>
                <a:ea typeface="Georgia"/>
                <a:cs typeface="Georgia"/>
                <a:sym typeface="Georgia"/>
              </a:rPr>
              <a:t> ➤ Who is the character? What do they do? What are they like?</a:t>
            </a:r>
            <a:br>
              <a:rPr b="1" lang="en-US" sz="1700">
                <a:solidFill>
                  <a:schemeClr val="dk1"/>
                </a:solidFill>
                <a:latin typeface="Georgia"/>
                <a:ea typeface="Georgia"/>
                <a:cs typeface="Georgia"/>
                <a:sym typeface="Georgia"/>
              </a:rPr>
            </a:br>
            <a:endParaRPr b="1" sz="1700">
              <a:solidFill>
                <a:schemeClr val="dk1"/>
              </a:solidFill>
              <a:latin typeface="Georgia"/>
              <a:ea typeface="Georgia"/>
              <a:cs typeface="Georgia"/>
              <a:sym typeface="Georgia"/>
            </a:endParaRPr>
          </a:p>
          <a:p>
            <a:pPr indent="-336550" lvl="0" marL="457200" rtl="0" algn="l">
              <a:spcBef>
                <a:spcPts val="0"/>
              </a:spcBef>
              <a:spcAft>
                <a:spcPts val="0"/>
              </a:spcAft>
              <a:buClr>
                <a:schemeClr val="dk1"/>
              </a:buClr>
              <a:buSzPts val="1700"/>
              <a:buFont typeface="Georgia"/>
              <a:buAutoNum type="arabicPeriod"/>
            </a:pPr>
            <a:r>
              <a:rPr b="1" lang="en-US" sz="1700">
                <a:solidFill>
                  <a:schemeClr val="dk1"/>
                </a:solidFill>
                <a:latin typeface="Georgia"/>
                <a:ea typeface="Georgia"/>
                <a:cs typeface="Georgia"/>
                <a:sym typeface="Georgia"/>
              </a:rPr>
              <a:t>Effect on Elie (as a child or adult)</a:t>
            </a:r>
            <a:br>
              <a:rPr b="1" lang="en-US" sz="1700">
                <a:solidFill>
                  <a:schemeClr val="dk1"/>
                </a:solidFill>
                <a:latin typeface="Georgia"/>
                <a:ea typeface="Georgia"/>
                <a:cs typeface="Georgia"/>
                <a:sym typeface="Georgia"/>
              </a:rPr>
            </a:br>
            <a:br>
              <a:rPr b="1" lang="en-US" sz="1700">
                <a:solidFill>
                  <a:schemeClr val="dk1"/>
                </a:solidFill>
                <a:latin typeface="Georgia"/>
                <a:ea typeface="Georgia"/>
                <a:cs typeface="Georgia"/>
                <a:sym typeface="Georgia"/>
              </a:rPr>
            </a:br>
            <a:r>
              <a:rPr b="1" lang="en-US" sz="1700">
                <a:solidFill>
                  <a:schemeClr val="dk1"/>
                </a:solidFill>
                <a:latin typeface="Georgia"/>
                <a:ea typeface="Georgia"/>
                <a:cs typeface="Georgia"/>
                <a:sym typeface="Georgia"/>
              </a:rPr>
              <a:t> ➤ How does this character affect Elie emotionally, psychologically, or morally?</a:t>
            </a:r>
            <a:br>
              <a:rPr b="1" lang="en-US" sz="1700">
                <a:solidFill>
                  <a:schemeClr val="dk1"/>
                </a:solidFill>
                <a:latin typeface="Georgia"/>
                <a:ea typeface="Georgia"/>
                <a:cs typeface="Georgia"/>
                <a:sym typeface="Georgia"/>
              </a:rPr>
            </a:b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Effect on Wiesel’s Faith</a:t>
            </a:r>
            <a:br>
              <a:rPr b="1" lang="en-US" sz="1700">
                <a:solidFill>
                  <a:schemeClr val="dk1"/>
                </a:solidFill>
                <a:latin typeface="Georgia"/>
                <a:ea typeface="Georgia"/>
                <a:cs typeface="Georgia"/>
                <a:sym typeface="Georgia"/>
              </a:rPr>
            </a:br>
            <a:br>
              <a:rPr b="1" lang="en-US" sz="1700">
                <a:solidFill>
                  <a:schemeClr val="dk1"/>
                </a:solidFill>
                <a:latin typeface="Georgia"/>
                <a:ea typeface="Georgia"/>
                <a:cs typeface="Georgia"/>
                <a:sym typeface="Georgia"/>
              </a:rPr>
            </a:br>
            <a:r>
              <a:rPr b="1" lang="en-US" sz="1700">
                <a:solidFill>
                  <a:schemeClr val="dk1"/>
                </a:solidFill>
                <a:latin typeface="Georgia"/>
                <a:ea typeface="Georgia"/>
                <a:cs typeface="Georgia"/>
                <a:sym typeface="Georgia"/>
              </a:rPr>
              <a:t> ➤ How does this character’s experience or behavior shape Elie’s beliefs about God?</a:t>
            </a:r>
            <a:br>
              <a:rPr b="1" lang="en-US" sz="1300">
                <a:solidFill>
                  <a:schemeClr val="dk1"/>
                </a:solidFill>
                <a:latin typeface="Georgia"/>
                <a:ea typeface="Georgia"/>
                <a:cs typeface="Georgia"/>
                <a:sym typeface="Georgia"/>
              </a:rPr>
            </a:br>
            <a:endParaRPr sz="2800">
              <a:solidFill>
                <a:schemeClr val="dk1"/>
              </a:solidFill>
              <a:latin typeface="Calibri"/>
              <a:ea typeface="Calibri"/>
              <a:cs typeface="Calibri"/>
              <a:sym typeface="Calibri"/>
            </a:endParaRPr>
          </a:p>
        </p:txBody>
      </p:sp>
      <p:sp>
        <p:nvSpPr>
          <p:cNvPr id="298" name="Google Shape;298;p40"/>
          <p:cNvSpPr txBox="1"/>
          <p:nvPr/>
        </p:nvSpPr>
        <p:spPr>
          <a:xfrm>
            <a:off x="139700" y="5537200"/>
            <a:ext cx="6121500" cy="12063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200"/>
              </a:spcAft>
              <a:buNone/>
            </a:pPr>
            <a:r>
              <a:rPr b="1" lang="en-US" sz="1800">
                <a:solidFill>
                  <a:schemeClr val="dk1"/>
                </a:solidFill>
                <a:latin typeface="Georgia"/>
                <a:ea typeface="Georgia"/>
                <a:cs typeface="Georgia"/>
                <a:sym typeface="Georgia"/>
              </a:rPr>
              <a:t>These don’t need to be “arguments” — they are insights, patterns, or lessons that you notice. You’re just writing down what you see or think is important.</a:t>
            </a:r>
            <a:endParaRPr sz="3500">
              <a:solidFill>
                <a:schemeClr val="dk1"/>
              </a:solidFill>
              <a:latin typeface="Calibri"/>
              <a:ea typeface="Calibri"/>
              <a:cs typeface="Calibri"/>
              <a:sym typeface="Calibri"/>
            </a:endParaRPr>
          </a:p>
        </p:txBody>
      </p:sp>
      <p:cxnSp>
        <p:nvCxnSpPr>
          <p:cNvPr id="299" name="Google Shape;299;p40"/>
          <p:cNvCxnSpPr/>
          <p:nvPr/>
        </p:nvCxnSpPr>
        <p:spPr>
          <a:xfrm>
            <a:off x="3454400" y="1955800"/>
            <a:ext cx="5765700" cy="495300"/>
          </a:xfrm>
          <a:prstGeom prst="straightConnector1">
            <a:avLst/>
          </a:prstGeom>
          <a:noFill/>
          <a:ln cap="flat" cmpd="sng" w="76200">
            <a:solidFill>
              <a:srgbClr val="4A86E8"/>
            </a:solidFill>
            <a:prstDash val="solid"/>
            <a:round/>
            <a:headEnd len="med" w="med" type="none"/>
            <a:tailEnd len="med" w="med" type="triangle"/>
          </a:ln>
        </p:spPr>
      </p:cxnSp>
      <p:cxnSp>
        <p:nvCxnSpPr>
          <p:cNvPr id="300" name="Google Shape;300;p40"/>
          <p:cNvCxnSpPr/>
          <p:nvPr/>
        </p:nvCxnSpPr>
        <p:spPr>
          <a:xfrm>
            <a:off x="4495800" y="3181363"/>
            <a:ext cx="5143500" cy="844500"/>
          </a:xfrm>
          <a:prstGeom prst="straightConnector1">
            <a:avLst/>
          </a:prstGeom>
          <a:noFill/>
          <a:ln cap="flat" cmpd="sng" w="76200">
            <a:solidFill>
              <a:srgbClr val="4A86E8"/>
            </a:solidFill>
            <a:prstDash val="solid"/>
            <a:round/>
            <a:headEnd len="med" w="med" type="none"/>
            <a:tailEnd len="med" w="med" type="triangle"/>
          </a:ln>
        </p:spPr>
      </p:cxnSp>
      <p:cxnSp>
        <p:nvCxnSpPr>
          <p:cNvPr id="301" name="Google Shape;301;p40"/>
          <p:cNvCxnSpPr/>
          <p:nvPr/>
        </p:nvCxnSpPr>
        <p:spPr>
          <a:xfrm>
            <a:off x="3657600" y="4483100"/>
            <a:ext cx="6642000" cy="888900"/>
          </a:xfrm>
          <a:prstGeom prst="straightConnector1">
            <a:avLst/>
          </a:prstGeom>
          <a:noFill/>
          <a:ln cap="flat" cmpd="sng" w="76200">
            <a:solidFill>
              <a:srgbClr val="4A86E8"/>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41" title="Night✡️🌃🕯️ Character Map-Graphic Organizer _ Instructions, Example. and Character Index.png"/>
          <p:cNvPicPr preferRelativeResize="0"/>
          <p:nvPr/>
        </p:nvPicPr>
        <p:blipFill rotWithShape="1">
          <a:blip r:embed="rId3">
            <a:alphaModFix/>
          </a:blip>
          <a:srcRect b="0" l="54034" r="0" t="0"/>
          <a:stretch/>
        </p:blipFill>
        <p:spPr>
          <a:xfrm>
            <a:off x="342900" y="236138"/>
            <a:ext cx="5218150" cy="6385725"/>
          </a:xfrm>
          <a:prstGeom prst="rect">
            <a:avLst/>
          </a:prstGeom>
          <a:noFill/>
          <a:ln>
            <a:noFill/>
          </a:ln>
        </p:spPr>
      </p:pic>
      <p:sp>
        <p:nvSpPr>
          <p:cNvPr id="307" name="Google Shape;307;p41"/>
          <p:cNvSpPr txBox="1"/>
          <p:nvPr/>
        </p:nvSpPr>
        <p:spPr>
          <a:xfrm>
            <a:off x="5791200" y="158850"/>
            <a:ext cx="6121500" cy="14604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US" sz="2000">
                <a:solidFill>
                  <a:schemeClr val="dk1"/>
                </a:solidFill>
                <a:latin typeface="Georgia"/>
                <a:ea typeface="Georgia"/>
                <a:cs typeface="Georgia"/>
                <a:sym typeface="Georgia"/>
              </a:rPr>
              <a:t>Main Claim + Quote Section:</a:t>
            </a:r>
            <a:endParaRPr b="1" sz="2000">
              <a:solidFill>
                <a:schemeClr val="dk1"/>
              </a:solidFill>
              <a:latin typeface="Georgia"/>
              <a:ea typeface="Georgia"/>
              <a:cs typeface="Georgia"/>
              <a:sym typeface="Georgia"/>
            </a:endParaRPr>
          </a:p>
          <a:p>
            <a:pPr indent="0" lvl="0" marL="0" rtl="0" algn="l">
              <a:spcBef>
                <a:spcPts val="1200"/>
              </a:spcBef>
              <a:spcAft>
                <a:spcPts val="0"/>
              </a:spcAft>
              <a:buNone/>
            </a:pPr>
            <a:r>
              <a:rPr b="1" lang="en-US" sz="1800">
                <a:solidFill>
                  <a:schemeClr val="dk1"/>
                </a:solidFill>
                <a:latin typeface="Georgia"/>
                <a:ea typeface="Georgia"/>
                <a:cs typeface="Georgia"/>
                <a:sym typeface="Georgia"/>
              </a:rPr>
              <a:t>Do not just drop a quote. Write a complete sentence that makes a point. Then support your point with a quote and citation.</a:t>
            </a:r>
            <a:endParaRPr b="1" sz="1800">
              <a:solidFill>
                <a:schemeClr val="dk1"/>
              </a:solidFill>
              <a:latin typeface="Georgia"/>
              <a:ea typeface="Georgia"/>
              <a:cs typeface="Georgia"/>
              <a:sym typeface="Georgia"/>
            </a:endParaRPr>
          </a:p>
          <a:p>
            <a:pPr indent="0" lvl="0" marL="0" rtl="0" algn="l">
              <a:spcBef>
                <a:spcPts val="1200"/>
              </a:spcBef>
              <a:spcAft>
                <a:spcPts val="200"/>
              </a:spcAft>
              <a:buNone/>
            </a:pPr>
            <a:r>
              <a:t/>
            </a:r>
            <a:endParaRPr b="1" sz="2000">
              <a:solidFill>
                <a:schemeClr val="dk1"/>
              </a:solidFill>
              <a:latin typeface="Georgia"/>
              <a:ea typeface="Georgia"/>
              <a:cs typeface="Georgia"/>
              <a:sym typeface="Georgia"/>
            </a:endParaRPr>
          </a:p>
        </p:txBody>
      </p:sp>
      <p:sp>
        <p:nvSpPr>
          <p:cNvPr id="308" name="Google Shape;308;p41"/>
          <p:cNvSpPr txBox="1"/>
          <p:nvPr/>
        </p:nvSpPr>
        <p:spPr>
          <a:xfrm>
            <a:off x="5842000" y="1581250"/>
            <a:ext cx="6273900" cy="1606500"/>
          </a:xfrm>
          <a:prstGeom prst="rect">
            <a:avLst/>
          </a:prstGeom>
          <a:noFill/>
          <a:ln>
            <a:noFill/>
          </a:ln>
        </p:spPr>
        <p:txBody>
          <a:bodyPr anchorCtr="0" anchor="t" bIns="91425" lIns="91425" spcFirstLastPara="1" rIns="91425" wrap="square" tIns="91425">
            <a:noAutofit/>
          </a:bodyPr>
          <a:lstStyle/>
          <a:p>
            <a:pPr indent="-311150" lvl="0" marL="457200" rtl="0" algn="l">
              <a:spcBef>
                <a:spcPts val="120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Make a claim about the character — what they do, represent, or show.</a:t>
            </a: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Support it with a quote from the text that proves your claim.</a:t>
            </a: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Include a citation (Wiesel __).</a:t>
            </a:r>
            <a:endParaRPr b="1" sz="1700">
              <a:solidFill>
                <a:schemeClr val="dk1"/>
              </a:solidFill>
              <a:latin typeface="Georgia"/>
              <a:ea typeface="Georgia"/>
              <a:cs typeface="Georgia"/>
              <a:sym typeface="Georgia"/>
            </a:endParaRPr>
          </a:p>
        </p:txBody>
      </p:sp>
      <p:sp>
        <p:nvSpPr>
          <p:cNvPr id="309" name="Google Shape;309;p41"/>
          <p:cNvSpPr txBox="1"/>
          <p:nvPr/>
        </p:nvSpPr>
        <p:spPr>
          <a:xfrm>
            <a:off x="5842000" y="3092550"/>
            <a:ext cx="6273900" cy="1606500"/>
          </a:xfrm>
          <a:prstGeom prst="rect">
            <a:avLst/>
          </a:prstGeom>
          <a:noFill/>
          <a:ln>
            <a:noFill/>
          </a:ln>
        </p:spPr>
        <p:txBody>
          <a:bodyPr anchorCtr="0" anchor="t" bIns="91425" lIns="91425" spcFirstLastPara="1" rIns="91425" wrap="square" tIns="91425">
            <a:noAutofit/>
          </a:bodyPr>
          <a:lstStyle/>
          <a:p>
            <a:pPr indent="-311150" lvl="0" marL="457200" rtl="0" algn="l">
              <a:spcBef>
                <a:spcPts val="120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Make a claim about the character — what they do, represent, or show.</a:t>
            </a: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Support it with a quote from the text that proves your claim.</a:t>
            </a: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Include a citation (Wiesel __).</a:t>
            </a:r>
            <a:endParaRPr b="1" sz="1700">
              <a:solidFill>
                <a:schemeClr val="dk1"/>
              </a:solidFill>
              <a:latin typeface="Georgia"/>
              <a:ea typeface="Georgia"/>
              <a:cs typeface="Georgia"/>
              <a:sym typeface="Georgia"/>
            </a:endParaRPr>
          </a:p>
        </p:txBody>
      </p:sp>
      <p:sp>
        <p:nvSpPr>
          <p:cNvPr id="310" name="Google Shape;310;p41"/>
          <p:cNvSpPr txBox="1"/>
          <p:nvPr/>
        </p:nvSpPr>
        <p:spPr>
          <a:xfrm>
            <a:off x="5842000" y="4699050"/>
            <a:ext cx="6273900" cy="1606500"/>
          </a:xfrm>
          <a:prstGeom prst="rect">
            <a:avLst/>
          </a:prstGeom>
          <a:noFill/>
          <a:ln>
            <a:noFill/>
          </a:ln>
        </p:spPr>
        <p:txBody>
          <a:bodyPr anchorCtr="0" anchor="t" bIns="91425" lIns="91425" spcFirstLastPara="1" rIns="91425" wrap="square" tIns="91425">
            <a:noAutofit/>
          </a:bodyPr>
          <a:lstStyle/>
          <a:p>
            <a:pPr indent="-311150" lvl="0" marL="457200" rtl="0" algn="l">
              <a:spcBef>
                <a:spcPts val="120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Make a claim about the character — what they do, represent, or show.</a:t>
            </a: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Support it with a quote from the text that proves your claim.</a:t>
            </a:r>
            <a:endParaRPr b="1" sz="1700">
              <a:solidFill>
                <a:schemeClr val="dk1"/>
              </a:solidFill>
              <a:latin typeface="Georgia"/>
              <a:ea typeface="Georgia"/>
              <a:cs typeface="Georgia"/>
              <a:sym typeface="Georgia"/>
            </a:endParaRPr>
          </a:p>
          <a:p>
            <a:pPr indent="-311150" lvl="0" marL="457200" rtl="0" algn="l">
              <a:spcBef>
                <a:spcPts val="0"/>
              </a:spcBef>
              <a:spcAft>
                <a:spcPts val="0"/>
              </a:spcAft>
              <a:buClr>
                <a:schemeClr val="dk1"/>
              </a:buClr>
              <a:buSzPts val="1300"/>
              <a:buFont typeface="Georgia"/>
              <a:buAutoNum type="arabicPeriod"/>
            </a:pPr>
            <a:r>
              <a:rPr b="1" lang="en-US" sz="1700">
                <a:solidFill>
                  <a:schemeClr val="dk1"/>
                </a:solidFill>
                <a:latin typeface="Georgia"/>
                <a:ea typeface="Georgia"/>
                <a:cs typeface="Georgia"/>
                <a:sym typeface="Georgia"/>
              </a:rPr>
              <a:t>Include a citation (Wiesel __).</a:t>
            </a:r>
            <a:endParaRPr b="1" sz="1700">
              <a:solidFill>
                <a:schemeClr val="dk1"/>
              </a:solidFill>
              <a:latin typeface="Georgia"/>
              <a:ea typeface="Georgia"/>
              <a:cs typeface="Georgia"/>
              <a:sym typeface="Georgia"/>
            </a:endParaRPr>
          </a:p>
        </p:txBody>
      </p:sp>
      <p:cxnSp>
        <p:nvCxnSpPr>
          <p:cNvPr id="311" name="Google Shape;311;p41"/>
          <p:cNvCxnSpPr>
            <a:stCxn id="308" idx="1"/>
          </p:cNvCxnSpPr>
          <p:nvPr/>
        </p:nvCxnSpPr>
        <p:spPr>
          <a:xfrm flipH="1">
            <a:off x="3352900" y="2384500"/>
            <a:ext cx="2489100" cy="15900"/>
          </a:xfrm>
          <a:prstGeom prst="straightConnector1">
            <a:avLst/>
          </a:prstGeom>
          <a:noFill/>
          <a:ln cap="flat" cmpd="sng" w="76200">
            <a:solidFill>
              <a:srgbClr val="4A86E8"/>
            </a:solidFill>
            <a:prstDash val="solid"/>
            <a:round/>
            <a:headEnd len="med" w="med" type="none"/>
            <a:tailEnd len="med" w="med" type="triangle"/>
          </a:ln>
        </p:spPr>
      </p:cxnSp>
      <p:cxnSp>
        <p:nvCxnSpPr>
          <p:cNvPr id="312" name="Google Shape;312;p41"/>
          <p:cNvCxnSpPr>
            <a:stCxn id="309" idx="1"/>
          </p:cNvCxnSpPr>
          <p:nvPr/>
        </p:nvCxnSpPr>
        <p:spPr>
          <a:xfrm flipH="1">
            <a:off x="3352900" y="3895800"/>
            <a:ext cx="2489100" cy="51600"/>
          </a:xfrm>
          <a:prstGeom prst="straightConnector1">
            <a:avLst/>
          </a:prstGeom>
          <a:noFill/>
          <a:ln cap="flat" cmpd="sng" w="76200">
            <a:solidFill>
              <a:srgbClr val="4A86E8"/>
            </a:solidFill>
            <a:prstDash val="solid"/>
            <a:round/>
            <a:headEnd len="med" w="med" type="none"/>
            <a:tailEnd len="med" w="med" type="triangle"/>
          </a:ln>
        </p:spPr>
      </p:cxnSp>
      <p:cxnSp>
        <p:nvCxnSpPr>
          <p:cNvPr id="313" name="Google Shape;313;p41"/>
          <p:cNvCxnSpPr>
            <a:stCxn id="310" idx="1"/>
          </p:cNvCxnSpPr>
          <p:nvPr/>
        </p:nvCxnSpPr>
        <p:spPr>
          <a:xfrm rot="10800000">
            <a:off x="3276700" y="5448300"/>
            <a:ext cx="2565300" cy="54000"/>
          </a:xfrm>
          <a:prstGeom prst="straightConnector1">
            <a:avLst/>
          </a:prstGeom>
          <a:noFill/>
          <a:ln cap="flat" cmpd="sng" w="76200">
            <a:solidFill>
              <a:srgbClr val="4A86E8"/>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3"/>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lang="en-US"/>
              <a:t>Character Index</a:t>
            </a:r>
            <a:endParaRPr/>
          </a:p>
        </p:txBody>
      </p:sp>
      <p:sp>
        <p:nvSpPr>
          <p:cNvPr id="323" name="Google Shape;323;p43"/>
          <p:cNvSpPr txBox="1"/>
          <p:nvPr/>
        </p:nvSpPr>
        <p:spPr>
          <a:xfrm>
            <a:off x="108075" y="1601950"/>
            <a:ext cx="3777600" cy="47121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1. Moishe the Beadle (p. 3-8)</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 Hilda (p. 4, 8)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3. Bea (p. 4)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4. Tzipora (p. 4, 19)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5. Eliezer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6. Malka (p. 7)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7. Tobie (p. 7)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8. Moishe Chaim Berkowitz (p. 9)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9. Mrs. Kahn (p. 10)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10. Ezra Malik (p. 12) </a:t>
            </a:r>
            <a:endParaRPr sz="2200">
              <a:latin typeface="Georgia"/>
              <a:ea typeface="Georgia"/>
              <a:cs typeface="Georgia"/>
              <a:sym typeface="Georgia"/>
            </a:endParaRPr>
          </a:p>
        </p:txBody>
      </p:sp>
      <p:sp>
        <p:nvSpPr>
          <p:cNvPr id="324" name="Google Shape;324;p43"/>
          <p:cNvSpPr txBox="1"/>
          <p:nvPr/>
        </p:nvSpPr>
        <p:spPr>
          <a:xfrm>
            <a:off x="8006150" y="1601950"/>
            <a:ext cx="4120500" cy="51108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22. Juliek (p. 49, 61-62, 93-95)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23. Louis (p. 49)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24. Hans (p. 49)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25. Franek (p. 49, 55-56)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26. Idek (p. 50, 53, 54, 56-58)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27. Yossi (p. 50, 71-72)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28. Tibi (p. 50, 71-72)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29. Alphonse (p. 51)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30. Zalman (p. 86)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31. Rabbi Eliahu (p. 90-91) </a:t>
            </a:r>
            <a:endParaRPr sz="2200">
              <a:latin typeface="Georgia"/>
              <a:ea typeface="Georgia"/>
              <a:cs typeface="Georgia"/>
              <a:sym typeface="Georgia"/>
            </a:endParaRPr>
          </a:p>
          <a:p>
            <a:pPr indent="-368300" lvl="0" marL="457200" rtl="0" algn="l">
              <a:spcBef>
                <a:spcPts val="0"/>
              </a:spcBef>
              <a:spcAft>
                <a:spcPts val="0"/>
              </a:spcAft>
              <a:buSzPts val="2200"/>
              <a:buFont typeface="Georgia"/>
              <a:buChar char="●"/>
            </a:pPr>
            <a:r>
              <a:rPr lang="en-US" sz="2200">
                <a:latin typeface="Georgia"/>
                <a:ea typeface="Georgia"/>
                <a:cs typeface="Georgia"/>
                <a:sym typeface="Georgia"/>
              </a:rPr>
              <a:t>32. Meir Katz (p. 37, 102-103)</a:t>
            </a:r>
            <a:endParaRPr sz="2200">
              <a:latin typeface="Georgia"/>
              <a:ea typeface="Georgia"/>
              <a:cs typeface="Georgia"/>
              <a:sym typeface="Georgia"/>
            </a:endParaRPr>
          </a:p>
        </p:txBody>
      </p:sp>
      <p:sp>
        <p:nvSpPr>
          <p:cNvPr id="325" name="Google Shape;325;p43"/>
          <p:cNvSpPr txBox="1"/>
          <p:nvPr/>
        </p:nvSpPr>
        <p:spPr>
          <a:xfrm>
            <a:off x="3885650" y="1602100"/>
            <a:ext cx="4120500" cy="51108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11. Stern (p. 12, 37)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12. Batia Reich (p. 14)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13. Uncle Mendel (p. 20)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14. Maria (p. 20)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15. Mrs. Schächter (p. 24-28)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16. Béla Katz (p. 35)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17. Yehiel (p. 36)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18. Stein (p. 43-45)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19. Reizel (p. 43-45)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20. Akiba Drumer (p. 45, 51, 76) </a:t>
            </a:r>
            <a:endParaRPr sz="2200">
              <a:solidFill>
                <a:schemeClr val="dk1"/>
              </a:solidFill>
              <a:latin typeface="Georgia"/>
              <a:ea typeface="Georgia"/>
              <a:cs typeface="Georgia"/>
              <a:sym typeface="Georgia"/>
            </a:endParaRPr>
          </a:p>
          <a:p>
            <a:pPr indent="-368300" lvl="0" marL="457200" rtl="0" algn="l">
              <a:spcBef>
                <a:spcPts val="0"/>
              </a:spcBef>
              <a:spcAft>
                <a:spcPts val="0"/>
              </a:spcAft>
              <a:buClr>
                <a:schemeClr val="dk1"/>
              </a:buClr>
              <a:buSzPts val="2200"/>
              <a:buFont typeface="Georgia"/>
              <a:buChar char="●"/>
            </a:pPr>
            <a:r>
              <a:rPr lang="en-US" sz="2200">
                <a:solidFill>
                  <a:schemeClr val="dk1"/>
                </a:solidFill>
                <a:latin typeface="Georgia"/>
                <a:ea typeface="Georgia"/>
                <a:cs typeface="Georgia"/>
                <a:sym typeface="Georgia"/>
              </a:rPr>
              <a:t>21. Hersh Genud (p. 45) </a:t>
            </a:r>
            <a:endParaRPr sz="2200">
              <a:solidFill>
                <a:schemeClr val="dk1"/>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4"/>
          <p:cNvSpPr txBox="1"/>
          <p:nvPr>
            <p:ph type="title"/>
          </p:nvPr>
        </p:nvSpPr>
        <p:spPr>
          <a:xfrm>
            <a:off x="838200" y="17120"/>
            <a:ext cx="10515600" cy="1237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Arial"/>
              <a:buNone/>
            </a:pPr>
            <a:r>
              <a:rPr lang="en-US"/>
              <a:t>Slide Completion Schedule</a:t>
            </a:r>
            <a:endParaRPr/>
          </a:p>
        </p:txBody>
      </p:sp>
      <p:sp>
        <p:nvSpPr>
          <p:cNvPr id="331" name="Google Shape;331;p44"/>
          <p:cNvSpPr txBox="1"/>
          <p:nvPr/>
        </p:nvSpPr>
        <p:spPr>
          <a:xfrm>
            <a:off x="108075" y="1601950"/>
            <a:ext cx="7488900" cy="4712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Georgia"/>
              <a:buChar char="●"/>
            </a:pPr>
            <a:r>
              <a:rPr lang="en-US" sz="2000">
                <a:solidFill>
                  <a:schemeClr val="dk1"/>
                </a:solidFill>
                <a:latin typeface="Georgia"/>
                <a:ea typeface="Georgia"/>
                <a:cs typeface="Georgia"/>
                <a:sym typeface="Georgia"/>
              </a:rPr>
              <a:t>Eliezer (Elie) Wiesel (</a:t>
            </a:r>
            <a:r>
              <a:rPr lang="en-US" sz="2000">
                <a:latin typeface="Georgia"/>
                <a:ea typeface="Georgia"/>
                <a:cs typeface="Georgia"/>
                <a:sym typeface="Georgia"/>
              </a:rPr>
              <a:t>Elie’s Faith at the Beginning of The Novel (Chapter 1: pre-Holocaust)): </a:t>
            </a:r>
            <a:r>
              <a:rPr lang="en-US" sz="2000">
                <a:highlight>
                  <a:srgbClr val="FFFF00"/>
                </a:highlight>
                <a:latin typeface="Georgia"/>
                <a:ea typeface="Georgia"/>
                <a:cs typeface="Georgia"/>
                <a:sym typeface="Georgia"/>
              </a:rPr>
              <a:t>N/A</a:t>
            </a:r>
            <a:endParaRPr sz="2000">
              <a:highlight>
                <a:srgbClr val="FFFF00"/>
              </a:highlight>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Moishe the Beadle: </a:t>
            </a:r>
            <a:r>
              <a:rPr lang="en-US" sz="2000">
                <a:highlight>
                  <a:srgbClr val="FFFF00"/>
                </a:highlight>
                <a:latin typeface="Georgia"/>
                <a:ea typeface="Georgia"/>
                <a:cs typeface="Georgia"/>
                <a:sym typeface="Georgia"/>
              </a:rPr>
              <a:t>9/12</a:t>
            </a:r>
            <a:endParaRPr sz="2000">
              <a:highlight>
                <a:srgbClr val="FFFF00"/>
              </a:highlight>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Idek: 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Franek: </a:t>
            </a:r>
            <a:r>
              <a:rPr lang="en-US" sz="2000">
                <a:solidFill>
                  <a:schemeClr val="dk1"/>
                </a:solidFill>
                <a:latin typeface="Georgia"/>
                <a:ea typeface="Georgia"/>
                <a:cs typeface="Georgia"/>
                <a:sym typeface="Georgia"/>
              </a:rPr>
              <a:t>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Tibi &amp; Yosi: </a:t>
            </a:r>
            <a:r>
              <a:rPr lang="en-US" sz="2000">
                <a:solidFill>
                  <a:schemeClr val="dk1"/>
                </a:solidFill>
                <a:latin typeface="Georgia"/>
                <a:ea typeface="Georgia"/>
                <a:cs typeface="Georgia"/>
                <a:sym typeface="Georgia"/>
              </a:rPr>
              <a:t>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Eliezer (Elie) Wiesel (Elie’s Faith at the Middle of The Novel): </a:t>
            </a:r>
            <a:r>
              <a:rPr lang="en-US" sz="2000">
                <a:solidFill>
                  <a:schemeClr val="dk1"/>
                </a:solidFill>
                <a:latin typeface="Georgia"/>
                <a:ea typeface="Georgia"/>
                <a:cs typeface="Georgia"/>
                <a:sym typeface="Georgia"/>
              </a:rPr>
              <a:t>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Juliek: </a:t>
            </a:r>
            <a:r>
              <a:rPr lang="en-US" sz="2000">
                <a:solidFill>
                  <a:schemeClr val="dk1"/>
                </a:solidFill>
                <a:latin typeface="Georgia"/>
                <a:ea typeface="Georgia"/>
                <a:cs typeface="Georgia"/>
                <a:sym typeface="Georgia"/>
              </a:rPr>
              <a:t>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Eliezer (Elie) Wiesel (Elie’s Faith at the End of The Novel): </a:t>
            </a:r>
            <a:r>
              <a:rPr lang="en-US" sz="2000">
                <a:solidFill>
                  <a:schemeClr val="dk1"/>
                </a:solidFill>
                <a:latin typeface="Georgia"/>
                <a:ea typeface="Georgia"/>
                <a:cs typeface="Georgia"/>
                <a:sym typeface="Georgia"/>
              </a:rPr>
              <a:t>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Rabbi Eliahou: </a:t>
            </a:r>
            <a:r>
              <a:rPr lang="en-US" sz="2000">
                <a:solidFill>
                  <a:schemeClr val="dk1"/>
                </a:solidFill>
                <a:latin typeface="Georgia"/>
                <a:ea typeface="Georgia"/>
                <a:cs typeface="Georgia"/>
                <a:sym typeface="Georgia"/>
              </a:rPr>
              <a:t>TBA</a:t>
            </a:r>
            <a:endParaRPr sz="2000">
              <a:latin typeface="Georgia"/>
              <a:ea typeface="Georgia"/>
              <a:cs typeface="Georgia"/>
              <a:sym typeface="Georgia"/>
            </a:endParaRPr>
          </a:p>
          <a:p>
            <a:pPr indent="-355600" lvl="0" marL="457200" rtl="0" algn="l">
              <a:spcBef>
                <a:spcPts val="0"/>
              </a:spcBef>
              <a:spcAft>
                <a:spcPts val="0"/>
              </a:spcAft>
              <a:buSzPts val="2000"/>
              <a:buFont typeface="Georgia"/>
              <a:buChar char="●"/>
            </a:pPr>
            <a:r>
              <a:rPr lang="en-US" sz="2000">
                <a:latin typeface="Georgia"/>
                <a:ea typeface="Georgia"/>
                <a:cs typeface="Georgia"/>
                <a:sym typeface="Georgia"/>
              </a:rPr>
              <a:t>Elie's Father (Shlomo Wiesel): </a:t>
            </a:r>
            <a:r>
              <a:rPr lang="en-US" sz="2000">
                <a:solidFill>
                  <a:schemeClr val="dk1"/>
                </a:solidFill>
                <a:latin typeface="Georgia"/>
                <a:ea typeface="Georgia"/>
                <a:cs typeface="Georgia"/>
                <a:sym typeface="Georgia"/>
              </a:rPr>
              <a:t>TBA</a:t>
            </a:r>
            <a:endParaRPr sz="2000">
              <a:solidFill>
                <a:schemeClr val="dk1"/>
              </a:solidFill>
              <a:latin typeface="Georgia"/>
              <a:ea typeface="Georgia"/>
              <a:cs typeface="Georgia"/>
              <a:sym typeface="Georgia"/>
            </a:endParaRPr>
          </a:p>
          <a:p>
            <a:pPr indent="0" lvl="0" marL="0" rtl="0" algn="l">
              <a:spcBef>
                <a:spcPts val="0"/>
              </a:spcBef>
              <a:spcAft>
                <a:spcPts val="0"/>
              </a:spcAft>
              <a:buNone/>
            </a:pPr>
            <a:r>
              <a:t/>
            </a:r>
            <a:endParaRPr sz="2000">
              <a:solidFill>
                <a:schemeClr val="dk1"/>
              </a:solidFill>
              <a:latin typeface="Georgia"/>
              <a:ea typeface="Georgia"/>
              <a:cs typeface="Georgia"/>
              <a:sym typeface="Georgia"/>
            </a:endParaRPr>
          </a:p>
          <a:p>
            <a:pPr indent="-355600" lvl="0" marL="457200" rtl="0" algn="l">
              <a:spcBef>
                <a:spcPts val="0"/>
              </a:spcBef>
              <a:spcAft>
                <a:spcPts val="0"/>
              </a:spcAft>
              <a:buClr>
                <a:schemeClr val="dk1"/>
              </a:buClr>
              <a:buSzPts val="2000"/>
              <a:buFont typeface="Georgia"/>
              <a:buChar char="●"/>
            </a:pPr>
            <a:r>
              <a:rPr lang="en-US" sz="2000">
                <a:solidFill>
                  <a:schemeClr val="dk1"/>
                </a:solidFill>
                <a:latin typeface="Georgia"/>
                <a:ea typeface="Georgia"/>
                <a:cs typeface="Georgia"/>
                <a:sym typeface="Georgia"/>
              </a:rPr>
              <a:t>DUE: TBA</a:t>
            </a:r>
            <a:endParaRPr sz="2000">
              <a:solidFill>
                <a:schemeClr val="dk1"/>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BT-Powerpoint-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BT-Powerpoint-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