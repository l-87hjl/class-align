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10058400" cx="777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aeb1eec4b8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aeb1eec4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1786025" y="1492875"/>
            <a:ext cx="5133000" cy="82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highlight>
                  <a:srgbClr val="FFFF00"/>
                </a:highlight>
                <a:latin typeface="Georgia"/>
                <a:ea typeface="Georgia"/>
                <a:cs typeface="Georgia"/>
                <a:sym typeface="Georgia"/>
              </a:rPr>
              <a:t>Insert text</a:t>
            </a:r>
            <a:endParaRPr sz="1100">
              <a:solidFill>
                <a:schemeClr val="dk2"/>
              </a:solidFill>
              <a:highlight>
                <a:srgbClr val="FFFF00"/>
              </a:highlight>
              <a:latin typeface="Georgia"/>
              <a:ea typeface="Georgia"/>
              <a:cs typeface="Georgia"/>
              <a:sym typeface="Georgia"/>
            </a:endParaRPr>
          </a:p>
        </p:txBody>
      </p:sp>
      <p:sp>
        <p:nvSpPr>
          <p:cNvPr id="55" name="Google Shape;55;p13"/>
          <p:cNvSpPr txBox="1"/>
          <p:nvPr/>
        </p:nvSpPr>
        <p:spPr>
          <a:xfrm>
            <a:off x="1786025" y="6079700"/>
            <a:ext cx="5185800" cy="82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2"/>
                </a:solidFill>
                <a:highlight>
                  <a:srgbClr val="FFFF00"/>
                </a:highlight>
                <a:latin typeface="Georgia"/>
                <a:ea typeface="Georgia"/>
                <a:cs typeface="Georgia"/>
                <a:sym typeface="Georgia"/>
              </a:rPr>
              <a:t>Insert text</a:t>
            </a:r>
            <a:endParaRPr sz="1100">
              <a:solidFill>
                <a:schemeClr val="dk2"/>
              </a:solidFill>
              <a:highlight>
                <a:srgbClr val="FFFF00"/>
              </a:highlight>
              <a:latin typeface="Georgia"/>
              <a:ea typeface="Georgia"/>
              <a:cs typeface="Georgia"/>
              <a:sym typeface="Georgia"/>
            </a:endParaRPr>
          </a:p>
          <a:p>
            <a:pPr indent="0" lvl="0" marL="0" rtl="0" algn="l">
              <a:spcBef>
                <a:spcPts val="0"/>
              </a:spcBef>
              <a:spcAft>
                <a:spcPts val="0"/>
              </a:spcAft>
              <a:buNone/>
            </a:pPr>
            <a:r>
              <a:t/>
            </a:r>
            <a:endParaRPr sz="1100">
              <a:solidFill>
                <a:schemeClr val="dk2"/>
              </a:solidFill>
              <a:latin typeface="Georgia"/>
              <a:ea typeface="Georgia"/>
              <a:cs typeface="Georgia"/>
              <a:sym typeface="Georgia"/>
            </a:endParaRPr>
          </a:p>
        </p:txBody>
      </p:sp>
      <p:sp>
        <p:nvSpPr>
          <p:cNvPr id="56" name="Google Shape;56;p13"/>
          <p:cNvSpPr txBox="1"/>
          <p:nvPr/>
        </p:nvSpPr>
        <p:spPr>
          <a:xfrm>
            <a:off x="1786025" y="9015525"/>
            <a:ext cx="5185800" cy="82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2"/>
                </a:solidFill>
                <a:highlight>
                  <a:srgbClr val="FFFF00"/>
                </a:highlight>
                <a:latin typeface="Georgia"/>
                <a:ea typeface="Georgia"/>
                <a:cs typeface="Georgia"/>
                <a:sym typeface="Georgia"/>
              </a:rPr>
              <a:t>Insert text</a:t>
            </a:r>
            <a:endParaRPr sz="1100">
              <a:solidFill>
                <a:schemeClr val="dk2"/>
              </a:solidFill>
              <a:highlight>
                <a:srgbClr val="FFFF00"/>
              </a:highlight>
              <a:latin typeface="Georgia"/>
              <a:ea typeface="Georgia"/>
              <a:cs typeface="Georgia"/>
              <a:sym typeface="Georgia"/>
            </a:endParaRPr>
          </a:p>
          <a:p>
            <a:pPr indent="0" lvl="0" marL="0" rtl="0" algn="l">
              <a:spcBef>
                <a:spcPts val="0"/>
              </a:spcBef>
              <a:spcAft>
                <a:spcPts val="0"/>
              </a:spcAft>
              <a:buNone/>
            </a:pPr>
            <a:r>
              <a:t/>
            </a:r>
            <a:endParaRPr sz="1100">
              <a:solidFill>
                <a:schemeClr val="dk2"/>
              </a:solidFill>
              <a:latin typeface="Georgia"/>
              <a:ea typeface="Georgia"/>
              <a:cs typeface="Georgia"/>
              <a:sym typeface="Georgia"/>
            </a:endParaRPr>
          </a:p>
        </p:txBody>
      </p:sp>
      <p:sp>
        <p:nvSpPr>
          <p:cNvPr id="57" name="Google Shape;57;p13"/>
          <p:cNvSpPr txBox="1"/>
          <p:nvPr/>
        </p:nvSpPr>
        <p:spPr>
          <a:xfrm>
            <a:off x="1786025" y="3004175"/>
            <a:ext cx="5185800" cy="82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2"/>
                </a:solidFill>
                <a:highlight>
                  <a:srgbClr val="FFFF00"/>
                </a:highlight>
                <a:latin typeface="Georgia"/>
                <a:ea typeface="Georgia"/>
                <a:cs typeface="Georgia"/>
                <a:sym typeface="Georgia"/>
              </a:rPr>
              <a:t>Insert text</a:t>
            </a:r>
            <a:endParaRPr sz="1100">
              <a:solidFill>
                <a:schemeClr val="dk2"/>
              </a:solidFill>
              <a:highlight>
                <a:srgbClr val="FFFF00"/>
              </a:highlight>
              <a:latin typeface="Georgia"/>
              <a:ea typeface="Georgia"/>
              <a:cs typeface="Georgia"/>
              <a:sym typeface="Georgia"/>
            </a:endParaRPr>
          </a:p>
          <a:p>
            <a:pPr indent="0" lvl="0" marL="0" rtl="0" algn="l">
              <a:spcBef>
                <a:spcPts val="0"/>
              </a:spcBef>
              <a:spcAft>
                <a:spcPts val="0"/>
              </a:spcAft>
              <a:buNone/>
            </a:pPr>
            <a:r>
              <a:t/>
            </a:r>
            <a:endParaRPr sz="1100">
              <a:solidFill>
                <a:schemeClr val="dk2"/>
              </a:solidFill>
              <a:latin typeface="Georgia"/>
              <a:ea typeface="Georgia"/>
              <a:cs typeface="Georgia"/>
              <a:sym typeface="Georgia"/>
            </a:endParaRPr>
          </a:p>
        </p:txBody>
      </p:sp>
      <p:sp>
        <p:nvSpPr>
          <p:cNvPr id="58" name="Google Shape;58;p13"/>
          <p:cNvSpPr txBox="1"/>
          <p:nvPr/>
        </p:nvSpPr>
        <p:spPr>
          <a:xfrm>
            <a:off x="1786025" y="4515475"/>
            <a:ext cx="5185800" cy="8229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2"/>
                </a:solidFill>
                <a:highlight>
                  <a:srgbClr val="FFFF00"/>
                </a:highlight>
                <a:latin typeface="Georgia"/>
                <a:ea typeface="Georgia"/>
                <a:cs typeface="Georgia"/>
                <a:sym typeface="Georgia"/>
              </a:rPr>
              <a:t>Insert text</a:t>
            </a:r>
            <a:endParaRPr sz="1100">
              <a:solidFill>
                <a:schemeClr val="dk2"/>
              </a:solidFill>
              <a:highlight>
                <a:srgbClr val="FFFF00"/>
              </a:highlight>
              <a:latin typeface="Georgia"/>
              <a:ea typeface="Georgia"/>
              <a:cs typeface="Georgia"/>
              <a:sym typeface="Georgia"/>
            </a:endParaRPr>
          </a:p>
          <a:p>
            <a:pPr indent="0" lvl="0" marL="0" rtl="0" algn="l">
              <a:spcBef>
                <a:spcPts val="0"/>
              </a:spcBef>
              <a:spcAft>
                <a:spcPts val="0"/>
              </a:spcAft>
              <a:buNone/>
            </a:pPr>
            <a:r>
              <a:t/>
            </a:r>
            <a:endParaRPr sz="1100">
              <a:solidFill>
                <a:schemeClr val="dk2"/>
              </a:solidFill>
              <a:latin typeface="Georgia"/>
              <a:ea typeface="Georgia"/>
              <a:cs typeface="Georgia"/>
              <a:sym typeface="Georgia"/>
            </a:endParaRPr>
          </a:p>
        </p:txBody>
      </p:sp>
      <p:sp>
        <p:nvSpPr>
          <p:cNvPr id="59" name="Google Shape;59;p13"/>
          <p:cNvSpPr txBox="1"/>
          <p:nvPr/>
        </p:nvSpPr>
        <p:spPr>
          <a:xfrm>
            <a:off x="1786025" y="7162906"/>
            <a:ext cx="5185800" cy="12075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2"/>
                </a:solidFill>
                <a:highlight>
                  <a:srgbClr val="FFFF00"/>
                </a:highlight>
                <a:latin typeface="Georgia"/>
                <a:ea typeface="Georgia"/>
                <a:cs typeface="Georgia"/>
                <a:sym typeface="Georgia"/>
              </a:rPr>
              <a:t>Insert text</a:t>
            </a:r>
            <a:endParaRPr sz="1100">
              <a:solidFill>
                <a:schemeClr val="dk2"/>
              </a:solidFill>
              <a:highlight>
                <a:srgbClr val="FFFF00"/>
              </a:highlight>
              <a:latin typeface="Georgia"/>
              <a:ea typeface="Georgia"/>
              <a:cs typeface="Georgia"/>
              <a:sym typeface="Georgia"/>
            </a:endParaRPr>
          </a:p>
          <a:p>
            <a:pPr indent="0" lvl="0" marL="0" rtl="0" algn="l">
              <a:spcBef>
                <a:spcPts val="0"/>
              </a:spcBef>
              <a:spcAft>
                <a:spcPts val="0"/>
              </a:spcAft>
              <a:buNone/>
            </a:pPr>
            <a:r>
              <a:t/>
            </a:r>
            <a:endParaRPr sz="1100">
              <a:solidFill>
                <a:schemeClr val="dk2"/>
              </a:solidFill>
              <a:latin typeface="Georgia"/>
              <a:ea typeface="Georgia"/>
              <a:cs typeface="Georgia"/>
              <a:sym typeface="Georgia"/>
            </a:endParaRPr>
          </a:p>
        </p:txBody>
      </p:sp>
      <p:sp>
        <p:nvSpPr>
          <p:cNvPr id="60" name="Google Shape;60;p13"/>
          <p:cNvSpPr txBox="1"/>
          <p:nvPr/>
        </p:nvSpPr>
        <p:spPr>
          <a:xfrm>
            <a:off x="8601675" y="1818300"/>
            <a:ext cx="1576800" cy="11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1" name="Google Shape;61;p13"/>
          <p:cNvSpPr txBox="1"/>
          <p:nvPr/>
        </p:nvSpPr>
        <p:spPr>
          <a:xfrm>
            <a:off x="7890075" y="0"/>
            <a:ext cx="3000000" cy="24348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eorgia"/>
                <a:ea typeface="Georgia"/>
                <a:cs typeface="Georgia"/>
                <a:sym typeface="Georgia"/>
              </a:rPr>
              <a:t>Protagonists are usually complex characters who change and grow during the course of a story. Focus on the dual protagonists of "Marigolds": Lizabeth the narrator, who is older and wiser, and Lizabeth the adolescent, on the verge of womanhood.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H</a:t>
            </a:r>
            <a:r>
              <a:rPr lang="en" sz="1200">
                <a:solidFill>
                  <a:schemeClr val="dk1"/>
                </a:solidFill>
                <a:latin typeface="Georgia"/>
                <a:ea typeface="Georgia"/>
                <a:cs typeface="Georgia"/>
                <a:sym typeface="Georgia"/>
              </a:rPr>
              <a:t>ow does the protagonist change and grow during the story?</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Identify key details about the protagonist.</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050">
              <a:solidFill>
                <a:schemeClr val="dk1"/>
              </a:solidFill>
              <a:latin typeface="Calibri"/>
              <a:ea typeface="Calibri"/>
              <a:cs typeface="Calibri"/>
              <a:sym typeface="Calibri"/>
            </a:endParaRPr>
          </a:p>
          <a:p>
            <a:pPr indent="0" lvl="0" marL="0" rtl="0" algn="l">
              <a:spcBef>
                <a:spcPts val="0"/>
              </a:spcBef>
              <a:spcAft>
                <a:spcPts val="0"/>
              </a:spcAft>
              <a:buNone/>
            </a:pPr>
            <a:r>
              <a:t/>
            </a:r>
            <a:endParaRPr sz="1050">
              <a:solidFill>
                <a:schemeClr val="dk1"/>
              </a:solidFill>
              <a:latin typeface="Calibri"/>
              <a:ea typeface="Calibri"/>
              <a:cs typeface="Calibri"/>
              <a:sym typeface="Calibri"/>
            </a:endParaRPr>
          </a:p>
        </p:txBody>
      </p:sp>
      <p:sp>
        <p:nvSpPr>
          <p:cNvPr id="62" name="Google Shape;62;p13"/>
          <p:cNvSpPr txBox="1"/>
          <p:nvPr/>
        </p:nvSpPr>
        <p:spPr>
          <a:xfrm>
            <a:off x="-3217350" y="1619250"/>
            <a:ext cx="3000000" cy="29427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200">
                <a:solidFill>
                  <a:schemeClr val="dk1"/>
                </a:solidFill>
                <a:latin typeface="Georgia"/>
                <a:ea typeface="Georgia"/>
                <a:cs typeface="Georgia"/>
                <a:sym typeface="Georgia"/>
              </a:rPr>
              <a:t>A</a:t>
            </a:r>
            <a:r>
              <a:rPr lang="en" sz="1200">
                <a:solidFill>
                  <a:schemeClr val="dk1"/>
                </a:solidFill>
                <a:latin typeface="Georgia"/>
                <a:ea typeface="Georgia"/>
                <a:cs typeface="Georgia"/>
                <a:sym typeface="Georgia"/>
              </a:rPr>
              <a:t>uthors develop their characters in relationship to the setting, which includes the time and place, the weather, the season, and other details. Identify key setting details that affect Lizabeth and other characters, such as: "the dry September of the dirt roads and grassless yards of the shantytown" where Lizabeth lived.</a:t>
            </a:r>
            <a:endParaRPr sz="12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t/>
            </a:r>
            <a:endParaRPr sz="1200">
              <a:solidFill>
                <a:schemeClr val="dk1"/>
              </a:solidFill>
              <a:latin typeface="Georgia"/>
              <a:ea typeface="Georgia"/>
              <a:cs typeface="Georgia"/>
              <a:sym typeface="Georgia"/>
            </a:endParaRPr>
          </a:p>
          <a:p>
            <a:pPr indent="-304800" lvl="0" marL="457200" marR="0" rtl="0" algn="l">
              <a:lnSpc>
                <a:spcPct val="10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Identify how the setting affects the protagonist.</a:t>
            </a:r>
            <a:endParaRPr sz="1200">
              <a:solidFill>
                <a:schemeClr val="dk1"/>
              </a:solidFill>
              <a:latin typeface="Georgia"/>
              <a:ea typeface="Georgia"/>
              <a:cs typeface="Georgia"/>
              <a:sym typeface="Georgia"/>
            </a:endParaRPr>
          </a:p>
          <a:p>
            <a:pPr indent="-304800" lvl="0" marL="457200" marR="0" rtl="0" algn="l">
              <a:lnSpc>
                <a:spcPct val="10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Identify how the protagonist interacts with various aspects of the setting.</a:t>
            </a:r>
            <a:endParaRPr sz="1200">
              <a:solidFill>
                <a:schemeClr val="dk1"/>
              </a:solidFill>
              <a:latin typeface="Georgia"/>
              <a:ea typeface="Georgia"/>
              <a:cs typeface="Georgia"/>
              <a:sym typeface="Georgia"/>
            </a:endParaRPr>
          </a:p>
        </p:txBody>
      </p:sp>
      <p:cxnSp>
        <p:nvCxnSpPr>
          <p:cNvPr id="63" name="Google Shape;63;p13"/>
          <p:cNvCxnSpPr>
            <a:stCxn id="54" idx="3"/>
            <a:endCxn id="61" idx="1"/>
          </p:cNvCxnSpPr>
          <p:nvPr/>
        </p:nvCxnSpPr>
        <p:spPr>
          <a:xfrm flipH="1" rot="10800000">
            <a:off x="6919025" y="1217325"/>
            <a:ext cx="971100" cy="687000"/>
          </a:xfrm>
          <a:prstGeom prst="bentConnector3">
            <a:avLst>
              <a:gd fmla="val 49997" name="adj1"/>
            </a:avLst>
          </a:prstGeom>
          <a:noFill/>
          <a:ln cap="flat" cmpd="sng" w="9525">
            <a:solidFill>
              <a:schemeClr val="dk2"/>
            </a:solidFill>
            <a:prstDash val="solid"/>
            <a:round/>
            <a:headEnd len="med" w="med" type="none"/>
            <a:tailEnd len="med" w="med" type="none"/>
          </a:ln>
        </p:spPr>
      </p:cxnSp>
      <p:cxnSp>
        <p:nvCxnSpPr>
          <p:cNvPr id="64" name="Google Shape;64;p13"/>
          <p:cNvCxnSpPr>
            <a:stCxn id="62" idx="3"/>
            <a:endCxn id="57" idx="1"/>
          </p:cNvCxnSpPr>
          <p:nvPr/>
        </p:nvCxnSpPr>
        <p:spPr>
          <a:xfrm>
            <a:off x="-217350" y="3090600"/>
            <a:ext cx="2003400" cy="324900"/>
          </a:xfrm>
          <a:prstGeom prst="bentConnector3">
            <a:avLst>
              <a:gd fmla="val 49999" name="adj1"/>
            </a:avLst>
          </a:prstGeom>
          <a:noFill/>
          <a:ln cap="flat" cmpd="sng" w="9525">
            <a:solidFill>
              <a:schemeClr val="dk2"/>
            </a:solidFill>
            <a:prstDash val="solid"/>
            <a:round/>
            <a:headEnd len="med" w="med" type="none"/>
            <a:tailEnd len="med" w="med" type="none"/>
          </a:ln>
        </p:spPr>
      </p:cxnSp>
      <p:sp>
        <p:nvSpPr>
          <p:cNvPr id="65" name="Google Shape;65;p13"/>
          <p:cNvSpPr txBox="1"/>
          <p:nvPr/>
        </p:nvSpPr>
        <p:spPr>
          <a:xfrm>
            <a:off x="11007750" y="0"/>
            <a:ext cx="3000000" cy="12804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Describe Lizabeth, including her personality traits, emotions, and how she changes throughout the story.</a:t>
            </a:r>
            <a:endParaRPr sz="1200">
              <a:solidFill>
                <a:schemeClr val="dk1"/>
              </a:solidFill>
              <a:latin typeface="Georgia"/>
              <a:ea typeface="Georgia"/>
              <a:cs typeface="Georgia"/>
              <a:sym typeface="Georgia"/>
            </a:endParaRPr>
          </a:p>
          <a:p>
            <a:pPr indent="-304800" lvl="0" marL="457200" marR="0" rtl="0" algn="l">
              <a:lnSpc>
                <a:spcPct val="10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Use specific examples from the text to illustrate your points.</a:t>
            </a:r>
            <a:endParaRPr sz="12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t/>
            </a:r>
            <a:endParaRPr sz="12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050">
              <a:solidFill>
                <a:schemeClr val="dk1"/>
              </a:solidFill>
              <a:latin typeface="Calibri"/>
              <a:ea typeface="Calibri"/>
              <a:cs typeface="Calibri"/>
              <a:sym typeface="Calibri"/>
            </a:endParaRPr>
          </a:p>
        </p:txBody>
      </p:sp>
      <p:cxnSp>
        <p:nvCxnSpPr>
          <p:cNvPr id="66" name="Google Shape;66;p13"/>
          <p:cNvCxnSpPr>
            <a:stCxn id="65" idx="1"/>
            <a:endCxn id="61" idx="3"/>
          </p:cNvCxnSpPr>
          <p:nvPr/>
        </p:nvCxnSpPr>
        <p:spPr>
          <a:xfrm flipH="1">
            <a:off x="10890150" y="640200"/>
            <a:ext cx="117600" cy="577200"/>
          </a:xfrm>
          <a:prstGeom prst="straightConnector1">
            <a:avLst/>
          </a:prstGeom>
          <a:noFill/>
          <a:ln cap="flat" cmpd="sng" w="9525">
            <a:solidFill>
              <a:schemeClr val="dk2"/>
            </a:solidFill>
            <a:prstDash val="solid"/>
            <a:round/>
            <a:headEnd len="med" w="med" type="none"/>
            <a:tailEnd len="med" w="med" type="none"/>
          </a:ln>
        </p:spPr>
      </p:cxnSp>
      <p:sp>
        <p:nvSpPr>
          <p:cNvPr id="67" name="Google Shape;67;p13"/>
          <p:cNvSpPr txBox="1"/>
          <p:nvPr/>
        </p:nvSpPr>
        <p:spPr>
          <a:xfrm>
            <a:off x="-6339775" y="1619250"/>
            <a:ext cx="3000000" cy="12804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Write about where and when the story takes place.</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Explain how the setting affects the story and the characters.</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Include details from the text to support your description.</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t/>
            </a:r>
            <a:endParaRPr sz="1200">
              <a:solidFill>
                <a:schemeClr val="dk1"/>
              </a:solidFill>
              <a:latin typeface="Georgia"/>
              <a:ea typeface="Georgia"/>
              <a:cs typeface="Georgia"/>
              <a:sym typeface="Georgia"/>
            </a:endParaRPr>
          </a:p>
        </p:txBody>
      </p:sp>
      <p:cxnSp>
        <p:nvCxnSpPr>
          <p:cNvPr id="68" name="Google Shape;68;p13"/>
          <p:cNvCxnSpPr>
            <a:stCxn id="67" idx="3"/>
            <a:endCxn id="62" idx="1"/>
          </p:cNvCxnSpPr>
          <p:nvPr/>
        </p:nvCxnSpPr>
        <p:spPr>
          <a:xfrm>
            <a:off x="-3339775" y="2259450"/>
            <a:ext cx="122400" cy="831300"/>
          </a:xfrm>
          <a:prstGeom prst="straightConnector1">
            <a:avLst/>
          </a:prstGeom>
          <a:noFill/>
          <a:ln cap="flat" cmpd="sng" w="9525">
            <a:solidFill>
              <a:schemeClr val="dk2"/>
            </a:solidFill>
            <a:prstDash val="solid"/>
            <a:round/>
            <a:headEnd len="med" w="med" type="none"/>
            <a:tailEnd len="med" w="med" type="none"/>
          </a:ln>
        </p:spPr>
      </p:cxnSp>
      <p:sp>
        <p:nvSpPr>
          <p:cNvPr id="69" name="Google Shape;69;p13"/>
          <p:cNvSpPr txBox="1"/>
          <p:nvPr/>
        </p:nvSpPr>
        <p:spPr>
          <a:xfrm>
            <a:off x="7890075" y="4005175"/>
            <a:ext cx="3000000" cy="13332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Identify the main problem or conflict in the story.</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Explain who is involved and what causes this conflict.</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Use examples from the story to back up your explanation.</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050">
              <a:solidFill>
                <a:schemeClr val="dk1"/>
              </a:solidFill>
              <a:latin typeface="Calibri"/>
              <a:ea typeface="Calibri"/>
              <a:cs typeface="Calibri"/>
              <a:sym typeface="Calibri"/>
            </a:endParaRPr>
          </a:p>
        </p:txBody>
      </p:sp>
      <p:sp>
        <p:nvSpPr>
          <p:cNvPr id="70" name="Google Shape;70;p13"/>
          <p:cNvSpPr txBox="1"/>
          <p:nvPr/>
        </p:nvSpPr>
        <p:spPr>
          <a:xfrm>
            <a:off x="-3217350" y="5113100"/>
            <a:ext cx="3000000" cy="9666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eorgia"/>
                <a:ea typeface="Georgia"/>
                <a:cs typeface="Georgia"/>
                <a:sym typeface="Georgia"/>
              </a:rPr>
              <a:t>Focus on three key events: the triggering event (generally pertaining to or in response to the problem stated above), a climax, and the resolution.</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050">
              <a:solidFill>
                <a:schemeClr val="dk1"/>
              </a:solidFill>
              <a:latin typeface="Calibri"/>
              <a:ea typeface="Calibri"/>
              <a:cs typeface="Calibri"/>
              <a:sym typeface="Calibri"/>
            </a:endParaRPr>
          </a:p>
        </p:txBody>
      </p:sp>
      <p:sp>
        <p:nvSpPr>
          <p:cNvPr id="71" name="Google Shape;71;p13"/>
          <p:cNvSpPr txBox="1"/>
          <p:nvPr/>
        </p:nvSpPr>
        <p:spPr>
          <a:xfrm>
            <a:off x="-3217350" y="8556950"/>
            <a:ext cx="3000000" cy="8871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Georgia"/>
                <a:ea typeface="Georgia"/>
                <a:cs typeface="Georgia"/>
                <a:sym typeface="Georgia"/>
              </a:rPr>
              <a:t>Resolution: Describe how the story's conflict is finally resolved. This is where the consequences of the climax are dealt with, and the story comes to a close.</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050">
              <a:solidFill>
                <a:schemeClr val="dk1"/>
              </a:solidFill>
              <a:latin typeface="Calibri"/>
              <a:ea typeface="Calibri"/>
              <a:cs typeface="Calibri"/>
              <a:sym typeface="Calibri"/>
            </a:endParaRPr>
          </a:p>
        </p:txBody>
      </p:sp>
      <p:sp>
        <p:nvSpPr>
          <p:cNvPr id="72" name="Google Shape;72;p13"/>
          <p:cNvSpPr txBox="1"/>
          <p:nvPr/>
        </p:nvSpPr>
        <p:spPr>
          <a:xfrm>
            <a:off x="-3217350" y="6266150"/>
            <a:ext cx="3000000" cy="9666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Georgia"/>
                <a:ea typeface="Georgia"/>
                <a:cs typeface="Georgia"/>
                <a:sym typeface="Georgia"/>
              </a:rPr>
              <a:t>Triggering Event: Identify an early event in the story that sets the plot in motion. This could be an action or a decision that starts the conflict.</a:t>
            </a:r>
            <a:endParaRPr sz="1200">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200">
              <a:solidFill>
                <a:schemeClr val="dk1"/>
              </a:solidFill>
              <a:latin typeface="Georgia"/>
              <a:ea typeface="Georgia"/>
              <a:cs typeface="Georgia"/>
              <a:sym typeface="Georgia"/>
            </a:endParaRPr>
          </a:p>
        </p:txBody>
      </p:sp>
      <p:sp>
        <p:nvSpPr>
          <p:cNvPr id="73" name="Google Shape;73;p13"/>
          <p:cNvSpPr txBox="1"/>
          <p:nvPr/>
        </p:nvSpPr>
        <p:spPr>
          <a:xfrm>
            <a:off x="-3217350" y="7419200"/>
            <a:ext cx="3000000" cy="9513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eorgia"/>
                <a:ea typeface="Georgia"/>
                <a:cs typeface="Georgia"/>
                <a:sym typeface="Georgia"/>
              </a:rPr>
              <a:t>Climax: Look for a moment of highest tension or a turning point in the story. This is often where the main conflict reaches its peak.</a:t>
            </a:r>
            <a:endParaRPr sz="1200">
              <a:solidFill>
                <a:schemeClr val="dk1"/>
              </a:solidFill>
              <a:latin typeface="Georgia"/>
              <a:ea typeface="Georgia"/>
              <a:cs typeface="Georgia"/>
              <a:sym typeface="Georgia"/>
            </a:endParaRPr>
          </a:p>
        </p:txBody>
      </p:sp>
      <p:cxnSp>
        <p:nvCxnSpPr>
          <p:cNvPr id="74" name="Google Shape;74;p13"/>
          <p:cNvCxnSpPr>
            <a:stCxn id="58" idx="3"/>
            <a:endCxn id="69" idx="1"/>
          </p:cNvCxnSpPr>
          <p:nvPr/>
        </p:nvCxnSpPr>
        <p:spPr>
          <a:xfrm flipH="1" rot="10800000">
            <a:off x="6971825" y="4671925"/>
            <a:ext cx="918300" cy="2550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13"/>
          <p:cNvCxnSpPr>
            <a:stCxn id="70" idx="3"/>
          </p:cNvCxnSpPr>
          <p:nvPr/>
        </p:nvCxnSpPr>
        <p:spPr>
          <a:xfrm>
            <a:off x="-217350" y="5596400"/>
            <a:ext cx="1961700" cy="27990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13"/>
          <p:cNvCxnSpPr>
            <a:stCxn id="72" idx="3"/>
            <a:endCxn id="55" idx="1"/>
          </p:cNvCxnSpPr>
          <p:nvPr/>
        </p:nvCxnSpPr>
        <p:spPr>
          <a:xfrm flipH="1" rot="10800000">
            <a:off x="-217350" y="6491150"/>
            <a:ext cx="2003400" cy="258300"/>
          </a:xfrm>
          <a:prstGeom prst="straightConnector1">
            <a:avLst/>
          </a:prstGeom>
          <a:noFill/>
          <a:ln cap="flat" cmpd="sng" w="9525">
            <a:solidFill>
              <a:schemeClr val="dk2"/>
            </a:solidFill>
            <a:prstDash val="solid"/>
            <a:round/>
            <a:headEnd len="med" w="med" type="none"/>
            <a:tailEnd len="med" w="med" type="none"/>
          </a:ln>
        </p:spPr>
      </p:cxnSp>
      <p:cxnSp>
        <p:nvCxnSpPr>
          <p:cNvPr id="77" name="Google Shape;77;p13"/>
          <p:cNvCxnSpPr>
            <a:stCxn id="73" idx="3"/>
            <a:endCxn id="59" idx="1"/>
          </p:cNvCxnSpPr>
          <p:nvPr/>
        </p:nvCxnSpPr>
        <p:spPr>
          <a:xfrm flipH="1" rot="10800000">
            <a:off x="-217350" y="7766750"/>
            <a:ext cx="2003400" cy="128100"/>
          </a:xfrm>
          <a:prstGeom prst="straightConnector1">
            <a:avLst/>
          </a:prstGeom>
          <a:noFill/>
          <a:ln cap="flat" cmpd="sng" w="9525">
            <a:solidFill>
              <a:schemeClr val="dk2"/>
            </a:solidFill>
            <a:prstDash val="solid"/>
            <a:round/>
            <a:headEnd len="med" w="med" type="none"/>
            <a:tailEnd len="med" w="med" type="none"/>
          </a:ln>
        </p:spPr>
      </p:cxnSp>
      <p:cxnSp>
        <p:nvCxnSpPr>
          <p:cNvPr id="78" name="Google Shape;78;p13"/>
          <p:cNvCxnSpPr>
            <a:stCxn id="71" idx="3"/>
            <a:endCxn id="56" idx="1"/>
          </p:cNvCxnSpPr>
          <p:nvPr/>
        </p:nvCxnSpPr>
        <p:spPr>
          <a:xfrm>
            <a:off x="-217350" y="9000500"/>
            <a:ext cx="2003400" cy="426600"/>
          </a:xfrm>
          <a:prstGeom prst="straightConnector1">
            <a:avLst/>
          </a:prstGeom>
          <a:noFill/>
          <a:ln cap="flat" cmpd="sng" w="9525">
            <a:solidFill>
              <a:schemeClr val="dk2"/>
            </a:solidFill>
            <a:prstDash val="solid"/>
            <a:round/>
            <a:headEnd len="med" w="med" type="none"/>
            <a:tailEnd len="med" w="med" type="none"/>
          </a:ln>
        </p:spPr>
      </p:cxnSp>
      <p:sp>
        <p:nvSpPr>
          <p:cNvPr id="79" name="Google Shape;79;p13"/>
          <p:cNvSpPr txBox="1"/>
          <p:nvPr/>
        </p:nvSpPr>
        <p:spPr>
          <a:xfrm>
            <a:off x="11007750" y="3305650"/>
            <a:ext cx="3000000" cy="5251200"/>
          </a:xfrm>
          <a:prstGeom prst="rect">
            <a:avLst/>
          </a:prstGeom>
          <a:noFill/>
          <a:ln cap="flat" cmpd="sng" w="381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eorgia"/>
                <a:ea typeface="Georgia"/>
                <a:cs typeface="Georgia"/>
                <a:sym typeface="Georgia"/>
              </a:rPr>
              <a:t>While there are many potential conflicts you could identify, focus on only one. Here are a couple of suggestions in regard to the central conflict in "Marigolds": </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a clash between two ways of confronting the harshness of poverty. On one side, there's the children's approach, where they react destructively, reflecting their inability to process or escape their grim reality. On the other side is Miss Lottie's response, which is more mature and constructive. She chooses to create beauty amidst the ugliness through her care for the marigolds, symbolizing hope and resilience in the face of adversity.</a:t>
            </a:r>
            <a:endParaRPr sz="1200">
              <a:solidFill>
                <a:schemeClr val="dk1"/>
              </a:solidFill>
              <a:latin typeface="Georgia"/>
              <a:ea typeface="Georgia"/>
              <a:cs typeface="Georgia"/>
              <a:sym typeface="Georgia"/>
            </a:endParaRPr>
          </a:p>
          <a:p>
            <a:pPr indent="-304800" lvl="0" marL="457200" rtl="0" algn="l">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Lizabeth's internal conflict in "Marigolds" revolves around her struggle between childhood innocence and the harsh realities of adulthood. She is torn between participating in the reckless behavior of her peers and her growing sense of right and wrong (and the emotional aftermath of conscience that goes with it). </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sz="1050">
              <a:solidFill>
                <a:schemeClr val="dk1"/>
              </a:solidFill>
              <a:latin typeface="Calibri"/>
              <a:ea typeface="Calibri"/>
              <a:cs typeface="Calibri"/>
              <a:sym typeface="Calibri"/>
            </a:endParaRPr>
          </a:p>
        </p:txBody>
      </p:sp>
      <p:cxnSp>
        <p:nvCxnSpPr>
          <p:cNvPr id="80" name="Google Shape;80;p13"/>
          <p:cNvCxnSpPr>
            <a:endCxn id="79" idx="1"/>
          </p:cNvCxnSpPr>
          <p:nvPr/>
        </p:nvCxnSpPr>
        <p:spPr>
          <a:xfrm>
            <a:off x="10880850" y="4624150"/>
            <a:ext cx="126900" cy="1307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