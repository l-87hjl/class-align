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</p:sldIdLst>
  <p:sldSz cy="10058400" cx="77724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104480" y="685800"/>
            <a:ext cx="2649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2104480" y="685800"/>
            <a:ext cx="2649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4e542cd4aa_0_5:notes"/>
          <p:cNvSpPr/>
          <p:nvPr>
            <p:ph idx="2" type="sldImg"/>
          </p:nvPr>
        </p:nvSpPr>
        <p:spPr>
          <a:xfrm>
            <a:off x="2104480" y="685800"/>
            <a:ext cx="2649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4e542cd4aa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225fbce60e_0_16:notes"/>
          <p:cNvSpPr/>
          <p:nvPr>
            <p:ph idx="2" type="sldImg"/>
          </p:nvPr>
        </p:nvSpPr>
        <p:spPr>
          <a:xfrm>
            <a:off x="2104480" y="685800"/>
            <a:ext cx="2649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225fbce60e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4e542cd4aa_0_22:notes"/>
          <p:cNvSpPr/>
          <p:nvPr>
            <p:ph idx="2" type="sldImg"/>
          </p:nvPr>
        </p:nvSpPr>
        <p:spPr>
          <a:xfrm>
            <a:off x="2104480" y="685800"/>
            <a:ext cx="2649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4e542cd4aa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4e542cd4aa_0_31:notes"/>
          <p:cNvSpPr/>
          <p:nvPr>
            <p:ph idx="2" type="sldImg"/>
          </p:nvPr>
        </p:nvSpPr>
        <p:spPr>
          <a:xfrm>
            <a:off x="2104480" y="685800"/>
            <a:ext cx="2649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4e542cd4aa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225ecfb6dc_0_5:notes"/>
          <p:cNvSpPr/>
          <p:nvPr>
            <p:ph idx="2" type="sldImg"/>
          </p:nvPr>
        </p:nvSpPr>
        <p:spPr>
          <a:xfrm>
            <a:off x="2104480" y="685800"/>
            <a:ext cx="2649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225ecfb6dc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efe1c00896_0_0:notes"/>
          <p:cNvSpPr/>
          <p:nvPr>
            <p:ph idx="2" type="sldImg"/>
          </p:nvPr>
        </p:nvSpPr>
        <p:spPr>
          <a:xfrm>
            <a:off x="2104480" y="685800"/>
            <a:ext cx="2649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efe1c0089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264952" y="1456058"/>
            <a:ext cx="7242600" cy="4014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264945" y="5542289"/>
            <a:ext cx="7242600" cy="155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264945" y="4206107"/>
            <a:ext cx="7242600" cy="164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264945" y="2253729"/>
            <a:ext cx="7242600" cy="668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64945" y="2253729"/>
            <a:ext cx="3399900" cy="668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107540" y="2253729"/>
            <a:ext cx="3399900" cy="668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264945" y="1086507"/>
            <a:ext cx="2386800" cy="14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264945" y="2717440"/>
            <a:ext cx="2386800" cy="621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16713" y="880293"/>
            <a:ext cx="5412600" cy="799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3886200" y="-244"/>
            <a:ext cx="3886200" cy="10058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25675" y="2411542"/>
            <a:ext cx="3438300" cy="2898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25675" y="5481569"/>
            <a:ext cx="3438300" cy="241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198575" y="1415969"/>
            <a:ext cx="3261300" cy="722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264945" y="8273124"/>
            <a:ext cx="5099100" cy="118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264945" y="2163089"/>
            <a:ext cx="7242600" cy="3839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264945" y="6164351"/>
            <a:ext cx="7242600" cy="254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64945" y="2253729"/>
            <a:ext cx="7242600" cy="66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9.png"/><Relationship Id="rId4" Type="http://schemas.openxmlformats.org/officeDocument/2006/relationships/image" Target="../media/image2.png"/><Relationship Id="rId11" Type="http://schemas.openxmlformats.org/officeDocument/2006/relationships/image" Target="../media/image10.png"/><Relationship Id="rId10" Type="http://schemas.openxmlformats.org/officeDocument/2006/relationships/image" Target="../media/image15.png"/><Relationship Id="rId12" Type="http://schemas.openxmlformats.org/officeDocument/2006/relationships/image" Target="../media/image1.png"/><Relationship Id="rId9" Type="http://schemas.openxmlformats.org/officeDocument/2006/relationships/image" Target="../media/image21.png"/><Relationship Id="rId5" Type="http://schemas.openxmlformats.org/officeDocument/2006/relationships/image" Target="../media/image3.png"/><Relationship Id="rId6" Type="http://schemas.openxmlformats.org/officeDocument/2006/relationships/image" Target="../media/image22.png"/><Relationship Id="rId7" Type="http://schemas.openxmlformats.org/officeDocument/2006/relationships/image" Target="../media/image11.png"/><Relationship Id="rId8" Type="http://schemas.openxmlformats.org/officeDocument/2006/relationships/image" Target="../media/image1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1" Type="http://schemas.openxmlformats.org/officeDocument/2006/relationships/image" Target="../media/image17.png"/><Relationship Id="rId10" Type="http://schemas.openxmlformats.org/officeDocument/2006/relationships/image" Target="../media/image25.png"/><Relationship Id="rId13" Type="http://schemas.openxmlformats.org/officeDocument/2006/relationships/image" Target="../media/image23.png"/><Relationship Id="rId12" Type="http://schemas.openxmlformats.org/officeDocument/2006/relationships/image" Target="../media/image24.png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Relationship Id="rId4" Type="http://schemas.openxmlformats.org/officeDocument/2006/relationships/image" Target="../media/image14.png"/><Relationship Id="rId9" Type="http://schemas.openxmlformats.org/officeDocument/2006/relationships/image" Target="../media/image20.png"/><Relationship Id="rId14" Type="http://schemas.openxmlformats.org/officeDocument/2006/relationships/image" Target="../media/image1.png"/><Relationship Id="rId5" Type="http://schemas.openxmlformats.org/officeDocument/2006/relationships/image" Target="../media/image16.png"/><Relationship Id="rId6" Type="http://schemas.openxmlformats.org/officeDocument/2006/relationships/image" Target="../media/image4.png"/><Relationship Id="rId7" Type="http://schemas.openxmlformats.org/officeDocument/2006/relationships/image" Target="../media/image18.png"/><Relationship Id="rId8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475950" y="3607775"/>
            <a:ext cx="6912600" cy="29253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descr="1.png" id="55" name="Google Shape;55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95613" y="8890650"/>
            <a:ext cx="1781175" cy="752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2.png" id="56" name="Google Shape;56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950800" y="6858000"/>
            <a:ext cx="1781175" cy="752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3.png" id="57" name="Google Shape;57;p1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27600" y="6858000"/>
            <a:ext cx="1781175" cy="752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4.png" id="58" name="Google Shape;58;p1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27600" y="8890650"/>
            <a:ext cx="1781175" cy="752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5.png" id="59" name="Google Shape;59;p13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27600" y="7874325"/>
            <a:ext cx="1781175" cy="752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6.png" id="60" name="Google Shape;60;p13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274000" y="6858000"/>
            <a:ext cx="1781175" cy="752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7.png" id="61" name="Google Shape;61;p13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5274000" y="7874325"/>
            <a:ext cx="1781175" cy="752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9.png" id="62" name="Google Shape;62;p13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2950788" y="7874325"/>
            <a:ext cx="1781175" cy="752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p13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-3497500" y="-12"/>
            <a:ext cx="3302975" cy="3302975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13"/>
          <p:cNvSpPr txBox="1"/>
          <p:nvPr/>
        </p:nvSpPr>
        <p:spPr>
          <a:xfrm>
            <a:off x="-5329925" y="6717950"/>
            <a:ext cx="5135400" cy="2925300"/>
          </a:xfrm>
          <a:prstGeom prst="rect">
            <a:avLst/>
          </a:prstGeom>
          <a:solidFill>
            <a:srgbClr val="A64D79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Drag and drop (into the center area) the words that correctly identify the novel’s setting.</a:t>
            </a:r>
            <a:endParaRPr b="1" sz="36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 txBox="1"/>
          <p:nvPr/>
        </p:nvSpPr>
        <p:spPr>
          <a:xfrm>
            <a:off x="379050" y="4632125"/>
            <a:ext cx="3483000" cy="46200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/>
              <a:t>Chapter 1</a:t>
            </a:r>
            <a:endParaRPr b="1" sz="2400"/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>
                <a:highlight>
                  <a:srgbClr val="FFFF00"/>
                </a:highlight>
              </a:rPr>
              <a:t>Insert text</a:t>
            </a:r>
            <a:endParaRPr sz="2400">
              <a:highlight>
                <a:srgbClr val="FFFF00"/>
              </a:highlight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>
              <a:highlight>
                <a:srgbClr val="FFFF00"/>
              </a:highlight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</a:rPr>
              <a:t>Chapter 2</a:t>
            </a:r>
            <a:endParaRPr b="1" sz="2400">
              <a:solidFill>
                <a:schemeClr val="dk1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>
              <a:highlight>
                <a:srgbClr val="FFFF00"/>
              </a:highlight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</p:txBody>
      </p:sp>
      <p:sp>
        <p:nvSpPr>
          <p:cNvPr id="70" name="Google Shape;70;p14"/>
          <p:cNvSpPr txBox="1"/>
          <p:nvPr/>
        </p:nvSpPr>
        <p:spPr>
          <a:xfrm>
            <a:off x="3862050" y="4632125"/>
            <a:ext cx="3607500" cy="46200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/>
              <a:t>Chapter 3</a:t>
            </a:r>
            <a:endParaRPr b="1" sz="2400"/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>
                <a:highlight>
                  <a:srgbClr val="FFFF00"/>
                </a:highlight>
              </a:rPr>
              <a:t>Insert text</a:t>
            </a:r>
            <a:endParaRPr sz="2400">
              <a:highlight>
                <a:srgbClr val="FFFF00"/>
              </a:highlight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>
              <a:highlight>
                <a:srgbClr val="FFFF00"/>
              </a:highlight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</p:txBody>
      </p:sp>
      <p:sp>
        <p:nvSpPr>
          <p:cNvPr id="71" name="Google Shape;71;p14"/>
          <p:cNvSpPr txBox="1"/>
          <p:nvPr/>
        </p:nvSpPr>
        <p:spPr>
          <a:xfrm>
            <a:off x="-5329925" y="4519925"/>
            <a:ext cx="5135400" cy="4732200"/>
          </a:xfrm>
          <a:prstGeom prst="rect">
            <a:avLst/>
          </a:prstGeom>
          <a:solidFill>
            <a:srgbClr val="A64D79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For each chapter, record: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eorgia"/>
              <a:buAutoNum type="arabicPeriod"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Chapter’s setting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eorgia"/>
              <a:buAutoNum type="arabicPeriod"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Main events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eorgia"/>
              <a:buAutoNum type="arabicPeriod"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One of the following: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eorgia"/>
              <a:buChar char="●"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Character actions, relationships, traits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eorgia"/>
              <a:buChar char="●"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Internal/external conflicts/challenges, solutions/resolutions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eorgia"/>
              <a:buChar char="●"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Themes, messages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eorgia"/>
              <a:buChar char="●"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Questions, predictions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eorgia"/>
              <a:buChar char="●"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Mood, tone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6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5"/>
          <p:cNvSpPr txBox="1"/>
          <p:nvPr/>
        </p:nvSpPr>
        <p:spPr>
          <a:xfrm>
            <a:off x="554400" y="4356000"/>
            <a:ext cx="6864000" cy="50424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</a:rPr>
              <a:t>From Burris Ewell’s point of view, here is a reimagining of the events of Chapter 3:</a:t>
            </a:r>
            <a:endParaRPr sz="3000">
              <a:solidFill>
                <a:schemeClr val="dk1"/>
              </a:solidFill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Char char="●"/>
            </a:pPr>
            <a:r>
              <a:rPr lang="en" sz="30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30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Char char="●"/>
            </a:pPr>
            <a:r>
              <a:rPr lang="en" sz="30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30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Char char="●"/>
            </a:pPr>
            <a:r>
              <a:rPr lang="en" sz="30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30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</a:rPr>
              <a:t>As a result, </a:t>
            </a:r>
            <a:r>
              <a:rPr lang="en" sz="3000">
                <a:solidFill>
                  <a:schemeClr val="dk1"/>
                </a:solidFill>
              </a:rPr>
              <a:t>Burris likely feels:</a:t>
            </a:r>
            <a:endParaRPr sz="3000">
              <a:solidFill>
                <a:schemeClr val="dk1"/>
              </a:solidFill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Char char="●"/>
            </a:pPr>
            <a:r>
              <a:rPr lang="en" sz="30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3000">
              <a:solidFill>
                <a:schemeClr val="dk1"/>
              </a:solidFill>
              <a:highlight>
                <a:srgbClr val="FFFF00"/>
              </a:highlight>
            </a:endParaRPr>
          </a:p>
        </p:txBody>
      </p:sp>
      <p:sp>
        <p:nvSpPr>
          <p:cNvPr id="77" name="Google Shape;77;p15"/>
          <p:cNvSpPr txBox="1"/>
          <p:nvPr/>
        </p:nvSpPr>
        <p:spPr>
          <a:xfrm>
            <a:off x="-5329925" y="4519925"/>
            <a:ext cx="5135400" cy="4732200"/>
          </a:xfrm>
          <a:prstGeom prst="rect">
            <a:avLst/>
          </a:prstGeom>
          <a:solidFill>
            <a:srgbClr val="A64D79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Discuss at least three of the following (and then discuss how Burris likely feels).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eorgia"/>
              <a:buChar char="●"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His appearance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eorgia"/>
              <a:buChar char="●"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His </a:t>
            </a: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hygiene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eorgia"/>
              <a:buChar char="●"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The language he uses toward the teacher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eorgia"/>
              <a:buChar char="●"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His classmates’ reactions toward Burris or Miss Caroline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eorgia"/>
              <a:buChar char="●"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His departure from the classroom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6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/>
          <p:nvPr/>
        </p:nvSpPr>
        <p:spPr>
          <a:xfrm>
            <a:off x="379050" y="2992050"/>
            <a:ext cx="3483000" cy="62601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/>
              <a:t>Chapter 4</a:t>
            </a:r>
            <a:endParaRPr b="1" sz="2400"/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>
                <a:highlight>
                  <a:srgbClr val="FFFF00"/>
                </a:highlight>
              </a:rPr>
              <a:t>Insert text</a:t>
            </a:r>
            <a:endParaRPr sz="2400">
              <a:highlight>
                <a:srgbClr val="FFFF00"/>
              </a:highlight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>
              <a:highlight>
                <a:srgbClr val="FFFF00"/>
              </a:highlight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</a:rPr>
              <a:t>Chapter 5</a:t>
            </a:r>
            <a:endParaRPr b="1" sz="2400">
              <a:solidFill>
                <a:schemeClr val="dk1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</p:txBody>
      </p:sp>
      <p:sp>
        <p:nvSpPr>
          <p:cNvPr id="83" name="Google Shape;83;p16"/>
          <p:cNvSpPr txBox="1"/>
          <p:nvPr/>
        </p:nvSpPr>
        <p:spPr>
          <a:xfrm>
            <a:off x="3862050" y="2992050"/>
            <a:ext cx="3607500" cy="62601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/>
              <a:t>Chapter 6</a:t>
            </a:r>
            <a:endParaRPr b="1" sz="2400"/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</p:txBody>
      </p:sp>
      <p:sp>
        <p:nvSpPr>
          <p:cNvPr id="84" name="Google Shape;84;p16"/>
          <p:cNvSpPr txBox="1"/>
          <p:nvPr/>
        </p:nvSpPr>
        <p:spPr>
          <a:xfrm>
            <a:off x="-5329925" y="4519925"/>
            <a:ext cx="5135400" cy="4732200"/>
          </a:xfrm>
          <a:prstGeom prst="rect">
            <a:avLst/>
          </a:prstGeom>
          <a:solidFill>
            <a:srgbClr val="A64D79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For each chapter, record: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eorgia"/>
              <a:buAutoNum type="arabicPeriod"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Chapter’s setting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eorgia"/>
              <a:buAutoNum type="arabicPeriod"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Main events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eorgia"/>
              <a:buAutoNum type="arabicPeriod"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One of the following: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eorgia"/>
              <a:buChar char="●"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Character actions, relationships, traits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eorgia"/>
              <a:buChar char="●"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Internal/external conflicts/challenges, solutions/resolutions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eorgia"/>
              <a:buChar char="●"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Themes, messages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eorgia"/>
              <a:buChar char="●"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Questions, predictions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eorgia"/>
              <a:buChar char="●"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Mood, tone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6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/>
          <p:nvPr/>
        </p:nvSpPr>
        <p:spPr>
          <a:xfrm>
            <a:off x="3501350" y="2228125"/>
            <a:ext cx="3883800" cy="70515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571500" rtl="0" algn="l"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n" sz="2400">
                <a:highlight>
                  <a:srgbClr val="FFFF00"/>
                </a:highlight>
              </a:rPr>
              <a:t>Insert text</a:t>
            </a:r>
            <a:endParaRPr sz="2400">
              <a:highlight>
                <a:srgbClr val="FFFF00"/>
              </a:highlight>
            </a:endParaRPr>
          </a:p>
          <a:p>
            <a:pPr indent="-381000" lvl="0" marL="5715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eriod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-381000" lvl="0" marL="5715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eriod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-381000" lvl="0" marL="5715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eriod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-381000" lvl="0" marL="5715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eriod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-381000" lvl="0" marL="5715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eriod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-381000" lvl="0" marL="5715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eriod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-381000" lvl="0" marL="5715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eriod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-381000" lvl="0" marL="5715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eriod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-381000" lvl="0" marL="5715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eriod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>
              <a:highlight>
                <a:srgbClr val="FFFF00"/>
              </a:highlight>
            </a:endParaRPr>
          </a:p>
        </p:txBody>
      </p:sp>
      <p:sp>
        <p:nvSpPr>
          <p:cNvPr id="90" name="Google Shape;90;p17"/>
          <p:cNvSpPr txBox="1"/>
          <p:nvPr/>
        </p:nvSpPr>
        <p:spPr>
          <a:xfrm>
            <a:off x="-8214075" y="678900"/>
            <a:ext cx="2677500" cy="9379500"/>
          </a:xfrm>
          <a:prstGeom prst="rect">
            <a:avLst/>
          </a:prstGeom>
          <a:solidFill>
            <a:srgbClr val="A64D79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Absent-minded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Aggressive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Ambitious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Boastful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Bold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Bossy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Brave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Calm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Careful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Caring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Compassionate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Compliant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Creative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Cruel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Curious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Determined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Distrustful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Dreamy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Empathetic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Energetic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Fair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Focused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Friendly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Hardworking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Helpful</a:t>
            </a:r>
            <a:endParaRPr b="1" sz="36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91" name="Google Shape;91;p17"/>
          <p:cNvSpPr txBox="1"/>
          <p:nvPr/>
        </p:nvSpPr>
        <p:spPr>
          <a:xfrm>
            <a:off x="-8214075" y="0"/>
            <a:ext cx="8019600" cy="569100"/>
          </a:xfrm>
          <a:prstGeom prst="rect">
            <a:avLst/>
          </a:prstGeom>
          <a:solidFill>
            <a:srgbClr val="A64D7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Character Trait Word Bank</a:t>
            </a:r>
            <a:endParaRPr b="1" sz="36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92" name="Google Shape;92;p17"/>
          <p:cNvSpPr txBox="1"/>
          <p:nvPr/>
        </p:nvSpPr>
        <p:spPr>
          <a:xfrm>
            <a:off x="10631350" y="2588875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93" name="Google Shape;93;p17"/>
          <p:cNvSpPr txBox="1"/>
          <p:nvPr/>
        </p:nvSpPr>
        <p:spPr>
          <a:xfrm>
            <a:off x="-5536450" y="678900"/>
            <a:ext cx="2664300" cy="9379500"/>
          </a:xfrm>
          <a:prstGeom prst="rect">
            <a:avLst/>
          </a:prstGeom>
          <a:solidFill>
            <a:srgbClr val="A64D79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Honest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Humble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Imaginative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Independent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Jealous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Kind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Lazy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Loud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Loyal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Mature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Mean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Mysterious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Nosy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Nurturing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Observant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Overconfident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Patient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Persistent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Polite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Principled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Protective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Pushy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Quiet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Reckless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Reflective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94" name="Google Shape;94;p17"/>
          <p:cNvSpPr txBox="1"/>
          <p:nvPr/>
        </p:nvSpPr>
        <p:spPr>
          <a:xfrm>
            <a:off x="-2872025" y="678900"/>
            <a:ext cx="2677500" cy="9379500"/>
          </a:xfrm>
          <a:prstGeom prst="rect">
            <a:avLst/>
          </a:prstGeom>
          <a:solidFill>
            <a:srgbClr val="A64D79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Reserved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Resilient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Responsible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Rude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Selfish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Serious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Shy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Simple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Smart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Sneaky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Stubborn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Thoughtful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Thoughtless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Trustworthy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Understanding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Watchful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Withdrawn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3-1.png" id="99" name="Google Shape;99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65275" y="5591700"/>
            <a:ext cx="2124075" cy="428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3-2.png" id="100" name="Google Shape;100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365275" y="7991288"/>
            <a:ext cx="2124075" cy="428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3-3.png" id="101" name="Google Shape;101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365275" y="4468025"/>
            <a:ext cx="2124075" cy="428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3-4.png" id="102" name="Google Shape;102;p1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365275" y="6160275"/>
            <a:ext cx="2124075" cy="428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3-5.png" id="103" name="Google Shape;103;p1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365275" y="6806213"/>
            <a:ext cx="2124075" cy="428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3-6.png" id="104" name="Google Shape;104;p18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365275" y="3121875"/>
            <a:ext cx="2124075" cy="428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3-7.png" id="105" name="Google Shape;105;p18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5365275" y="8653225"/>
            <a:ext cx="2124075" cy="428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3-8.png" id="106" name="Google Shape;106;p18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5365275" y="7329375"/>
            <a:ext cx="2124075" cy="428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3-9.png" id="107" name="Google Shape;107;p18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5365275" y="5023113"/>
            <a:ext cx="2124075" cy="428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3-10.png" id="108" name="Google Shape;108;p18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5365275" y="3794950"/>
            <a:ext cx="2124075" cy="428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8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7966925" y="-1"/>
            <a:ext cx="2925300" cy="292530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8"/>
          <p:cNvSpPr txBox="1"/>
          <p:nvPr/>
        </p:nvSpPr>
        <p:spPr>
          <a:xfrm>
            <a:off x="7966925" y="3121875"/>
            <a:ext cx="5135400" cy="2925300"/>
          </a:xfrm>
          <a:prstGeom prst="rect">
            <a:avLst/>
          </a:prstGeom>
          <a:solidFill>
            <a:srgbClr val="A64D79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Drag and drop each</a:t>
            </a:r>
            <a:r>
              <a:rPr b="1" lang="en" sz="36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 character</a:t>
            </a:r>
            <a:r>
              <a:rPr b="1" lang="en" sz="36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 into the correct area.</a:t>
            </a:r>
            <a:endParaRPr b="1" sz="36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9"/>
          <p:cNvSpPr txBox="1"/>
          <p:nvPr/>
        </p:nvSpPr>
        <p:spPr>
          <a:xfrm>
            <a:off x="4265575" y="7631800"/>
            <a:ext cx="3292500" cy="1227600"/>
          </a:xfrm>
          <a:prstGeom prst="rect">
            <a:avLst/>
          </a:prstGeom>
          <a:solidFill>
            <a:srgbClr val="0D00FF">
              <a:alpha val="4063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Chapters 1-6</a:t>
            </a:r>
            <a:endParaRPr sz="3400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