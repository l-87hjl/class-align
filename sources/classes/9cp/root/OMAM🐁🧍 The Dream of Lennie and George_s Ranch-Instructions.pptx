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22278975" cx="15754350"/>
  <p:notesSz cx="6858000" cy="9144000"/>
  <p:embeddedFontLst>
    <p:embeddedFont>
      <p:font typeface="Barlow"/>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Barlow-boldItalic.fntdata"/><Relationship Id="rId10" Type="http://schemas.openxmlformats.org/officeDocument/2006/relationships/font" Target="fonts/Barlow-italic.fntdata"/><Relationship Id="rId9" Type="http://schemas.openxmlformats.org/officeDocument/2006/relationships/font" Target="fonts/Barlow-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Barl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3efe7e8efd_0_5: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3efe7e8e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25" y="7074610"/>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77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16210150" y="39925"/>
            <a:ext cx="9822000" cy="806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txBox="1"/>
          <p:nvPr/>
        </p:nvSpPr>
        <p:spPr>
          <a:xfrm>
            <a:off x="16210150" y="79850"/>
            <a:ext cx="10860000" cy="56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0">
                <a:solidFill>
                  <a:schemeClr val="dk1"/>
                </a:solidFill>
                <a:latin typeface="Barlow"/>
                <a:ea typeface="Barlow"/>
                <a:cs typeface="Barlow"/>
                <a:sym typeface="Barlow"/>
              </a:rPr>
              <a:t>Assignment Summary</a:t>
            </a:r>
            <a:endParaRPr b="1" sz="6000">
              <a:solidFill>
                <a:schemeClr val="dk1"/>
              </a:solidFill>
              <a:latin typeface="Barlow"/>
              <a:ea typeface="Barlow"/>
              <a:cs typeface="Barlow"/>
              <a:sym typeface="Barlow"/>
            </a:endParaRPr>
          </a:p>
          <a:p>
            <a:pPr indent="-609600" lvl="0" marL="457200" rtl="0" algn="l">
              <a:spcBef>
                <a:spcPts val="0"/>
              </a:spcBef>
              <a:spcAft>
                <a:spcPts val="0"/>
              </a:spcAft>
              <a:buClr>
                <a:schemeClr val="dk1"/>
              </a:buClr>
              <a:buSzPts val="6000"/>
              <a:buFont typeface="Barlow"/>
              <a:buChar char="●"/>
            </a:pPr>
            <a:r>
              <a:rPr lang="en" sz="6000">
                <a:solidFill>
                  <a:schemeClr val="dk1"/>
                </a:solidFill>
                <a:latin typeface="Barlow"/>
                <a:ea typeface="Barlow"/>
                <a:cs typeface="Barlow"/>
                <a:sym typeface="Barlow"/>
              </a:rPr>
              <a:t>Five (5) or more images</a:t>
            </a:r>
            <a:endParaRPr sz="6000">
              <a:solidFill>
                <a:schemeClr val="dk1"/>
              </a:solidFill>
              <a:latin typeface="Barlow"/>
              <a:ea typeface="Barlow"/>
              <a:cs typeface="Barlow"/>
              <a:sym typeface="Barlow"/>
            </a:endParaRPr>
          </a:p>
          <a:p>
            <a:pPr indent="-609600" lvl="0" marL="457200" rtl="0" algn="l">
              <a:spcBef>
                <a:spcPts val="0"/>
              </a:spcBef>
              <a:spcAft>
                <a:spcPts val="0"/>
              </a:spcAft>
              <a:buClr>
                <a:schemeClr val="dk1"/>
              </a:buClr>
              <a:buSzPts val="6000"/>
              <a:buFont typeface="Barlow"/>
              <a:buChar char="●"/>
            </a:pPr>
            <a:r>
              <a:rPr lang="en" sz="6000">
                <a:solidFill>
                  <a:schemeClr val="dk1"/>
                </a:solidFill>
                <a:latin typeface="Barlow"/>
                <a:ea typeface="Barlow"/>
                <a:cs typeface="Barlow"/>
                <a:sym typeface="Barlow"/>
              </a:rPr>
              <a:t>Five (5) properly cited quotes that correspond with the images</a:t>
            </a:r>
            <a:endParaRPr/>
          </a:p>
        </p:txBody>
      </p:sp>
      <p:sp>
        <p:nvSpPr>
          <p:cNvPr id="59" name="Google Shape;59;p13"/>
          <p:cNvSpPr txBox="1"/>
          <p:nvPr/>
        </p:nvSpPr>
        <p:spPr>
          <a:xfrm>
            <a:off x="16210150" y="5510000"/>
            <a:ext cx="10860000" cy="56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0">
                <a:solidFill>
                  <a:schemeClr val="dk1"/>
                </a:solidFill>
                <a:latin typeface="Barlow"/>
                <a:ea typeface="Barlow"/>
                <a:cs typeface="Barlow"/>
                <a:sym typeface="Barlow"/>
              </a:rPr>
              <a:t>Helpful Hint</a:t>
            </a:r>
            <a:endParaRPr b="1" sz="6000">
              <a:solidFill>
                <a:schemeClr val="dk1"/>
              </a:solidFill>
              <a:latin typeface="Barlow"/>
              <a:ea typeface="Barlow"/>
              <a:cs typeface="Barlow"/>
              <a:sym typeface="Barlow"/>
            </a:endParaRPr>
          </a:p>
          <a:p>
            <a:pPr indent="-609600" lvl="0" marL="457200" rtl="0" algn="l">
              <a:spcBef>
                <a:spcPts val="0"/>
              </a:spcBef>
              <a:spcAft>
                <a:spcPts val="0"/>
              </a:spcAft>
              <a:buClr>
                <a:schemeClr val="dk1"/>
              </a:buClr>
              <a:buSzPts val="6000"/>
              <a:buFont typeface="Barlow"/>
              <a:buChar char="●"/>
            </a:pPr>
            <a:r>
              <a:rPr lang="en" sz="6000">
                <a:solidFill>
                  <a:schemeClr val="dk1"/>
                </a:solidFill>
                <a:latin typeface="Barlow"/>
                <a:ea typeface="Barlow"/>
                <a:cs typeface="Barlow"/>
                <a:sym typeface="Barlow"/>
              </a:rPr>
              <a:t>When searching, use search terms like “transparent” and “clipart”</a:t>
            </a:r>
            <a:endParaRPr sz="6000">
              <a:solidFill>
                <a:schemeClr val="dk1"/>
              </a:solidFill>
              <a:latin typeface="Barlow"/>
              <a:ea typeface="Barlow"/>
              <a:cs typeface="Barlow"/>
              <a:sym typeface="Barlow"/>
            </a:endParaRPr>
          </a:p>
          <a:p>
            <a:pPr indent="-609600" lvl="0" marL="457200" rtl="0" algn="l">
              <a:spcBef>
                <a:spcPts val="0"/>
              </a:spcBef>
              <a:spcAft>
                <a:spcPts val="0"/>
              </a:spcAft>
              <a:buClr>
                <a:schemeClr val="dk1"/>
              </a:buClr>
              <a:buSzPts val="6000"/>
              <a:buFont typeface="Barlow"/>
              <a:buChar char="●"/>
            </a:pPr>
            <a:r>
              <a:rPr lang="en" sz="6000">
                <a:solidFill>
                  <a:schemeClr val="dk1"/>
                </a:solidFill>
                <a:latin typeface="Barlow"/>
                <a:ea typeface="Barlow"/>
                <a:cs typeface="Barlow"/>
                <a:sym typeface="Barlow"/>
              </a:rPr>
              <a:t>In Kami, make sure the “select arrow” is selected. Then copy and paste quotes from the PDF.</a:t>
            </a:r>
            <a:endParaRPr sz="6000">
              <a:solidFill>
                <a:schemeClr val="dk1"/>
              </a:solidFill>
              <a:latin typeface="Barlow"/>
              <a:ea typeface="Barlow"/>
              <a:cs typeface="Barlow"/>
              <a:sym typeface="Barlow"/>
            </a:endParaRPr>
          </a:p>
          <a:p>
            <a:pPr indent="-609600" lvl="0" marL="457200" rtl="0" algn="l">
              <a:spcBef>
                <a:spcPts val="0"/>
              </a:spcBef>
              <a:spcAft>
                <a:spcPts val="0"/>
              </a:spcAft>
              <a:buClr>
                <a:schemeClr val="dk1"/>
              </a:buClr>
              <a:buSzPts val="6000"/>
              <a:buFont typeface="Barlow"/>
              <a:buChar char="●"/>
            </a:pPr>
            <a:r>
              <a:rPr lang="en" sz="6000">
                <a:solidFill>
                  <a:schemeClr val="dk1"/>
                </a:solidFill>
                <a:latin typeface="Barlow"/>
                <a:ea typeface="Barlow"/>
                <a:cs typeface="Barlow"/>
                <a:sym typeface="Barlow"/>
              </a:rPr>
              <a:t>Cite like this: “__________” (Steinbeck __). </a:t>
            </a:r>
            <a:endParaRPr sz="6000">
              <a:solidFill>
                <a:schemeClr val="dk1"/>
              </a:solidFill>
              <a:latin typeface="Barlow"/>
              <a:ea typeface="Barlow"/>
              <a:cs typeface="Barlow"/>
              <a:sym typeface="Barlow"/>
            </a:endParaRPr>
          </a:p>
        </p:txBody>
      </p:sp>
      <p:pic>
        <p:nvPicPr>
          <p:cNvPr id="60" name="Google Shape;60;p13"/>
          <p:cNvPicPr preferRelativeResize="0"/>
          <p:nvPr/>
        </p:nvPicPr>
        <p:blipFill rotWithShape="1">
          <a:blip r:embed="rId5">
            <a:alphaModFix/>
          </a:blip>
          <a:srcRect b="21340" l="0" r="0" t="0"/>
          <a:stretch/>
        </p:blipFill>
        <p:spPr>
          <a:xfrm>
            <a:off x="16210150" y="15803600"/>
            <a:ext cx="14634924" cy="6475375"/>
          </a:xfrm>
          <a:prstGeom prst="rect">
            <a:avLst/>
          </a:prstGeom>
          <a:noFill/>
          <a:ln>
            <a:noFill/>
          </a:ln>
        </p:spPr>
      </p:pic>
      <p:pic>
        <p:nvPicPr>
          <p:cNvPr id="61" name="Google Shape;61;p13"/>
          <p:cNvPicPr preferRelativeResize="0"/>
          <p:nvPr/>
        </p:nvPicPr>
        <p:blipFill>
          <a:blip r:embed="rId6">
            <a:alphaModFix/>
          </a:blip>
          <a:stretch>
            <a:fillRect/>
          </a:stretch>
        </p:blipFill>
        <p:spPr>
          <a:xfrm>
            <a:off x="27070150" y="9754663"/>
            <a:ext cx="2003625" cy="2003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4"/>
          <p:cNvPicPr preferRelativeResize="0"/>
          <p:nvPr/>
        </p:nvPicPr>
        <p:blipFill>
          <a:blip r:embed="rId3">
            <a:alphaModFix/>
          </a:blip>
          <a:stretch>
            <a:fillRect/>
          </a:stretch>
        </p:blipFill>
        <p:spPr>
          <a:xfrm>
            <a:off x="152400" y="6380925"/>
            <a:ext cx="15449549" cy="10923314"/>
          </a:xfrm>
          <a:prstGeom prst="rect">
            <a:avLst/>
          </a:prstGeom>
          <a:noFill/>
          <a:ln>
            <a:noFill/>
          </a:ln>
        </p:spPr>
      </p:pic>
      <p:sp>
        <p:nvSpPr>
          <p:cNvPr id="67" name="Google Shape;67;p14"/>
          <p:cNvSpPr txBox="1"/>
          <p:nvPr/>
        </p:nvSpPr>
        <p:spPr>
          <a:xfrm>
            <a:off x="4471750" y="3393750"/>
            <a:ext cx="10540500" cy="1756800"/>
          </a:xfrm>
          <a:prstGeom prst="rect">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Georgia"/>
                <a:ea typeface="Georgia"/>
                <a:cs typeface="Georgia"/>
                <a:sym typeface="Georgia"/>
              </a:rPr>
              <a:t>“[W]e’re gonna have a little house and a couple of acres an’ a cow and some pigs” (Steinbeck 16).</a:t>
            </a:r>
            <a:endParaRPr sz="3600">
              <a:latin typeface="Georgia"/>
              <a:ea typeface="Georgia"/>
              <a:cs typeface="Georgia"/>
              <a:sym typeface="Georgia"/>
            </a:endParaRPr>
          </a:p>
        </p:txBody>
      </p:sp>
      <p:pic>
        <p:nvPicPr>
          <p:cNvPr id="68" name="Google Shape;68;p14"/>
          <p:cNvPicPr preferRelativeResize="0"/>
          <p:nvPr/>
        </p:nvPicPr>
        <p:blipFill>
          <a:blip r:embed="rId4">
            <a:alphaModFix/>
          </a:blip>
          <a:stretch>
            <a:fillRect/>
          </a:stretch>
        </p:blipFill>
        <p:spPr>
          <a:xfrm>
            <a:off x="10932550" y="10070275"/>
            <a:ext cx="3352975" cy="2682375"/>
          </a:xfrm>
          <a:prstGeom prst="rect">
            <a:avLst/>
          </a:prstGeom>
          <a:noFill/>
          <a:ln>
            <a:noFill/>
          </a:ln>
        </p:spPr>
      </p:pic>
      <p:cxnSp>
        <p:nvCxnSpPr>
          <p:cNvPr id="69" name="Google Shape;69;p14"/>
          <p:cNvCxnSpPr>
            <a:stCxn id="67" idx="2"/>
            <a:endCxn id="68" idx="0"/>
          </p:cNvCxnSpPr>
          <p:nvPr/>
        </p:nvCxnSpPr>
        <p:spPr>
          <a:xfrm>
            <a:off x="9742000" y="5150550"/>
            <a:ext cx="2867100" cy="4919700"/>
          </a:xfrm>
          <a:prstGeom prst="straightConnector1">
            <a:avLst/>
          </a:prstGeom>
          <a:noFill/>
          <a:ln cap="flat" cmpd="sng" w="76200">
            <a:solidFill>
              <a:srgbClr val="00FF00"/>
            </a:solidFill>
            <a:prstDash val="solid"/>
            <a:round/>
            <a:headEnd len="med" w="med" type="none"/>
            <a:tailEnd len="med" w="med" type="triangle"/>
          </a:ln>
        </p:spPr>
      </p:cxnSp>
      <p:sp>
        <p:nvSpPr>
          <p:cNvPr id="70" name="Google Shape;70;p14"/>
          <p:cNvSpPr txBox="1"/>
          <p:nvPr/>
        </p:nvSpPr>
        <p:spPr>
          <a:xfrm>
            <a:off x="239650" y="239550"/>
            <a:ext cx="4232100" cy="15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chemeClr val="dk1"/>
                </a:solidFill>
                <a:latin typeface="Barlow"/>
                <a:ea typeface="Barlow"/>
                <a:cs typeface="Barlow"/>
                <a:sym typeface="Barlow"/>
              </a:rPr>
              <a:t>Example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