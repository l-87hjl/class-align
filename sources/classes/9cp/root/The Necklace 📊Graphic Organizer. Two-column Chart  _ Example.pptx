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7335B7-C1E6-41D9-AF23-CB65829201F3}">
  <a:tblStyle styleId="{477335B7-C1E6-41D9-AF23-CB65829201F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2c618add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2c618add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266625"/>
            <a:ext cx="8520600" cy="688800"/>
          </a:xfrm>
          <a:prstGeom prst="rect">
            <a:avLst/>
          </a:prstGeom>
          <a:solidFill>
            <a:srgbClr val="CCCCCC"/>
          </a:solidFill>
        </p:spPr>
        <p:txBody>
          <a:bodyPr anchorCtr="0" anchor="t" bIns="91425" lIns="91425" spcFirstLastPara="1" rIns="91425" wrap="square" tIns="91425">
            <a:noAutofit/>
          </a:bodyPr>
          <a:lstStyle/>
          <a:p>
            <a:pPr indent="0" lvl="0" marL="0" rtl="0" algn="l">
              <a:spcBef>
                <a:spcPts val="0"/>
              </a:spcBef>
              <a:spcAft>
                <a:spcPts val="0"/>
              </a:spcAft>
              <a:buNone/>
            </a:pPr>
            <a:r>
              <a:rPr lang="en" sz="1200"/>
              <a:t>Instructions: Use this two-column chart to compare and contrast Mathilde’s thoughts, feelings and appearance at the beginning of the story with her thoughts, feelings and appearance at the end. In each cell of the </a:t>
            </a:r>
            <a:r>
              <a:rPr lang="en" sz="1200"/>
              <a:t>table</a:t>
            </a:r>
            <a:r>
              <a:rPr lang="en" sz="1200"/>
              <a:t>, include one quote and citation. </a:t>
            </a:r>
            <a:endParaRPr sz="1200"/>
          </a:p>
        </p:txBody>
      </p:sp>
      <p:graphicFrame>
        <p:nvGraphicFramePr>
          <p:cNvPr id="55" name="Google Shape;55;p13"/>
          <p:cNvGraphicFramePr/>
          <p:nvPr/>
        </p:nvGraphicFramePr>
        <p:xfrm>
          <a:off x="311713" y="1062175"/>
          <a:ext cx="3000000" cy="3000000"/>
        </p:xfrm>
        <a:graphic>
          <a:graphicData uri="http://schemas.openxmlformats.org/drawingml/2006/table">
            <a:tbl>
              <a:tblPr>
                <a:noFill/>
                <a:tableStyleId>{477335B7-C1E6-41D9-AF23-CB65829201F3}</a:tableStyleId>
              </a:tblPr>
              <a:tblGrid>
                <a:gridCol w="1167875"/>
                <a:gridCol w="3904500"/>
                <a:gridCol w="3448200"/>
              </a:tblGrid>
              <a:tr h="470400">
                <a:tc gridSpan="3">
                  <a:txBody>
                    <a:bodyPr/>
                    <a:lstStyle/>
                    <a:p>
                      <a:pPr indent="0" lvl="0" marL="0" rtl="0" algn="ctr">
                        <a:spcBef>
                          <a:spcPts val="0"/>
                        </a:spcBef>
                        <a:spcAft>
                          <a:spcPts val="0"/>
                        </a:spcAft>
                        <a:buNone/>
                      </a:pPr>
                      <a:r>
                        <a:rPr b="1" lang="en" sz="2000"/>
                        <a:t>Mathilde Loisel</a:t>
                      </a:r>
                      <a:endParaRPr b="1" sz="2000"/>
                    </a:p>
                  </a:txBody>
                  <a:tcPr marT="91425" marB="91425" marR="91425" marL="91425" anchor="ctr">
                    <a:solidFill>
                      <a:srgbClr val="CCCCCC"/>
                    </a:solidFill>
                  </a:tcPr>
                </a:tc>
                <a:tc hMerge="1"/>
                <a:tc hMerge="1"/>
              </a:tr>
              <a:tr h="537025">
                <a:tc>
                  <a:txBody>
                    <a:bodyPr/>
                    <a:lstStyle/>
                    <a:p>
                      <a:pPr indent="0" lvl="0" marL="0" rtl="0" algn="ctr">
                        <a:spcBef>
                          <a:spcPts val="0"/>
                        </a:spcBef>
                        <a:spcAft>
                          <a:spcPts val="0"/>
                        </a:spcAft>
                        <a:buNone/>
                      </a:pPr>
                      <a:r>
                        <a:t/>
                      </a:r>
                      <a:endParaRPr/>
                    </a:p>
                  </a:txBody>
                  <a:tcPr marT="91425" marB="91425" marR="91425" marL="91425">
                    <a:solidFill>
                      <a:srgbClr val="CCCCCC"/>
                    </a:solidFill>
                  </a:tcPr>
                </a:tc>
                <a:tc>
                  <a:txBody>
                    <a:bodyPr/>
                    <a:lstStyle/>
                    <a:p>
                      <a:pPr indent="0" lvl="0" marL="0" rtl="0" algn="ctr">
                        <a:spcBef>
                          <a:spcPts val="0"/>
                        </a:spcBef>
                        <a:spcAft>
                          <a:spcPts val="0"/>
                        </a:spcAft>
                        <a:buNone/>
                      </a:pPr>
                      <a:r>
                        <a:rPr lang="en"/>
                        <a:t>Beginning of “The Necklace”</a:t>
                      </a:r>
                      <a:endParaRPr/>
                    </a:p>
                  </a:txBody>
                  <a:tcPr marT="91425" marB="91425" marR="91425" marL="91425" anchor="ctr">
                    <a:solidFill>
                      <a:srgbClr val="CCCCCC"/>
                    </a:solidFill>
                  </a:tcPr>
                </a:tc>
                <a:tc>
                  <a:txBody>
                    <a:bodyPr/>
                    <a:lstStyle/>
                    <a:p>
                      <a:pPr indent="0" lvl="0" marL="0" rtl="0" algn="ctr">
                        <a:spcBef>
                          <a:spcPts val="0"/>
                        </a:spcBef>
                        <a:spcAft>
                          <a:spcPts val="0"/>
                        </a:spcAft>
                        <a:buNone/>
                      </a:pPr>
                      <a:r>
                        <a:rPr lang="en"/>
                        <a:t>End of “The Necklace”</a:t>
                      </a:r>
                      <a:endParaRPr/>
                    </a:p>
                  </a:txBody>
                  <a:tcPr marT="91425" marB="91425" marR="91425" marL="91425" anchor="ctr">
                    <a:solidFill>
                      <a:srgbClr val="CCCCCC"/>
                    </a:solidFill>
                  </a:tcPr>
                </a:tc>
              </a:tr>
              <a:tr h="928775">
                <a:tc>
                  <a:txBody>
                    <a:bodyPr/>
                    <a:lstStyle/>
                    <a:p>
                      <a:pPr indent="0" lvl="0" marL="0" rtl="0" algn="ctr">
                        <a:spcBef>
                          <a:spcPts val="0"/>
                        </a:spcBef>
                        <a:spcAft>
                          <a:spcPts val="0"/>
                        </a:spcAft>
                        <a:buNone/>
                      </a:pPr>
                      <a:r>
                        <a:rPr lang="en"/>
                        <a:t>Thoughts</a:t>
                      </a:r>
                      <a:endParaRPr/>
                    </a:p>
                  </a:txBody>
                  <a:tcPr marT="91425" marB="91425" marR="91425" marL="91425" anchor="ctr">
                    <a:solidFill>
                      <a:srgbClr val="CCCCCC"/>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“__________” (de Maupassant ¶__)</a:t>
                      </a:r>
                      <a:endParaRPr/>
                    </a:p>
                  </a:txBody>
                  <a:tcPr marT="91425" marB="91425" marR="91425" marL="91425">
                    <a:solidFill>
                      <a:srgbClr val="FFFF00"/>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“__________” (de Maupassant ¶__)</a:t>
                      </a:r>
                      <a:endParaRPr/>
                    </a:p>
                  </a:txBody>
                  <a:tcPr marT="91425" marB="91425" marR="91425" marL="91425">
                    <a:solidFill>
                      <a:srgbClr val="FFFF00"/>
                    </a:solidFill>
                  </a:tcPr>
                </a:tc>
              </a:tr>
              <a:tr h="928775">
                <a:tc>
                  <a:txBody>
                    <a:bodyPr/>
                    <a:lstStyle/>
                    <a:p>
                      <a:pPr indent="0" lvl="0" marL="0" rtl="0" algn="ctr">
                        <a:spcBef>
                          <a:spcPts val="0"/>
                        </a:spcBef>
                        <a:spcAft>
                          <a:spcPts val="0"/>
                        </a:spcAft>
                        <a:buNone/>
                      </a:pPr>
                      <a:r>
                        <a:rPr lang="en"/>
                        <a:t>Feelings</a:t>
                      </a:r>
                      <a:endParaRPr/>
                    </a:p>
                  </a:txBody>
                  <a:tcPr marT="91425" marB="91425" marR="91425" marL="91425" anchor="ctr">
                    <a:solidFill>
                      <a:srgbClr val="CCCCCC"/>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“Mathilde suffered ceaselessly, feeling herself born to enjoy all delicacies and all luxuries” (de Maupassant ¶3)</a:t>
                      </a:r>
                      <a:endParaRPr>
                        <a:solidFill>
                          <a:schemeClr val="dk1"/>
                        </a:solidFill>
                      </a:endParaRPr>
                    </a:p>
                  </a:txBody>
                  <a:tcPr marT="91425" marB="91425" marR="91425" marL="91425">
                    <a:solidFill>
                      <a:schemeClr val="lt1"/>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“__________” (de Maupassant ¶__)</a:t>
                      </a:r>
                      <a:endParaRPr/>
                    </a:p>
                  </a:txBody>
                  <a:tcPr marT="91425" marB="91425" marR="91425" marL="91425">
                    <a:solidFill>
                      <a:srgbClr val="FFFF00"/>
                    </a:solidFill>
                  </a:tcPr>
                </a:tc>
              </a:tr>
              <a:tr h="928775">
                <a:tc>
                  <a:txBody>
                    <a:bodyPr/>
                    <a:lstStyle/>
                    <a:p>
                      <a:pPr indent="0" lvl="0" marL="0" rtl="0" algn="ctr">
                        <a:spcBef>
                          <a:spcPts val="0"/>
                        </a:spcBef>
                        <a:spcAft>
                          <a:spcPts val="0"/>
                        </a:spcAft>
                        <a:buNone/>
                      </a:pPr>
                      <a:r>
                        <a:rPr lang="en"/>
                        <a:t>Appearance</a:t>
                      </a:r>
                      <a:endParaRPr/>
                    </a:p>
                  </a:txBody>
                  <a:tcPr marT="91425" marB="91425" marR="91425" marL="91425" anchor="ctr">
                    <a:solidFill>
                      <a:srgbClr val="CCCCCC"/>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“__________” (de Maupassant ¶__)</a:t>
                      </a:r>
                      <a:endParaRPr/>
                    </a:p>
                  </a:txBody>
                  <a:tcPr marT="91425" marB="91425" marR="91425" marL="91425">
                    <a:solidFill>
                      <a:srgbClr val="FFFF00"/>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“__________” (de Maupassant ¶__)</a:t>
                      </a:r>
                      <a:endParaRPr/>
                    </a:p>
                  </a:txBody>
                  <a:tcPr marT="91425" marB="91425" marR="91425" marL="91425">
                    <a:solidFill>
                      <a:srgbClr val="FFFF00"/>
                    </a:solid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