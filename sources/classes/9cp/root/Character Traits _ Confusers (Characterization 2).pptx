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5"/>
    <p:sldMasterId id="214748371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Albert Sans"/>
      <p:regular r:id="rId30"/>
      <p:bold r:id="rId31"/>
      <p:italic r:id="rId32"/>
      <p:boldItalic r:id="rId33"/>
    </p:embeddedFont>
    <p:embeddedFont>
      <p:font typeface="Nanum Myeongjo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D64F53-E004-4CF2-A60D-FE954EB2C276}">
  <a:tblStyle styleId="{73D64F53-E004-4CF2-A60D-FE954EB2C2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lbertSans-bold.fntdata"/><Relationship Id="rId30" Type="http://schemas.openxmlformats.org/officeDocument/2006/relationships/font" Target="fonts/AlbertSans-regular.fntdata"/><Relationship Id="rId33" Type="http://schemas.openxmlformats.org/officeDocument/2006/relationships/font" Target="fonts/AlbertSans-boldItalic.fntdata"/><Relationship Id="rId32" Type="http://schemas.openxmlformats.org/officeDocument/2006/relationships/font" Target="fonts/AlbertSans-italic.fntdata"/><Relationship Id="rId35" Type="http://schemas.openxmlformats.org/officeDocument/2006/relationships/font" Target="fonts/NanumMyeongjo-bold.fntdata"/><Relationship Id="rId34" Type="http://schemas.openxmlformats.org/officeDocument/2006/relationships/font" Target="fonts/NanumMyeongjo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4f239109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4f239109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18ca791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18ca791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5787a2a3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55787a2a3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5787a2a3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5787a2a3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5787a2a3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55787a2a3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5787a2a3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5787a2a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5787a2a3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55787a2a3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55787a2a3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55787a2a3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5787a2a3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5787a2a3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518ca7916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518ca7916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518ca7916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518ca7916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54f9c126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54f9c126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55082a639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55082a639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55082a639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55082a639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18ca7916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18ca7916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18ca7916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18ca7916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4f2391097a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4f2391097a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5002e6da3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5002e6da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5002e6da3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5002e6da3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5002e6da3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5002e6da3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518ca7916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518ca7916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518ca7916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518ca7916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8" name="Google Shape;58;p14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9" name="Google Shape;59;p14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60" name="Google Shape;60;p14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List of 4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15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Purple">
  <p:cSld name="CUSTOM"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Green">
  <p:cSld name="CUSTOM_5">
    <p:bg>
      <p:bgPr>
        <a:solidFill>
          <a:schemeClr val="accen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17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Teal">
  <p:cSld name="CUSTOM_5_1">
    <p:bg>
      <p:bgPr>
        <a:solidFill>
          <a:schemeClr val="accen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8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Blue">
  <p:cSld name="CUSTOM_5_1_1">
    <p:bg>
      <p:bgPr>
        <a:solidFill>
          <a:schemeClr val="accent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9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2" name="Google Shape;92;p20"/>
          <p:cNvSpPr/>
          <p:nvPr>
            <p:ph idx="4" type="pic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fmla="val 3848" name="adj1"/>
              <a:gd fmla="val 0" name="adj2"/>
            </a:avLst>
          </a:prstGeom>
          <a:noFill/>
          <a:ln>
            <a:noFill/>
          </a:ln>
        </p:spPr>
      </p:sp>
      <p:sp>
        <p:nvSpPr>
          <p:cNvPr id="93" name="Google Shape;93;p20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"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>
            <p:ph idx="2" type="pic"/>
          </p:nvPr>
        </p:nvSpPr>
        <p:spPr>
          <a:xfrm>
            <a:off x="120000" y="114300"/>
            <a:ext cx="8904000" cy="49149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+ Content">
  <p:cSld name="CUSTOM_3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2" type="body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1" name="Google Shape;101;p22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/>
          <p:nvPr>
            <p:ph idx="5" type="pic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3" name="Google Shape;103;p22"/>
          <p:cNvSpPr/>
          <p:nvPr>
            <p:ph idx="6" type="pic"/>
          </p:nvPr>
        </p:nvSpPr>
        <p:spPr>
          <a:xfrm>
            <a:off x="2486554" y="22352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4" name="Google Shape;104;p22"/>
          <p:cNvSpPr/>
          <p:nvPr>
            <p:ph idx="7" type="pic"/>
          </p:nvPr>
        </p:nvSpPr>
        <p:spPr>
          <a:xfrm flipH="1" rot="10800000">
            <a:off x="2486554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105" name="Google Shape;105;p22"/>
          <p:cNvSpPr/>
          <p:nvPr>
            <p:ph idx="8" type="pic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_1"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>
            <p:ph idx="2" type="pic"/>
          </p:nvPr>
        </p:nvSpPr>
        <p:spPr>
          <a:xfrm>
            <a:off x="114275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08" name="Google Shape;108;p23"/>
          <p:cNvSpPr/>
          <p:nvPr>
            <p:ph idx="3" type="pic"/>
          </p:nvPr>
        </p:nvSpPr>
        <p:spPr>
          <a:xfrm>
            <a:off x="3117080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09" name="Google Shape;109;p23"/>
          <p:cNvSpPr/>
          <p:nvPr>
            <p:ph idx="4" type="pic"/>
          </p:nvPr>
        </p:nvSpPr>
        <p:spPr>
          <a:xfrm>
            <a:off x="114275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0" name="Google Shape;110;p23"/>
          <p:cNvSpPr/>
          <p:nvPr>
            <p:ph idx="5" type="pic"/>
          </p:nvPr>
        </p:nvSpPr>
        <p:spPr>
          <a:xfrm>
            <a:off x="3117080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1" name="Google Shape;111;p23"/>
          <p:cNvSpPr/>
          <p:nvPr>
            <p:ph idx="6" type="pic"/>
          </p:nvPr>
        </p:nvSpPr>
        <p:spPr>
          <a:xfrm>
            <a:off x="6109898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112" name="Google Shape;112;p23"/>
          <p:cNvSpPr/>
          <p:nvPr>
            <p:ph idx="7" type="pic"/>
          </p:nvPr>
        </p:nvSpPr>
        <p:spPr>
          <a:xfrm>
            <a:off x="6109898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CUSTOM_4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2" type="body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" name="Google Shape;117;p24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24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CUSTOM_4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1" name="Google Shape;121;p25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2" type="body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2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25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Problem">
  <p:cSld name="CUSTOM_6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26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3"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4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&amp; Benefits">
  <p:cSld name="CUSTOM_7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idx="1" type="subTitle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2" type="subTitle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3" type="subTitle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4" type="subTitle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5" type="subTitle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/>
        </p:txBody>
      </p:sp>
      <p:sp>
        <p:nvSpPr>
          <p:cNvPr id="137" name="Google Shape;137;p27"/>
          <p:cNvSpPr txBox="1"/>
          <p:nvPr>
            <p:ph idx="6" type="subTitle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7" type="subTitle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8" type="subTitle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9" type="subTitle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idx="13" type="subTitle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4" type="subTitle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43" name="Google Shape;143;p27"/>
          <p:cNvSpPr/>
          <p:nvPr>
            <p:ph idx="1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2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2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Graph">
  <p:cSld name="CUSTOM_8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3" name="Google Shape;153;p29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4" name="Google Shape;154;p29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Solution">
  <p:cSld name="CUSTOM_9">
    <p:bg>
      <p:bgPr>
        <a:solidFill>
          <a:schemeClr val="accen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2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y It Works">
  <p:cSld name="CUSTOM_9_1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"/>
          <p:cNvSpPr/>
          <p:nvPr>
            <p:ph idx="2" type="pic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fmla="val 286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Audience Venn Diagram">
  <p:cSld name="CUSTOM_10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2" type="title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71" name="Google Shape;171;p3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3 Concepts">
  <p:cSld name="CUSTOM_11">
    <p:bg>
      <p:bgPr>
        <a:solidFill>
          <a:schemeClr val="accen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"/>
          <p:cNvSpPr txBox="1"/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33"/>
          <p:cNvSpPr txBox="1"/>
          <p:nvPr>
            <p:ph idx="2" type="body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33"/>
          <p:cNvSpPr txBox="1"/>
          <p:nvPr>
            <p:ph idx="3" type="subTitle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8" name="Google Shape;178;p33"/>
          <p:cNvSpPr txBox="1"/>
          <p:nvPr>
            <p:ph idx="4" type="subTitle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33"/>
          <p:cNvSpPr txBox="1"/>
          <p:nvPr>
            <p:ph idx="5" type="subTitle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0" name="Google Shape;180;p33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33"/>
          <p:cNvSpPr/>
          <p:nvPr>
            <p:ph idx="7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6 Concepts">
  <p:cSld name="CUSTOM_11_1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4"/>
          <p:cNvSpPr txBox="1"/>
          <p:nvPr>
            <p:ph idx="1" type="subTitle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2" type="subTitle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34"/>
          <p:cNvSpPr txBox="1"/>
          <p:nvPr>
            <p:ph idx="3" type="subTitle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34"/>
          <p:cNvSpPr txBox="1"/>
          <p:nvPr>
            <p:ph idx="4" type="body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8" name="Google Shape;188;p34"/>
          <p:cNvSpPr txBox="1"/>
          <p:nvPr>
            <p:ph idx="5" type="body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4"/>
          <p:cNvSpPr txBox="1"/>
          <p:nvPr>
            <p:ph idx="6" type="body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34"/>
          <p:cNvSpPr txBox="1"/>
          <p:nvPr>
            <p:ph idx="7" type="subTitle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34"/>
          <p:cNvSpPr txBox="1"/>
          <p:nvPr>
            <p:ph idx="8" type="body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2" name="Google Shape;192;p34"/>
          <p:cNvSpPr txBox="1"/>
          <p:nvPr>
            <p:ph idx="9" type="subTitle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34"/>
          <p:cNvSpPr txBox="1"/>
          <p:nvPr>
            <p:ph idx="13" type="body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14" type="subTitle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34"/>
          <p:cNvSpPr txBox="1"/>
          <p:nvPr>
            <p:ph idx="15" type="body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7" name="Google Shape;197;p34"/>
          <p:cNvSpPr/>
          <p:nvPr>
            <p:ph idx="1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Graph">
  <p:cSld name="CUSTOM_1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idx="1" type="subTitle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2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Graph">
  <p:cSld name="CUSTOM_13">
    <p:bg>
      <p:bgPr>
        <a:solidFill>
          <a:schemeClr val="accen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6"/>
          <p:cNvSpPr txBox="1"/>
          <p:nvPr>
            <p:ph idx="1" type="subTitle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36"/>
          <p:cNvSpPr txBox="1"/>
          <p:nvPr>
            <p:ph idx="2" type="subTitle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8" name="Google Shape;208;p36"/>
          <p:cNvSpPr txBox="1"/>
          <p:nvPr>
            <p:ph idx="3" type="title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/>
          <p:nvPr>
            <p:ph idx="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Landscape">
  <p:cSld name="CUSTOM_14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" name="Google Shape;213;p37"/>
          <p:cNvSpPr txBox="1"/>
          <p:nvPr>
            <p:ph idx="2" type="body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3" type="body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" name="Google Shape;215;p37"/>
          <p:cNvSpPr txBox="1"/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4" type="body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" name="Google Shape;217;p37"/>
          <p:cNvSpPr txBox="1"/>
          <p:nvPr>
            <p:ph idx="5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37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9" name="Google Shape;219;p37"/>
          <p:cNvSpPr/>
          <p:nvPr>
            <p:ph idx="7" type="pic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0" name="Google Shape;220;p37"/>
          <p:cNvSpPr/>
          <p:nvPr>
            <p:ph idx="8" type="pic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1" name="Google Shape;221;p37"/>
          <p:cNvSpPr/>
          <p:nvPr>
            <p:ph idx="9" type="pic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37"/>
          <p:cNvSpPr/>
          <p:nvPr>
            <p:ph idx="13" type="pic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37"/>
          <p:cNvSpPr/>
          <p:nvPr>
            <p:ph idx="14" type="pic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4" name="Google Shape;224;p37"/>
          <p:cNvSpPr/>
          <p:nvPr>
            <p:ph idx="15" type="pic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5" name="Google Shape;225;p37"/>
          <p:cNvSpPr txBox="1"/>
          <p:nvPr>
            <p:ph idx="16" type="title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7"/>
          <p:cNvSpPr txBox="1"/>
          <p:nvPr>
            <p:ph idx="17" type="title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7"/>
          <p:cNvSpPr txBox="1"/>
          <p:nvPr>
            <p:ph idx="18" type="title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7"/>
          <p:cNvSpPr txBox="1"/>
          <p:nvPr>
            <p:ph idx="19" type="title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7"/>
          <p:cNvSpPr txBox="1"/>
          <p:nvPr>
            <p:ph idx="20" type="title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7"/>
          <p:cNvSpPr txBox="1"/>
          <p:nvPr>
            <p:ph idx="21" type="body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7"/>
          <p:cNvSpPr txBox="1"/>
          <p:nvPr>
            <p:ph idx="22" type="body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37"/>
          <p:cNvSpPr/>
          <p:nvPr>
            <p:ph idx="2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ntent">
  <p:cSld name="CUSTOM_15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8"/>
          <p:cNvSpPr txBox="1"/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36" name="Google Shape;236;p38"/>
          <p:cNvSpPr txBox="1"/>
          <p:nvPr>
            <p:ph idx="1" type="subTitle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8"/>
          <p:cNvSpPr txBox="1"/>
          <p:nvPr>
            <p:ph idx="2" type="subTitle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3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8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6"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9"/>
          <p:cNvSpPr/>
          <p:nvPr>
            <p:ph idx="2" type="pic"/>
          </p:nvPr>
        </p:nvSpPr>
        <p:spPr>
          <a:xfrm>
            <a:off x="3768625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39"/>
          <p:cNvSpPr/>
          <p:nvPr>
            <p:ph idx="3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9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Desktop">
  <p:cSld name="CUSTOM_16_2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0" name="Google Shape;250;p40"/>
          <p:cNvSpPr/>
          <p:nvPr>
            <p:ph idx="3" type="pic"/>
          </p:nvPr>
        </p:nvSpPr>
        <p:spPr>
          <a:xfrm>
            <a:off x="1931050" y="789375"/>
            <a:ext cx="5281800" cy="29733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">
  <p:cSld name="CUSTOM_16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1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6" name="Google Shape;256;p41"/>
          <p:cNvSpPr/>
          <p:nvPr>
            <p:ph idx="4" type="pic"/>
          </p:nvPr>
        </p:nvSpPr>
        <p:spPr>
          <a:xfrm>
            <a:off x="376500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1"/>
          <p:cNvSpPr/>
          <p:nvPr>
            <p:ph idx="5" type="pic"/>
          </p:nvPr>
        </p:nvSpPr>
        <p:spPr>
          <a:xfrm>
            <a:off x="67171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Tablet">
  <p:cSld name="CUSTOM_16_2_1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2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" name="Google Shape;262;p42"/>
          <p:cNvSpPr/>
          <p:nvPr>
            <p:ph idx="3" type="pic"/>
          </p:nvPr>
        </p:nvSpPr>
        <p:spPr>
          <a:xfrm>
            <a:off x="1988050" y="627575"/>
            <a:ext cx="5167800" cy="38883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6_1_1"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3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7" name="Google Shape;267;p43"/>
          <p:cNvSpPr/>
          <p:nvPr>
            <p:ph idx="4" type="pic"/>
          </p:nvPr>
        </p:nvSpPr>
        <p:spPr>
          <a:xfrm>
            <a:off x="3874125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7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 txBox="1"/>
          <p:nvPr>
            <p:ph idx="1" type="subTitle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4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2" name="Google Shape;272;p44"/>
          <p:cNvSpPr txBox="1"/>
          <p:nvPr>
            <p:ph idx="2" type="subTitle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44"/>
          <p:cNvSpPr txBox="1"/>
          <p:nvPr>
            <p:ph idx="3" type="title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ullquote">
  <p:cSld name="CUSTOM_18">
    <p:bg>
      <p:bgPr>
        <a:solidFill>
          <a:schemeClr val="accent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idx="1" type="subTitle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5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5"/>
          <p:cNvSpPr txBox="1"/>
          <p:nvPr>
            <p:ph idx="2" type="subTitle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b="0" sz="36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8" name="Google Shape;278;p45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2" name="Google Shape;282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3" name="Google Shape;28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6" name="Google Shape;2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0" name="Google Shape;2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9" name="Google Shape;309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14" name="Google Shape;31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8" name="Google Shape;338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9" name="Google Shape;339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0" name="Google Shape;340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6" name="Google Shape;346;p60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7" name="Google Shape;347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8" name="Google Shape;348;p60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60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60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4" name="Google Shape;354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6" name="Google Shape;356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7" name="Google Shape;357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8" name="Google Shape;358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1" name="Google Shape;371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4" name="Google Shape;37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7" name="Google Shape;37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0" name="Google Shape;38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2" name="Google Shape;38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5" name="Google Shape;385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6" name="Google Shape;386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4n5J2ExpVlU" TargetMode="External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82PXELdFJVg" TargetMode="External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67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 2</a:t>
            </a:r>
            <a:endParaRPr/>
          </a:p>
        </p:txBody>
      </p:sp>
      <p:sp>
        <p:nvSpPr>
          <p:cNvPr id="408" name="Google Shape;408;p67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Traits</a:t>
            </a:r>
            <a:endParaRPr/>
          </a:p>
        </p:txBody>
      </p:sp>
      <p:sp>
        <p:nvSpPr>
          <p:cNvPr id="409" name="Google Shape;409;p67"/>
          <p:cNvSpPr txBox="1"/>
          <p:nvPr>
            <p:ph idx="1" type="subTitle"/>
          </p:nvPr>
        </p:nvSpPr>
        <p:spPr>
          <a:xfrm>
            <a:off x="3827775" y="4526350"/>
            <a:ext cx="13092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© 2025 Geoffrey James Aguirre. All Rights Reserved.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Hexagonal icon." id="410" name="Google Shape;410;p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descr="Hexagonal icon." id="411" name="Google Shape;41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50" y="542066"/>
            <a:ext cx="2738149" cy="315903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7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3" name="Google Shape;413;p67"/>
          <p:cNvSpPr txBox="1"/>
          <p:nvPr>
            <p:ph idx="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 2</a:t>
            </a:r>
            <a:r>
              <a:rPr lang="en"/>
              <a:t> | Videos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 2: Static Traits versus Dynamic Trait Pairs; Confusers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70" title="Characterization: Static Traits versus Dynamic Trait Pairs; Confuser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88" y="139100"/>
            <a:ext cx="8649425" cy="486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Mr. A Reads (and Analyzes Character Traits in) Wolfina’s First Day at Farmington High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72" title="Mr. A Reads (and Analyzes Character Traits in) Wolfina’s First Day at Farmington High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88" y="139100"/>
            <a:ext cx="8649425" cy="486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3" name="Google Shape;443;p73"/>
          <p:cNvGraphicFramePr/>
          <p:nvPr/>
        </p:nvGraphicFramePr>
        <p:xfrm>
          <a:off x="426200" y="91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{73D64F53-E004-4CF2-A60D-FE954EB2C276}</a:tableStyleId>
              </a:tblPr>
              <a:tblGrid>
                <a:gridCol w="420475"/>
                <a:gridCol w="4027650"/>
                <a:gridCol w="392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¶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“[H]er paws clutched around a school map already worn at the corners” (¶1).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“She scanned her schedule for the third time” (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¶1).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“Wolfina nodded but said nothing, pressing her tail around her leg like a rope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” (¶1).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¶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“She kept her gaze on the page but didn’t turn it for several minutes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” (¶2).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“[She] slipped her book into her pack like it was something fragile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” (¶2).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“Wolfina pretended not to hear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she murmured, eyes still fixed on the chart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” (¶2).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¶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“[She] stared at the red rubber ball that had rolled to her feet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” (¶3).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“She rolled her shoulders once, shook out her wrist, and reset her stance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” (¶3).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“‘You missed,’ she said calmly</a:t>
                      </a:r>
                      <a:r>
                        <a:rPr lang="en">
                          <a:solidFill>
                            <a:srgbClr val="FFFFFF"/>
                          </a:solidFill>
                        </a:rPr>
                        <a:t>” (¶3).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“Then, without a word, she pivoted and sent the ball flying” (¶3).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“Sheepella blinked. ‘Whoa’” 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(¶3).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Static Trait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Dynamic Trait Pair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Thoughtful (or Observant, Prepared, Careful)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Conflict-Avoidant→Assertive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4" name="Google Shape;444;p73"/>
          <p:cNvSpPr txBox="1"/>
          <p:nvPr/>
        </p:nvSpPr>
        <p:spPr>
          <a:xfrm>
            <a:off x="135250" y="113425"/>
            <a:ext cx="77742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Wolfina’s First Day at Farmington High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4"/>
          <p:cNvSpPr txBox="1"/>
          <p:nvPr/>
        </p:nvSpPr>
        <p:spPr>
          <a:xfrm>
            <a:off x="135250" y="113425"/>
            <a:ext cx="77742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Wolfina’s First Day at Farmington High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50" name="Google Shape;450;p74" title="FireShot Capture 195 - Confusers_in_Wolfina_s_Story - Google Sheets.pdf - web.kamihq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575" y="794350"/>
            <a:ext cx="8488862" cy="41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| Degree, Nuance, and Interrelatedness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 sz="4100"/>
              <a:t>raits as Anchor Terms with Synonyms (Trait Clusters)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76"/>
          <p:cNvSpPr txBox="1"/>
          <p:nvPr>
            <p:ph idx="3" type="title"/>
          </p:nvPr>
        </p:nvSpPr>
        <p:spPr>
          <a:xfrm>
            <a:off x="4469650" y="496125"/>
            <a:ext cx="4440300" cy="364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Example: Brave</a:t>
            </a:r>
            <a:endParaRPr>
              <a:solidFill>
                <a:srgbClr val="FFFFFF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</a:rPr>
              <a:t>Anchor Trait: Brave</a:t>
            </a:r>
            <a:endParaRPr>
              <a:solidFill>
                <a:srgbClr val="FFFFFF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</a:rPr>
              <a:t>Synonyms: courageous, fearless, daring</a:t>
            </a:r>
            <a:endParaRPr>
              <a:solidFill>
                <a:srgbClr val="FFFFFF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</a:rPr>
              <a:t>Close Synonyms (with nuance): resolute, bold, spirited</a:t>
            </a:r>
            <a:endParaRPr>
              <a:solidFill>
                <a:srgbClr val="FFFFFF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</a:rPr>
              <a:t>Related-but-different: reckless (similar behavior, different motivation)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7"/>
          <p:cNvSpPr txBox="1"/>
          <p:nvPr>
            <p:ph type="title"/>
          </p:nvPr>
        </p:nvSpPr>
        <p:spPr>
          <a:xfrm>
            <a:off x="347550" y="334125"/>
            <a:ext cx="8454300" cy="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Traits as Conceptual Spectrums (With Antonyms and Degrees)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7" name="Google Shape;467;p77" title="FireShot Capture 176 - Traits and (Direct and Indirect) Characterization - Google_ - docs.google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575" y="2267346"/>
            <a:ext cx="8454301" cy="1655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8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8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78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8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6" name="Google Shape;476;p78" title="lambert-the-sheepish-l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00" y="254100"/>
            <a:ext cx="8908701" cy="46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78" title="41NYCmJNawL._AC_UF1000,1000_QL80_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76" y="1858475"/>
            <a:ext cx="833475" cy="1167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9"/>
          <p:cNvSpPr txBox="1"/>
          <p:nvPr>
            <p:ph type="title"/>
          </p:nvPr>
        </p:nvSpPr>
        <p:spPr>
          <a:xfrm>
            <a:off x="3672663" y="1146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Trait</a:t>
            </a:r>
            <a:endParaRPr/>
          </a:p>
        </p:txBody>
      </p:sp>
      <p:sp>
        <p:nvSpPr>
          <p:cNvPr id="483" name="Google Shape;483;p79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Static versus Dynamic Traits</a:t>
            </a:r>
            <a:endParaRPr sz="2400"/>
          </a:p>
        </p:txBody>
      </p:sp>
      <p:sp>
        <p:nvSpPr>
          <p:cNvPr id="484" name="Google Shape;484;p79"/>
          <p:cNvSpPr txBox="1"/>
          <p:nvPr>
            <p:ph idx="16" type="title"/>
          </p:nvPr>
        </p:nvSpPr>
        <p:spPr>
          <a:xfrm>
            <a:off x="6530713" y="1146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Trait</a:t>
            </a:r>
            <a:endParaRPr/>
          </a:p>
        </p:txBody>
      </p:sp>
      <p:sp>
        <p:nvSpPr>
          <p:cNvPr id="485" name="Google Shape;485;p79"/>
          <p:cNvSpPr txBox="1"/>
          <p:nvPr>
            <p:ph idx="17" type="title"/>
          </p:nvPr>
        </p:nvSpPr>
        <p:spPr>
          <a:xfrm>
            <a:off x="3688025" y="1554125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Beginning</a:t>
            </a:r>
            <a:endParaRPr/>
          </a:p>
        </p:txBody>
      </p:sp>
      <p:sp>
        <p:nvSpPr>
          <p:cNvPr id="486" name="Google Shape;486;p79"/>
          <p:cNvSpPr txBox="1"/>
          <p:nvPr>
            <p:ph idx="18" type="title"/>
          </p:nvPr>
        </p:nvSpPr>
        <p:spPr>
          <a:xfrm>
            <a:off x="6235790" y="1554125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Beginning</a:t>
            </a:r>
            <a:endParaRPr/>
          </a:p>
        </p:txBody>
      </p:sp>
      <p:sp>
        <p:nvSpPr>
          <p:cNvPr id="487" name="Google Shape;487;p79"/>
          <p:cNvSpPr txBox="1"/>
          <p:nvPr>
            <p:ph idx="1" type="body"/>
          </p:nvPr>
        </p:nvSpPr>
        <p:spPr>
          <a:xfrm>
            <a:off x="6530713" y="36506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Textual evidence (STEAL) shows the character exhibiting the trait throughout much of the story, but exhibiting an opposing trait after one or more transformative moments..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9"/>
          <p:cNvSpPr txBox="1"/>
          <p:nvPr>
            <p:ph idx="2" type="body"/>
          </p:nvPr>
        </p:nvSpPr>
        <p:spPr>
          <a:xfrm>
            <a:off x="6235790" y="1756519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Trait is indirectly shown through STEAL</a:t>
            </a:r>
            <a:endParaRPr/>
          </a:p>
        </p:txBody>
      </p:sp>
      <p:sp>
        <p:nvSpPr>
          <p:cNvPr id="489" name="Google Shape;489;p79"/>
          <p:cNvSpPr txBox="1"/>
          <p:nvPr>
            <p:ph idx="3" type="body"/>
          </p:nvPr>
        </p:nvSpPr>
        <p:spPr>
          <a:xfrm>
            <a:off x="6220428" y="2638360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Trait is indirectly shown through STEAL</a:t>
            </a:r>
            <a:endParaRPr/>
          </a:p>
        </p:txBody>
      </p:sp>
      <p:sp>
        <p:nvSpPr>
          <p:cNvPr id="490" name="Google Shape;490;p79"/>
          <p:cNvSpPr txBox="1"/>
          <p:nvPr>
            <p:ph idx="4" type="body"/>
          </p:nvPr>
        </p:nvSpPr>
        <p:spPr>
          <a:xfrm>
            <a:off x="3672663" y="36506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Textual evidence (STEAL) shows the character exhibiting the trait consistently throughout the story. </a:t>
            </a:r>
            <a:endParaRPr/>
          </a:p>
        </p:txBody>
      </p:sp>
      <p:sp>
        <p:nvSpPr>
          <p:cNvPr id="491" name="Google Shape;491;p79"/>
          <p:cNvSpPr txBox="1"/>
          <p:nvPr>
            <p:ph idx="19" type="title"/>
          </p:nvPr>
        </p:nvSpPr>
        <p:spPr>
          <a:xfrm>
            <a:off x="3672663" y="2435093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</a:t>
            </a:r>
            <a:endParaRPr/>
          </a:p>
        </p:txBody>
      </p:sp>
      <p:sp>
        <p:nvSpPr>
          <p:cNvPr id="492" name="Google Shape;492;p79"/>
          <p:cNvSpPr txBox="1"/>
          <p:nvPr>
            <p:ph idx="20" type="title"/>
          </p:nvPr>
        </p:nvSpPr>
        <p:spPr>
          <a:xfrm>
            <a:off x="6220428" y="2435093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Middle</a:t>
            </a:r>
            <a:endParaRPr/>
          </a:p>
        </p:txBody>
      </p:sp>
      <p:sp>
        <p:nvSpPr>
          <p:cNvPr id="493" name="Google Shape;493;p79"/>
          <p:cNvSpPr txBox="1"/>
          <p:nvPr>
            <p:ph idx="21" type="body"/>
          </p:nvPr>
        </p:nvSpPr>
        <p:spPr>
          <a:xfrm>
            <a:off x="3688025" y="1756519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 is indirectly shown through STEAL</a:t>
            </a:r>
            <a:endParaRPr/>
          </a:p>
        </p:txBody>
      </p:sp>
      <p:sp>
        <p:nvSpPr>
          <p:cNvPr id="494" name="Google Shape;494;p79"/>
          <p:cNvSpPr txBox="1"/>
          <p:nvPr>
            <p:ph idx="22" type="body"/>
          </p:nvPr>
        </p:nvSpPr>
        <p:spPr>
          <a:xfrm>
            <a:off x="3672663" y="2638360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Trait is indirectly shown through STEAL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79"/>
          <p:cNvSpPr txBox="1"/>
          <p:nvPr>
            <p:ph idx="3" type="body"/>
          </p:nvPr>
        </p:nvSpPr>
        <p:spPr>
          <a:xfrm>
            <a:off x="6220429" y="3526578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One or more transformative moments indicate the t</a:t>
            </a:r>
            <a:r>
              <a:rPr lang="en"/>
              <a:t>rait is confronted and altered</a:t>
            </a:r>
            <a:endParaRPr/>
          </a:p>
        </p:txBody>
      </p:sp>
      <p:sp>
        <p:nvSpPr>
          <p:cNvPr id="496" name="Google Shape;496;p79"/>
          <p:cNvSpPr txBox="1"/>
          <p:nvPr>
            <p:ph idx="19" type="title"/>
          </p:nvPr>
        </p:nvSpPr>
        <p:spPr>
          <a:xfrm>
            <a:off x="3672664" y="3323311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strike="sngStrike"/>
              <a:t>Transformative Moment</a:t>
            </a:r>
            <a:endParaRPr sz="1100" strike="sngStrike"/>
          </a:p>
        </p:txBody>
      </p:sp>
      <p:sp>
        <p:nvSpPr>
          <p:cNvPr id="497" name="Google Shape;497;p79"/>
          <p:cNvSpPr txBox="1"/>
          <p:nvPr>
            <p:ph idx="20" type="title"/>
          </p:nvPr>
        </p:nvSpPr>
        <p:spPr>
          <a:xfrm>
            <a:off x="6220429" y="3323311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/>
              <a:t>Transformative Moment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79"/>
          <p:cNvSpPr txBox="1"/>
          <p:nvPr>
            <p:ph idx="22" type="body"/>
          </p:nvPr>
        </p:nvSpPr>
        <p:spPr>
          <a:xfrm>
            <a:off x="3672675" y="3526551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 is indirectly shown through STEAL</a:t>
            </a:r>
            <a:endParaRPr/>
          </a:p>
        </p:txBody>
      </p:sp>
      <p:sp>
        <p:nvSpPr>
          <p:cNvPr id="499" name="Google Shape;499;p79"/>
          <p:cNvSpPr txBox="1"/>
          <p:nvPr>
            <p:ph idx="3" type="body"/>
          </p:nvPr>
        </p:nvSpPr>
        <p:spPr>
          <a:xfrm>
            <a:off x="6220429" y="4418478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 contrasting t</a:t>
            </a:r>
            <a:r>
              <a:rPr lang="en"/>
              <a:t>rait is indirectly shown through STEAL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79"/>
          <p:cNvSpPr txBox="1"/>
          <p:nvPr>
            <p:ph idx="19" type="title"/>
          </p:nvPr>
        </p:nvSpPr>
        <p:spPr>
          <a:xfrm>
            <a:off x="3672664" y="4215211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01" name="Google Shape;501;p79"/>
          <p:cNvSpPr txBox="1"/>
          <p:nvPr>
            <p:ph idx="20" type="title"/>
          </p:nvPr>
        </p:nvSpPr>
        <p:spPr>
          <a:xfrm>
            <a:off x="6220429" y="4215211"/>
            <a:ext cx="17910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02" name="Google Shape;502;p79"/>
          <p:cNvSpPr txBox="1"/>
          <p:nvPr>
            <p:ph idx="22" type="body"/>
          </p:nvPr>
        </p:nvSpPr>
        <p:spPr>
          <a:xfrm>
            <a:off x="3672664" y="4418478"/>
            <a:ext cx="19944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Trait is indirectly shown through STEAL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" name="Google Shape;507;p80"/>
          <p:cNvGraphicFramePr/>
          <p:nvPr/>
        </p:nvGraphicFramePr>
        <p:xfrm>
          <a:off x="895225" y="3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{73D64F53-E004-4CF2-A60D-FE954EB2C276}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Static Character</a:t>
                      </a:r>
                      <a:endParaRPr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Dynamic Character</a:t>
                      </a:r>
                      <a:endParaRPr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Stays the same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Changes or grows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Easier to describe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Harder to describe, but deeper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Example: Curley (Of Mice and Men) – always aggressive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Example: Lizabeth (Marigolds) – grows from confused to thoughtful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08" name="Google Shape;508;p80"/>
          <p:cNvGraphicFramePr/>
          <p:nvPr/>
        </p:nvGraphicFramePr>
        <p:xfrm>
          <a:off x="895225" y="275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{73D64F53-E004-4CF2-A60D-FE954EB2C276}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Static Character</a:t>
                      </a:r>
                      <a:endParaRPr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Dynamic Character</a:t>
                      </a:r>
                      <a:endParaRPr b="1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Traits remain consistent throughout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Traits shift or evolve meaningfully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Easier to label traits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Must track trait change over time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Often symbolic or archetypal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Often realistic or complex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Curley in Of Mice and Men – consistently aggressive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Lizabeth in Marigolds – grows from confused to reflective</a:t>
                      </a:r>
                      <a:endParaRPr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1"/>
          <p:cNvSpPr txBox="1"/>
          <p:nvPr>
            <p:ph type="title"/>
          </p:nvPr>
        </p:nvSpPr>
        <p:spPr>
          <a:xfrm>
            <a:off x="347550" y="334125"/>
            <a:ext cx="8454300" cy="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Combined Framework: Tiered Trait Matrix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81"/>
          <p:cNvSpPr txBox="1"/>
          <p:nvPr>
            <p:ph idx="3" type="title"/>
          </p:nvPr>
        </p:nvSpPr>
        <p:spPr>
          <a:xfrm>
            <a:off x="347550" y="1255425"/>
            <a:ext cx="8562300" cy="3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You can use both systems together like this: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15" name="Google Shape;515;p81" title="FireShot Capture 177 - Traits and (Direct and Indirect) Characterization - Google_ - docs.google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763" y="1804625"/>
            <a:ext cx="6147925" cy="311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| versus Confusers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3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83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trait 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83"/>
          <p:cNvSpPr/>
          <p:nvPr/>
        </p:nvSpPr>
        <p:spPr>
          <a:xfrm>
            <a:off x="3923125" y="278725"/>
            <a:ext cx="4989300" cy="69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83"/>
          <p:cNvSpPr/>
          <p:nvPr/>
        </p:nvSpPr>
        <p:spPr>
          <a:xfrm>
            <a:off x="3923152" y="972031"/>
            <a:ext cx="4989300" cy="69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3"/>
          <p:cNvSpPr/>
          <p:nvPr/>
        </p:nvSpPr>
        <p:spPr>
          <a:xfrm>
            <a:off x="3923152" y="1670453"/>
            <a:ext cx="4989300" cy="69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83"/>
          <p:cNvSpPr/>
          <p:nvPr/>
        </p:nvSpPr>
        <p:spPr>
          <a:xfrm>
            <a:off x="3923152" y="2359819"/>
            <a:ext cx="4989300" cy="69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31" name="Google Shape;531;p83"/>
          <p:cNvSpPr txBox="1"/>
          <p:nvPr>
            <p:ph idx="4" type="title"/>
          </p:nvPr>
        </p:nvSpPr>
        <p:spPr>
          <a:xfrm>
            <a:off x="4466650" y="1670460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Evidence-Based – It can be supported by observable examples (speech,thoughts, actions, and so on).</a:t>
            </a:r>
            <a:endParaRPr/>
          </a:p>
        </p:txBody>
      </p:sp>
      <p:sp>
        <p:nvSpPr>
          <p:cNvPr id="532" name="Google Shape;532;p83"/>
          <p:cNvSpPr txBox="1"/>
          <p:nvPr>
            <p:ph idx="2" type="title"/>
          </p:nvPr>
        </p:nvSpPr>
        <p:spPr>
          <a:xfrm>
            <a:off x="4466650" y="281269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Consistent – It shows up across time or in more than one situation.</a:t>
            </a:r>
            <a:endParaRPr/>
          </a:p>
        </p:txBody>
      </p:sp>
      <p:sp>
        <p:nvSpPr>
          <p:cNvPr id="533" name="Google Shape;533;p83"/>
          <p:cNvSpPr txBox="1"/>
          <p:nvPr>
            <p:ph idx="3" type="title"/>
          </p:nvPr>
        </p:nvSpPr>
        <p:spPr>
          <a:xfrm>
            <a:off x="4466650" y="974571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Patterned – It reflects a tendency in how the character typically thinks, feels, or behaves.</a:t>
            </a:r>
            <a:endParaRPr/>
          </a:p>
        </p:txBody>
      </p:sp>
      <p:sp>
        <p:nvSpPr>
          <p:cNvPr id="534" name="Google Shape;534;p83"/>
          <p:cNvSpPr txBox="1"/>
          <p:nvPr>
            <p:ph idx="4294967295" type="title"/>
          </p:nvPr>
        </p:nvSpPr>
        <p:spPr>
          <a:xfrm>
            <a:off x="4466650" y="2359826"/>
            <a:ext cx="4440300" cy="6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Psychologically Revealing – It gives insight into what kind of person the character is.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5" name="Google Shape;535;p83"/>
          <p:cNvSpPr txBox="1"/>
          <p:nvPr/>
        </p:nvSpPr>
        <p:spPr>
          <a:xfrm>
            <a:off x="4113984" y="281275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01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6" name="Google Shape;536;p83"/>
          <p:cNvSpPr txBox="1"/>
          <p:nvPr/>
        </p:nvSpPr>
        <p:spPr>
          <a:xfrm>
            <a:off x="4113984" y="974578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02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7" name="Google Shape;537;p83"/>
          <p:cNvSpPr txBox="1"/>
          <p:nvPr/>
        </p:nvSpPr>
        <p:spPr>
          <a:xfrm>
            <a:off x="4113984" y="1670466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03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8" name="Google Shape;538;p83"/>
          <p:cNvSpPr txBox="1"/>
          <p:nvPr/>
        </p:nvSpPr>
        <p:spPr>
          <a:xfrm>
            <a:off x="4113984" y="2359833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04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9" name="Google Shape;539;p83"/>
          <p:cNvSpPr/>
          <p:nvPr/>
        </p:nvSpPr>
        <p:spPr>
          <a:xfrm>
            <a:off x="7156464" y="4601400"/>
            <a:ext cx="13545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0" name="Google Shape;540;p83"/>
          <p:cNvSpPr txBox="1"/>
          <p:nvPr/>
        </p:nvSpPr>
        <p:spPr>
          <a:xfrm>
            <a:off x="7165814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© 2025 Geoffrey James Aguirre. All Rights Reserved.</a:t>
            </a:r>
            <a:endParaRPr sz="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1" name="Google Shape;541;p83"/>
          <p:cNvSpPr txBox="1"/>
          <p:nvPr>
            <p:ph idx="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83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3" name="Google Shape;543;p83"/>
          <p:cNvSpPr txBox="1"/>
          <p:nvPr>
            <p:ph idx="3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4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84"/>
          <p:cNvSpPr txBox="1"/>
          <p:nvPr>
            <p:ph type="title"/>
          </p:nvPr>
        </p:nvSpPr>
        <p:spPr>
          <a:xfrm>
            <a:off x="948175" y="797675"/>
            <a:ext cx="74715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Impostors = Almost a trait, but fails when tested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Confusers = Not traits at all (even if they seem like it)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84"/>
          <p:cNvSpPr/>
          <p:nvPr/>
        </p:nvSpPr>
        <p:spPr>
          <a:xfrm>
            <a:off x="7156464" y="4601400"/>
            <a:ext cx="13545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1" name="Google Shape;551;p84"/>
          <p:cNvSpPr txBox="1"/>
          <p:nvPr/>
        </p:nvSpPr>
        <p:spPr>
          <a:xfrm>
            <a:off x="7165814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© 2025 Geoffrey James Aguirre. All Rights Reserved.</a:t>
            </a:r>
            <a:endParaRPr sz="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2" name="Google Shape;552;p84"/>
          <p:cNvSpPr txBox="1"/>
          <p:nvPr>
            <p:ph idx="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84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4" name="Google Shape;554;p84"/>
          <p:cNvSpPr txBox="1"/>
          <p:nvPr>
            <p:ph idx="3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5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85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trait confuser . .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85"/>
          <p:cNvSpPr txBox="1"/>
          <p:nvPr/>
        </p:nvSpPr>
        <p:spPr>
          <a:xfrm>
            <a:off x="4113984" y="281275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01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2" name="Google Shape;562;p85"/>
          <p:cNvSpPr txBox="1"/>
          <p:nvPr/>
        </p:nvSpPr>
        <p:spPr>
          <a:xfrm>
            <a:off x="4113984" y="974578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02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3" name="Google Shape;563;p85"/>
          <p:cNvSpPr txBox="1"/>
          <p:nvPr/>
        </p:nvSpPr>
        <p:spPr>
          <a:xfrm>
            <a:off x="4113984" y="1670466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03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4" name="Google Shape;564;p85"/>
          <p:cNvSpPr txBox="1"/>
          <p:nvPr/>
        </p:nvSpPr>
        <p:spPr>
          <a:xfrm>
            <a:off x="4113984" y="2359833"/>
            <a:ext cx="548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04</a:t>
            </a:r>
            <a:endParaRPr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5" name="Google Shape;565;p85"/>
          <p:cNvSpPr/>
          <p:nvPr/>
        </p:nvSpPr>
        <p:spPr>
          <a:xfrm>
            <a:off x="7156464" y="4601400"/>
            <a:ext cx="13545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6" name="Google Shape;566;p85"/>
          <p:cNvSpPr txBox="1"/>
          <p:nvPr/>
        </p:nvSpPr>
        <p:spPr>
          <a:xfrm>
            <a:off x="7165814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© 2025 Geoffrey James Aguirre. All Rights Reserved.</a:t>
            </a:r>
            <a:endParaRPr sz="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7" name="Google Shape;567;p85"/>
          <p:cNvSpPr txBox="1"/>
          <p:nvPr>
            <p:ph idx="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85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9" name="Google Shape;569;p85"/>
          <p:cNvSpPr txBox="1"/>
          <p:nvPr>
            <p:ph idx="3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70" name="Google Shape;570;p85"/>
          <p:cNvSpPr txBox="1"/>
          <p:nvPr>
            <p:ph type="title"/>
          </p:nvPr>
        </p:nvSpPr>
        <p:spPr>
          <a:xfrm>
            <a:off x="4113975" y="1670463"/>
            <a:ext cx="4688100" cy="27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. . . is a </a:t>
            </a:r>
            <a:r>
              <a:rPr lang="en" sz="2400"/>
              <a:t>category of character description that students often mistake for traits, but they never qualify on their own.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They don’t even make it to the “test” phase unless misunderstood.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6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</a:t>
            </a:r>
            <a:r>
              <a:rPr lang="en"/>
              <a:t>rait confuser 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6"/>
          <p:cNvSpPr txBox="1"/>
          <p:nvPr>
            <p:ph idx="2" type="title"/>
          </p:nvPr>
        </p:nvSpPr>
        <p:spPr>
          <a:xfrm>
            <a:off x="4156500" y="4633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Roles/Labels (“leader,” “the smart one,” “best friend”)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7" name="Google Shape;577;p86"/>
          <p:cNvSpPr txBox="1"/>
          <p:nvPr>
            <p:ph idx="3" type="title"/>
          </p:nvPr>
        </p:nvSpPr>
        <p:spPr>
          <a:xfrm>
            <a:off x="4156500" y="12809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Skills/Talents (good memory, fast runner, good cook)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578" name="Google Shape;578;p86"/>
          <p:cNvSpPr txBox="1"/>
          <p:nvPr>
            <p:ph idx="4" type="title"/>
          </p:nvPr>
        </p:nvSpPr>
        <p:spPr>
          <a:xfrm>
            <a:off x="4156500" y="21016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States of Being (tired, sick, cold, hungry)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9" name="Google Shape;579;p86"/>
          <p:cNvSpPr txBox="1"/>
          <p:nvPr>
            <p:ph idx="5" type="title"/>
          </p:nvPr>
        </p:nvSpPr>
        <p:spPr>
          <a:xfrm>
            <a:off x="4140875" y="29222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Emotions (angry, happy, nervous)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0" name="Google Shape;580;p86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</p:spPr>
      </p:sp>
      <p:sp>
        <p:nvSpPr>
          <p:cNvPr id="581" name="Google Shape;581;p86"/>
          <p:cNvSpPr txBox="1"/>
          <p:nvPr>
            <p:ph idx="5" type="title"/>
          </p:nvPr>
        </p:nvSpPr>
        <p:spPr>
          <a:xfrm>
            <a:off x="4140875" y="37398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Situational Reactions (flinched once, ran once, yelled once)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2" name="Google Shape;582;p86"/>
          <p:cNvSpPr txBox="1"/>
          <p:nvPr>
            <p:ph idx="4" type="title"/>
          </p:nvPr>
        </p:nvSpPr>
        <p:spPr>
          <a:xfrm>
            <a:off x="347550" y="2734225"/>
            <a:ext cx="34659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(external, temporary, or shallow descriptions)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3" name="Google Shape;583;p86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86"/>
          <p:cNvSpPr/>
          <p:nvPr/>
        </p:nvSpPr>
        <p:spPr>
          <a:xfrm>
            <a:off x="7156464" y="4601400"/>
            <a:ext cx="1354500" cy="318600"/>
          </a:xfrm>
          <a:prstGeom prst="roundRect">
            <a:avLst>
              <a:gd fmla="val 16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85" name="Google Shape;585;p86"/>
          <p:cNvSpPr txBox="1"/>
          <p:nvPr/>
        </p:nvSpPr>
        <p:spPr>
          <a:xfrm>
            <a:off x="7165814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© 2025 Geoffrey James Aguirre. All Rights Reserved.</a:t>
            </a:r>
            <a:endParaRPr sz="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86" name="Google Shape;586;p86"/>
          <p:cNvSpPr txBox="1"/>
          <p:nvPr>
            <p:ph idx="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86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88" name="Google Shape;588;p86"/>
          <p:cNvSpPr txBox="1"/>
          <p:nvPr>
            <p:ph idx="3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7"/>
          <p:cNvSpPr txBox="1"/>
          <p:nvPr>
            <p:ph type="title"/>
          </p:nvPr>
        </p:nvSpPr>
        <p:spPr>
          <a:xfrm>
            <a:off x="347550" y="223500"/>
            <a:ext cx="84543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Confusers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87"/>
          <p:cNvSpPr txBox="1"/>
          <p:nvPr>
            <p:ph idx="3" type="title"/>
          </p:nvPr>
        </p:nvSpPr>
        <p:spPr>
          <a:xfrm>
            <a:off x="347550" y="749400"/>
            <a:ext cx="8562300" cy="40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Traits are often confused with other types of descriptions</a:t>
            </a:r>
            <a:r>
              <a:rPr lang="en">
                <a:solidFill>
                  <a:srgbClr val="FFFFFF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95" name="Google Shape;595;p87" title="FireShot Capture 183 - Traits and (Direct and Indirect) Characterization - Google_ - docs.google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50" y="1277211"/>
            <a:ext cx="8454299" cy="3866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8"/>
          <p:cNvSpPr txBox="1"/>
          <p:nvPr>
            <p:ph type="title"/>
          </p:nvPr>
        </p:nvSpPr>
        <p:spPr>
          <a:xfrm>
            <a:off x="347550" y="223500"/>
            <a:ext cx="84543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Confusers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88"/>
          <p:cNvSpPr txBox="1"/>
          <p:nvPr>
            <p:ph idx="3" type="title"/>
          </p:nvPr>
        </p:nvSpPr>
        <p:spPr>
          <a:xfrm>
            <a:off x="347550" y="749400"/>
            <a:ext cx="8562300" cy="40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Traits are often confused with other types of descriptions: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602" name="Google Shape;602;p88" title="FireShot Capture 183 - Traits and (Direct and Indirect) Characterization - Google_ - docs.google.com.png"/>
          <p:cNvPicPr preferRelativeResize="0"/>
          <p:nvPr/>
        </p:nvPicPr>
        <p:blipFill rotWithShape="1">
          <a:blip r:embed="rId3">
            <a:alphaModFix/>
          </a:blip>
          <a:srcRect b="81968" l="0" r="0" t="0"/>
          <a:stretch/>
        </p:blipFill>
        <p:spPr>
          <a:xfrm>
            <a:off x="347550" y="1206325"/>
            <a:ext cx="8087299" cy="666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88" title="FireShot Capture 185 - Traits and (Direct and Indirect) Characterization - Google_ - docs.google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50" y="1731202"/>
            <a:ext cx="8087300" cy="3354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