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Lst>
  <p:sldSz cy="10058400" cx="77724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168" orient="horz"/>
        <p:guide pos="244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d28191b82e_0_19: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d28191b82e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d28191b82e_0_0: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d28191b82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64952" y="1456058"/>
            <a:ext cx="7242600" cy="40140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64945" y="5542289"/>
            <a:ext cx="7242600" cy="1550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64945" y="4206107"/>
            <a:ext cx="72426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64945" y="870271"/>
            <a:ext cx="7242600" cy="11199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264945" y="2253729"/>
            <a:ext cx="7242600" cy="6681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264945" y="870271"/>
            <a:ext cx="7242600" cy="11199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264945" y="2253729"/>
            <a:ext cx="3399900" cy="6681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107540" y="2253729"/>
            <a:ext cx="3399900" cy="6681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64945" y="870271"/>
            <a:ext cx="7242600" cy="11199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264945" y="1086507"/>
            <a:ext cx="2386800" cy="14778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264945" y="2717440"/>
            <a:ext cx="2386800" cy="6217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16713" y="880293"/>
            <a:ext cx="5412600" cy="7999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3886200" y="-244"/>
            <a:ext cx="3886200" cy="10058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25675" y="2411542"/>
            <a:ext cx="3438300" cy="2898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25675" y="5481569"/>
            <a:ext cx="3438300" cy="2415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198575" y="1415969"/>
            <a:ext cx="3261600" cy="7226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264945" y="8273124"/>
            <a:ext cx="5099100" cy="11832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264945" y="2163089"/>
            <a:ext cx="7242600" cy="38397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264945" y="6164351"/>
            <a:ext cx="7242600" cy="25437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7201589" y="9119180"/>
            <a:ext cx="466500" cy="7698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64945" y="870271"/>
            <a:ext cx="7242600" cy="11199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64945" y="2253729"/>
            <a:ext cx="7242600" cy="6681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hyperlink" Target="http://drive.google.com/file/d/1NuJZ4pk5aqc_X0MXgBnGITIO0HCNHOVW/view" TargetMode="Externa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264945" y="870271"/>
            <a:ext cx="7242600" cy="111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3800"/>
              <a:t>Instructions</a:t>
            </a:r>
            <a:endParaRPr b="1" sz="3800"/>
          </a:p>
        </p:txBody>
      </p:sp>
      <p:sp>
        <p:nvSpPr>
          <p:cNvPr id="55" name="Google Shape;55;p13"/>
          <p:cNvSpPr txBox="1"/>
          <p:nvPr>
            <p:ph idx="1" type="body"/>
          </p:nvPr>
        </p:nvSpPr>
        <p:spPr>
          <a:xfrm>
            <a:off x="264950" y="1796527"/>
            <a:ext cx="7242600" cy="3271500"/>
          </a:xfrm>
          <a:prstGeom prst="rect">
            <a:avLst/>
          </a:prstGeom>
        </p:spPr>
        <p:txBody>
          <a:bodyPr anchorCtr="0" anchor="t" bIns="91425" lIns="91425" spcFirstLastPara="1" rIns="91425" wrap="square" tIns="91425">
            <a:normAutofit/>
          </a:bodyPr>
          <a:lstStyle/>
          <a:p>
            <a:pPr indent="-400050" lvl="0" marL="457200" rtl="0" algn="l">
              <a:spcBef>
                <a:spcPts val="0"/>
              </a:spcBef>
              <a:spcAft>
                <a:spcPts val="0"/>
              </a:spcAft>
              <a:buClr>
                <a:srgbClr val="000000"/>
              </a:buClr>
              <a:buSzPts val="2700"/>
              <a:buChar char="●"/>
            </a:pPr>
            <a:r>
              <a:rPr lang="en" sz="2700">
                <a:solidFill>
                  <a:srgbClr val="000000"/>
                </a:solidFill>
              </a:rPr>
              <a:t>Select </a:t>
            </a:r>
            <a:r>
              <a:rPr b="1" i="1" lang="en" sz="2700">
                <a:solidFill>
                  <a:srgbClr val="000000"/>
                </a:solidFill>
              </a:rPr>
              <a:t>one </a:t>
            </a:r>
            <a:r>
              <a:rPr lang="en" sz="2700">
                <a:solidFill>
                  <a:srgbClr val="000000"/>
                </a:solidFill>
              </a:rPr>
              <a:t>of the provided three slides/texts</a:t>
            </a:r>
            <a:endParaRPr sz="2700">
              <a:solidFill>
                <a:srgbClr val="000000"/>
              </a:solidFill>
            </a:endParaRPr>
          </a:p>
          <a:p>
            <a:pPr indent="-400050" lvl="0" marL="457200" rtl="0" algn="l">
              <a:spcBef>
                <a:spcPts val="0"/>
              </a:spcBef>
              <a:spcAft>
                <a:spcPts val="0"/>
              </a:spcAft>
              <a:buClr>
                <a:srgbClr val="000000"/>
              </a:buClr>
              <a:buSzPts val="2700"/>
              <a:buChar char="●"/>
            </a:pPr>
            <a:r>
              <a:rPr lang="en" sz="2700">
                <a:solidFill>
                  <a:srgbClr val="000000"/>
                </a:solidFill>
              </a:rPr>
              <a:t>Read the text, looking for poetic words that stand out </a:t>
            </a:r>
            <a:endParaRPr sz="2700">
              <a:solidFill>
                <a:srgbClr val="000000"/>
              </a:solidFill>
            </a:endParaRPr>
          </a:p>
          <a:p>
            <a:pPr indent="-400050" lvl="0" marL="457200" rtl="0" algn="l">
              <a:spcBef>
                <a:spcPts val="0"/>
              </a:spcBef>
              <a:spcAft>
                <a:spcPts val="0"/>
              </a:spcAft>
              <a:buClr>
                <a:srgbClr val="000000"/>
              </a:buClr>
              <a:buSzPts val="2700"/>
              <a:buChar char="●"/>
            </a:pPr>
            <a:r>
              <a:rPr lang="en" sz="2700">
                <a:solidFill>
                  <a:srgbClr val="000000"/>
                </a:solidFill>
              </a:rPr>
              <a:t>Highlight </a:t>
            </a:r>
            <a:r>
              <a:rPr b="1" lang="en" sz="2700">
                <a:solidFill>
                  <a:srgbClr val="000000"/>
                </a:solidFill>
              </a:rPr>
              <a:t>in black</a:t>
            </a:r>
            <a:r>
              <a:rPr lang="en" sz="2700">
                <a:solidFill>
                  <a:srgbClr val="000000"/>
                </a:solidFill>
              </a:rPr>
              <a:t> everything </a:t>
            </a:r>
            <a:r>
              <a:rPr b="1" lang="en" sz="2700">
                <a:solidFill>
                  <a:srgbClr val="000000"/>
                </a:solidFill>
              </a:rPr>
              <a:t>EXCEPT </a:t>
            </a:r>
            <a:r>
              <a:rPr lang="en" sz="2700">
                <a:solidFill>
                  <a:srgbClr val="000000"/>
                </a:solidFill>
              </a:rPr>
              <a:t>those words to create your poem</a:t>
            </a:r>
            <a:endParaRPr sz="2700">
              <a:solidFill>
                <a:srgbClr val="000000"/>
              </a:solidFill>
            </a:endParaRPr>
          </a:p>
        </p:txBody>
      </p:sp>
      <p:sp>
        <p:nvSpPr>
          <p:cNvPr id="56" name="Google Shape;56;p13"/>
          <p:cNvSpPr/>
          <p:nvPr/>
        </p:nvSpPr>
        <p:spPr>
          <a:xfrm>
            <a:off x="369650" y="6613200"/>
            <a:ext cx="2140200" cy="1323000"/>
          </a:xfrm>
          <a:prstGeom prst="rightArrow">
            <a:avLst>
              <a:gd fmla="val 50000" name="adj1"/>
              <a:gd fmla="val 50000" name="adj2"/>
            </a:avLst>
          </a:prstGeom>
          <a:solidFill>
            <a:srgbClr val="FFFFFF"/>
          </a:solidFill>
          <a:ln cap="flat" cmpd="sng" w="28575">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Watch for Demo</a:t>
            </a:r>
            <a:endParaRPr b="1"/>
          </a:p>
        </p:txBody>
      </p:sp>
      <p:pic>
        <p:nvPicPr>
          <p:cNvPr id="57" name="Google Shape;57;p13" title="🎃Halloween Blackout Poetry Activity🎃 Demo.webm">
            <a:hlinkClick r:id="rId3"/>
          </p:cNvPr>
          <p:cNvPicPr preferRelativeResize="0"/>
          <p:nvPr/>
        </p:nvPicPr>
        <p:blipFill>
          <a:blip r:embed="rId4">
            <a:alphaModFix/>
          </a:blip>
          <a:stretch>
            <a:fillRect/>
          </a:stretch>
        </p:blipFill>
        <p:spPr>
          <a:xfrm>
            <a:off x="2662250" y="5220425"/>
            <a:ext cx="4349076" cy="41857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
                                        </p:tgtEl>
                                        <p:attrNameLst>
                                          <p:attrName>style.visibility</p:attrName>
                                        </p:attrNameLst>
                                      </p:cBhvr>
                                      <p:to>
                                        <p:strVal val="visible"/>
                                      </p:to>
                                    </p:set>
                                    <p:animEffect filter="fade" transition="in">
                                      <p:cBhvr>
                                        <p:cTn dur="1000"/>
                                        <p:tgtEl>
                                          <p:spTgt spid="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nvSpPr>
        <p:spPr>
          <a:xfrm>
            <a:off x="97275" y="478275"/>
            <a:ext cx="7568100" cy="9105000"/>
          </a:xfrm>
          <a:prstGeom prst="rect">
            <a:avLst/>
          </a:prstGeom>
          <a:noFill/>
          <a:ln>
            <a:noFill/>
          </a:ln>
        </p:spPr>
        <p:txBody>
          <a:bodyPr anchorCtr="0" anchor="t" bIns="91425" lIns="91425" spcFirstLastPara="1" rIns="91425" wrap="square" tIns="91425">
            <a:spAutoFit/>
          </a:bodyPr>
          <a:lstStyle/>
          <a:p>
            <a:pPr indent="178467" lvl="0" marL="10058" marR="63731" rtl="0" algn="just">
              <a:lnSpc>
                <a:spcPct val="115000"/>
              </a:lnSpc>
              <a:spcBef>
                <a:spcPts val="316"/>
              </a:spcBef>
              <a:spcAft>
                <a:spcPts val="0"/>
              </a:spcAft>
              <a:buClr>
                <a:schemeClr val="dk1"/>
              </a:buClr>
              <a:buSzPts val="1100"/>
              <a:buFont typeface="Arial"/>
              <a:buNone/>
            </a:pPr>
            <a:r>
              <a:rPr lang="en" sz="1900">
                <a:solidFill>
                  <a:srgbClr val="FF9900"/>
                </a:solidFill>
                <a:highlight>
                  <a:srgbClr val="FF9900"/>
                </a:highlight>
              </a:rPr>
              <a:t>It didn’t so  much as quiver when a car door slammed in the next street, nor</a:t>
            </a:r>
            <a:r>
              <a:rPr lang="en" sz="1900">
                <a:solidFill>
                  <a:srgbClr val="231F20"/>
                </a:solidFill>
              </a:rPr>
              <a:t> </a:t>
            </a:r>
            <a:r>
              <a:rPr b="1" lang="en" sz="1900">
                <a:solidFill>
                  <a:srgbClr val="231F20"/>
                </a:solidFill>
              </a:rPr>
              <a:t>HALLOWEEN </a:t>
            </a:r>
            <a:r>
              <a:rPr lang="en" sz="1900">
                <a:solidFill>
                  <a:srgbClr val="231F20"/>
                </a:solidFill>
              </a:rPr>
              <a:t> </a:t>
            </a:r>
            <a:r>
              <a:rPr lang="en" sz="1900">
                <a:solidFill>
                  <a:srgbClr val="231F20"/>
                </a:solidFill>
                <a:highlight>
                  <a:srgbClr val="000000"/>
                </a:highlight>
              </a:rPr>
              <a:t>owls swooped overhead. In fact, it was nearly  midnight before the cat moved at all.  </a:t>
            </a:r>
            <a:endParaRPr sz="1900">
              <a:solidFill>
                <a:srgbClr val="231F20"/>
              </a:solidFill>
              <a:highlight>
                <a:srgbClr val="000000"/>
              </a:highlight>
            </a:endParaRPr>
          </a:p>
          <a:p>
            <a:pPr indent="183915" lvl="0" marL="76614" marR="0" rtl="0" algn="just">
              <a:lnSpc>
                <a:spcPct val="115000"/>
              </a:lnSpc>
              <a:spcBef>
                <a:spcPts val="83"/>
              </a:spcBef>
              <a:spcAft>
                <a:spcPts val="0"/>
              </a:spcAft>
              <a:buClr>
                <a:schemeClr val="dk1"/>
              </a:buClr>
              <a:buSzPts val="1100"/>
              <a:buFont typeface="Arial"/>
              <a:buNone/>
            </a:pPr>
            <a:r>
              <a:rPr lang="en" sz="1900">
                <a:solidFill>
                  <a:srgbClr val="231F20"/>
                </a:solidFill>
                <a:highlight>
                  <a:srgbClr val="000000"/>
                </a:highlight>
              </a:rPr>
              <a:t> A man appeared on the corner the cat had been watching,  appeared so suddenly and silently you’d have thought he’d  just popped out of the ground. The</a:t>
            </a:r>
            <a:r>
              <a:rPr lang="en" sz="1900">
                <a:solidFill>
                  <a:srgbClr val="231F20"/>
                </a:solidFill>
              </a:rPr>
              <a:t> </a:t>
            </a:r>
            <a:r>
              <a:rPr b="1" lang="en" sz="2400">
                <a:solidFill>
                  <a:srgbClr val="231F20"/>
                </a:solidFill>
              </a:rPr>
              <a:t>blackout</a:t>
            </a:r>
            <a:r>
              <a:rPr lang="en" sz="1900">
                <a:solidFill>
                  <a:srgbClr val="231F20"/>
                </a:solidFill>
              </a:rPr>
              <a:t> </a:t>
            </a:r>
            <a:r>
              <a:rPr lang="en" sz="1900">
                <a:solidFill>
                  <a:srgbClr val="231F20"/>
                </a:solidFill>
                <a:highlight>
                  <a:srgbClr val="000000"/>
                </a:highlight>
              </a:rPr>
              <a:t>cat’s tail twitched and its  eyes narrowed.  </a:t>
            </a:r>
            <a:endParaRPr sz="1900">
              <a:solidFill>
                <a:srgbClr val="231F20"/>
              </a:solidFill>
              <a:highlight>
                <a:srgbClr val="000000"/>
              </a:highlight>
            </a:endParaRPr>
          </a:p>
          <a:p>
            <a:pPr indent="177489" lvl="0" marL="83040" marR="0" rtl="0" algn="just">
              <a:lnSpc>
                <a:spcPct val="115000"/>
              </a:lnSpc>
              <a:spcBef>
                <a:spcPts val="83"/>
              </a:spcBef>
              <a:spcAft>
                <a:spcPts val="0"/>
              </a:spcAft>
              <a:buClr>
                <a:schemeClr val="dk1"/>
              </a:buClr>
              <a:buSzPts val="1100"/>
              <a:buFont typeface="Arial"/>
              <a:buNone/>
            </a:pPr>
            <a:r>
              <a:rPr lang="en" sz="1900">
                <a:solidFill>
                  <a:srgbClr val="231F20"/>
                </a:solidFill>
                <a:highlight>
                  <a:srgbClr val="000000"/>
                </a:highlight>
              </a:rPr>
              <a:t> Nothing like this man had ever been seen in Privet Drive.  He was tall, thin and very old, judging by the silver of his hair  and beard, </a:t>
            </a:r>
            <a:r>
              <a:rPr lang="en" sz="1900">
                <a:solidFill>
                  <a:srgbClr val="FF9900"/>
                </a:solidFill>
                <a:highlight>
                  <a:srgbClr val="FF9900"/>
                </a:highlight>
              </a:rPr>
              <a:t>which were both long enough to tuck into his belt.  He was wearing </a:t>
            </a:r>
            <a:r>
              <a:rPr lang="en" sz="1900">
                <a:solidFill>
                  <a:srgbClr val="231F20"/>
                </a:solidFill>
                <a:highlight>
                  <a:srgbClr val="000000"/>
                </a:highlight>
              </a:rPr>
              <a:t>long robes, a purple cloak which swept the  ground and high- heeled, </a:t>
            </a:r>
            <a:r>
              <a:rPr b="1" lang="en" sz="2400">
                <a:solidFill>
                  <a:srgbClr val="231F20"/>
                </a:solidFill>
              </a:rPr>
              <a:t>poetry</a:t>
            </a:r>
            <a:r>
              <a:rPr lang="en" sz="1900">
                <a:solidFill>
                  <a:srgbClr val="231F20"/>
                </a:solidFill>
              </a:rPr>
              <a:t> </a:t>
            </a:r>
            <a:r>
              <a:rPr lang="en" sz="1900">
                <a:solidFill>
                  <a:srgbClr val="231F20"/>
                </a:solidFill>
                <a:highlight>
                  <a:srgbClr val="000000"/>
                </a:highlight>
              </a:rPr>
              <a:t> boots. His blue eyes were  light, bright and sparkling behind half- moon spectacles and  his nose was very long and crooked, as though it had been  broken at least twice. This man’s name was Albus Dumbledore. </a:t>
            </a:r>
            <a:endParaRPr sz="1900">
              <a:solidFill>
                <a:srgbClr val="231F20"/>
              </a:solidFill>
            </a:endParaRPr>
          </a:p>
          <a:p>
            <a:pPr indent="178886" lvl="0" marL="81643" marR="0" rtl="0" algn="just">
              <a:lnSpc>
                <a:spcPct val="115000"/>
              </a:lnSpc>
              <a:spcBef>
                <a:spcPts val="83"/>
              </a:spcBef>
              <a:spcAft>
                <a:spcPts val="0"/>
              </a:spcAft>
              <a:buClr>
                <a:schemeClr val="dk1"/>
              </a:buClr>
              <a:buSzPts val="1100"/>
              <a:buFont typeface="Arial"/>
              <a:buNone/>
            </a:pPr>
            <a:r>
              <a:rPr lang="en" sz="1900">
                <a:solidFill>
                  <a:srgbClr val="231F20"/>
                </a:solidFill>
              </a:rPr>
              <a:t> </a:t>
            </a:r>
            <a:r>
              <a:rPr lang="en" sz="1900">
                <a:solidFill>
                  <a:srgbClr val="231F20"/>
                </a:solidFill>
                <a:highlight>
                  <a:srgbClr val="000000"/>
                </a:highlight>
              </a:rPr>
              <a:t>Albus Dumbledore didn’t seem to realise that he had just  arrived in a street where everything from his name to his boots  was unwelcome. He was busy rummaging in his cloak, looking  for </a:t>
            </a:r>
            <a:r>
              <a:rPr lang="en" sz="1900">
                <a:solidFill>
                  <a:srgbClr val="FF9900"/>
                </a:solidFill>
                <a:highlight>
                  <a:srgbClr val="FF9900"/>
                </a:highlight>
              </a:rPr>
              <a:t>something. But he did to realise he was being  watched, because he looked up suddenly at the cat, which was  still staring at him from the other end of the street. For some  reason, the sight of the cat seemed to amuse him. He chuckled  and muttered, ‘I should have known.’  </a:t>
            </a:r>
            <a:endParaRPr sz="1900">
              <a:solidFill>
                <a:srgbClr val="FF9900"/>
              </a:solidFill>
              <a:highlight>
                <a:srgbClr val="FF9900"/>
              </a:highlight>
            </a:endParaRPr>
          </a:p>
          <a:p>
            <a:pPr indent="178886" lvl="0" marL="81643" marR="0" rtl="0" algn="just">
              <a:lnSpc>
                <a:spcPct val="115000"/>
              </a:lnSpc>
              <a:spcBef>
                <a:spcPts val="83"/>
              </a:spcBef>
              <a:spcAft>
                <a:spcPts val="0"/>
              </a:spcAft>
              <a:buClr>
                <a:schemeClr val="dk1"/>
              </a:buClr>
              <a:buSzPts val="1100"/>
              <a:buFont typeface="Arial"/>
              <a:buNone/>
            </a:pPr>
            <a:r>
              <a:rPr lang="en" sz="1900">
                <a:solidFill>
                  <a:srgbClr val="231F20"/>
                </a:solidFill>
              </a:rPr>
              <a:t> </a:t>
            </a:r>
            <a:r>
              <a:rPr lang="en" sz="1900">
                <a:solidFill>
                  <a:srgbClr val="231F20"/>
                </a:solidFill>
                <a:highlight>
                  <a:srgbClr val="000000"/>
                </a:highlight>
              </a:rPr>
              <a:t>He had found what he was looking for in his inside pocket.  It seemed to be a silver cigarette lighter. He flicked it open,  held it up in the air a</a:t>
            </a:r>
            <a:endParaRPr sz="1900">
              <a:highlight>
                <a:srgbClr val="000000"/>
              </a:highligh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