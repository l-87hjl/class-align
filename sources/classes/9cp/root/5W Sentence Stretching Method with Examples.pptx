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embeddedFontLst>
    <p:embeddedFont>
      <p:font typeface="Amatic SC"/>
      <p:regular r:id="rId16"/>
      <p:bold r:id="rId17"/>
    </p:embeddedFont>
    <p:embeddedFont>
      <p:font typeface="Source Code Pro"/>
      <p:regular r:id="rId18"/>
      <p:bold r:id="rId19"/>
      <p:italic r:id="rId20"/>
      <p:boldItalic r:id="rId21"/>
    </p:embeddedFont>
    <p:embeddedFont>
      <p:font typeface="Permanent Marker"/>
      <p:regular r:id="rId22"/>
    </p:embeddedFont>
    <p:embeddedFont>
      <p:font typeface="Gochi Hand"/>
      <p:regular r:id="rId23"/>
    </p:embeddedFont>
    <p:embeddedFont>
      <p:font typeface="Ultra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11" Type="http://schemas.openxmlformats.org/officeDocument/2006/relationships/slide" Target="slides/slide5.xml"/><Relationship Id="rId22" Type="http://schemas.openxmlformats.org/officeDocument/2006/relationships/font" Target="fonts/PermanentMarker-regular.fntdata"/><Relationship Id="rId10" Type="http://schemas.openxmlformats.org/officeDocument/2006/relationships/slide" Target="slides/slide4.xml"/><Relationship Id="rId21" Type="http://schemas.openxmlformats.org/officeDocument/2006/relationships/font" Target="fonts/SourceCodePro-boldItalic.fntdata"/><Relationship Id="rId13" Type="http://schemas.openxmlformats.org/officeDocument/2006/relationships/slide" Target="slides/slide7.xml"/><Relationship Id="rId24" Type="http://schemas.openxmlformats.org/officeDocument/2006/relationships/font" Target="fonts/Ultra-regular.fntdata"/><Relationship Id="rId12" Type="http://schemas.openxmlformats.org/officeDocument/2006/relationships/slide" Target="slides/slide6.xml"/><Relationship Id="rId23" Type="http://schemas.openxmlformats.org/officeDocument/2006/relationships/font" Target="fonts/GochiHan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SourceCodePr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ourceCodePr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203ff2c5c_0_95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203ff2c5c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203ff330b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a203ff33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Draggable™ Slide.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5cc23b3b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35cc23b3b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135cc23b3bd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203ff330b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203ff330b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a203ff330b_0_6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203ff330b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203ff330b_0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a203ff330b_0_6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348db8fc42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348db8fc42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1348db8fc42_0_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48db8fc42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48db8fc42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348db8fc42_0_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48db8fc4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348db8fc4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1348db8fc42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203ff330b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203ff330b_0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a203ff330b_0_7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7"/>
          <p:cNvSpPr txBox="1"/>
          <p:nvPr>
            <p:ph idx="2" type="body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21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ontchangethislink.peardeckmagic.zone?eyJ0eXBlIjoiZHJhZ2dhYmxlIiwiZHJhZ2dhYmxlcyI6W3siaWQiOiJkcmFnZ2FibGUwIiwidHlwZSI6Imljb24iLCJpY29uIjp7ImlkIjoib2JqZWN0LWRvZyJ9LCJjb2xvciI6IiNhNTQ1YzUifV0sImRyYWdnYWJsZVNpemUiOjEyLjYsImVtYmVkZGFibGVVcmwiOiJodHRwczovLyIsImFuc3dlcnMiOltdfQ==pearId=magic-pear-shape-identifier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ontchangethislink.peardeckmagic.zone?eyJ0eXBlIjoiZ29vZ2xlLXNsaWRlcy1hZGRvbi1yZXNwb25zZS1mb290ZXIiLCJsYXN0RWRpdGVkQnkiOiIxMTIxNzExNzQyMDA0NTkxOTM1ODciLCJwcmVzZW50YXRpb25JZCI6IjF3OFJTYjhnOWhNQUtCU2tRTjU4SU5Db05QcHdvc1JhLUZGMndBc25QdTVzIiwiY29udGVudElkIjoiY3VzdG9tLXJlc3BvbnNlLWRyYWdnYWJsZSIsInNsaWRlSWQiOiJnYTIwNjVkOGRiMl8wXzAiLCJjb250ZW50SW5zdGFuY2VJZCI6IjF3OFJTYjhnOWhNQUtCU2tRTjU4SU5Db05QcHdvc1JhLUZGMndBc25QdTVzLzZjYjg0Nzg4LTEwZDgtNDA4Mi1hZDJhLWEyOTIxYzczMzlkYSJ9pearId=magic-pear-metadata-identifie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M6g4bxJBjcU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://dontchangethislink.peardeckmagic.zone?eyJ0eXBlIjoiZnJlZVJlc3BvbnNlLXRleHQiLCJkcmFnZ2FibGVzIjpbeyJpZCI6ImRyYWdnYWJsZTAiLCJ0eXBlIjoiaWNvbiIsImljb24iOnsiaWQiOiJkZWZhdWx0LWNpcmNsZSJ9LCJjb2xvciI6IiNENTFEMjgifV0sImRyYWdnYWJsZVNpemUiOjEyLjU1LCJlbWJlZGRhYmxlVXJsIjoiaHR0cHM6Ly8iLCJhbnN3ZXJzIjpbXX0=pearId=magic-pear-shape-identifier" TargetMode="External"/><Relationship Id="rId5" Type="http://schemas.openxmlformats.org/officeDocument/2006/relationships/image" Target="../media/image8.png"/><Relationship Id="rId6" Type="http://schemas.openxmlformats.org/officeDocument/2006/relationships/hyperlink" Target="http://dontchangethislink.peardeckmagic.zone?eyJ0eXBlIjoiZ29vZ2xlLXNsaWRlcy1hZGRvbi1yZXNwb25zZS1mb290ZXIiLCJsYXN0RWRpdGVkQnkiOiIxMTIxNzExNzQyMDA0NTkxOTM1ODciLCJwcmVzZW50YXRpb25JZCI6IjFKZ1FDcGZWV05XU0tRSGtJVGRLYlh4bmJjODdFQklKMTB3a0xFRjQ0eVZ3IiwiY29udGVudElkIjoiY3VzdG9tLXJlc3BvbnNlLWZyZWVSZXNwb25zZS10ZXh0Iiwic2xpZGVJZCI6ImdhMjAzZmYzMzBiXzBfNzciLCJjb250ZW50SW5zdGFuY2VJZCI6IjFKZ1FDcGZWV05XU0tRSGtJVGRLYlh4bmJjODdFQklKMTB3a0xFRjQ0eVZ3L2Q1OGQyOWE4LTI2NWQtNDY0Ny1iYmVkLWYzMDE2ZjIwNTAzZiJ9pearId=magic-pear-metadata-identifi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1402125" y="2332000"/>
            <a:ext cx="6173100" cy="2311800"/>
          </a:xfrm>
          <a:prstGeom prst="rect">
            <a:avLst/>
          </a:prstGeom>
          <a:solidFill>
            <a:srgbClr val="4A86E8">
              <a:alpha val="48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FFFFF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5W Sentence Stretching Method with Examples</a:t>
            </a:r>
            <a:endParaRPr sz="4100">
              <a:solidFill>
                <a:srgbClr val="FFFFFF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/>
        </p:nvSpPr>
        <p:spPr>
          <a:xfrm>
            <a:off x="79900" y="173100"/>
            <a:ext cx="8928600" cy="1890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Source Code Pro"/>
                <a:ea typeface="Source Code Pro"/>
                <a:cs typeface="Source Code Pro"/>
                <a:sym typeface="Source Code Pro"/>
              </a:rPr>
              <a:t>Which </a:t>
            </a:r>
            <a:r>
              <a:rPr lang="en-US" sz="3000">
                <a:latin typeface="Source Code Pro"/>
                <a:ea typeface="Source Code Pro"/>
                <a:cs typeface="Source Code Pro"/>
                <a:sym typeface="Source Code Pro"/>
              </a:rPr>
              <a:t>sentence do you think gives a better example of a hungry dog?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169775" y="2826567"/>
            <a:ext cx="2406900" cy="3822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Code Pro"/>
                <a:ea typeface="Source Code Pro"/>
                <a:cs typeface="Source Code Pro"/>
                <a:sym typeface="Source Code Pro"/>
              </a:rPr>
              <a:t>The dog was hungry.</a:t>
            </a:r>
            <a:endParaRPr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3352650" y="2826567"/>
            <a:ext cx="2406900" cy="38220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Code Pro"/>
                <a:ea typeface="Source Code Pro"/>
                <a:cs typeface="Source Code Pro"/>
                <a:sym typeface="Source Code Pro"/>
              </a:rPr>
              <a:t>The dog howled in hunger. </a:t>
            </a:r>
            <a:endParaRPr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6535525" y="2826567"/>
            <a:ext cx="2406900" cy="38220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Code Pro"/>
                <a:ea typeface="Source Code Pro"/>
                <a:cs typeface="Source Code Pro"/>
                <a:sym typeface="Source Code Pro"/>
              </a:rPr>
              <a:t>The stray dog howled mournfully in the alley at midnight because of its hunger.   </a:t>
            </a:r>
            <a:endParaRPr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50" name="Google Shape;150;p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91440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>
            <a:hlinkClick r:id="rId5"/>
          </p:cNvPr>
          <p:cNvSpPr/>
          <p:nvPr/>
        </p:nvSpPr>
        <p:spPr>
          <a:xfrm>
            <a:off x="0" y="6942667"/>
            <a:ext cx="12600" cy="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corded with http://screencast-o-matic.com" id="157" name="Google Shape;157;p28" title="Stretchy Sentenc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793550" cy="659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549225" y="677400"/>
            <a:ext cx="2686800" cy="12726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Illustration Transitions</a:t>
            </a:r>
            <a:endParaRPr sz="24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4327063" y="677400"/>
            <a:ext cx="2686800" cy="12726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Stretched</a:t>
            </a:r>
            <a:endParaRPr sz="24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(5W) Sentences</a:t>
            </a:r>
            <a:endParaRPr sz="24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549225" y="2701625"/>
            <a:ext cx="7733700" cy="3392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Awesome Examples</a:t>
            </a:r>
            <a:endParaRPr sz="48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3161800" y="677400"/>
            <a:ext cx="1202400" cy="1272600"/>
          </a:xfrm>
          <a:prstGeom prst="mathPlus">
            <a:avLst>
              <a:gd fmla="val 23520" name="adj1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/>
          <p:nvPr/>
        </p:nvSpPr>
        <p:spPr>
          <a:xfrm>
            <a:off x="7080650" y="677400"/>
            <a:ext cx="1202400" cy="1272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1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77" y="0"/>
            <a:ext cx="3212533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2425" y="0"/>
            <a:ext cx="536980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190113" y="600500"/>
            <a:ext cx="8763775" cy="565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2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134300" y="464525"/>
            <a:ext cx="8875375" cy="572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3"/>
          <p:cNvPicPr preferRelativeResize="0"/>
          <p:nvPr/>
        </p:nvPicPr>
        <p:blipFill rotWithShape="1">
          <a:blip r:embed="rId3">
            <a:alphaModFix/>
          </a:blip>
          <a:srcRect b="48985" l="0" r="0" t="0"/>
          <a:stretch/>
        </p:blipFill>
        <p:spPr>
          <a:xfrm>
            <a:off x="171375" y="268425"/>
            <a:ext cx="8801250" cy="57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" y="0"/>
            <a:ext cx="52256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4"/>
          <p:cNvSpPr txBox="1"/>
          <p:nvPr/>
        </p:nvSpPr>
        <p:spPr>
          <a:xfrm>
            <a:off x="5291550" y="2389900"/>
            <a:ext cx="3503100" cy="3087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ochi Hand"/>
                <a:ea typeface="Gochi Hand"/>
                <a:cs typeface="Gochi Hand"/>
                <a:sym typeface="Gochi Hand"/>
              </a:rPr>
              <a:t>My friend is with his dog playing fetch at the park because they both want to have fun and exercise.</a:t>
            </a:r>
            <a:endParaRPr sz="3000">
              <a:latin typeface="Gochi Hand"/>
              <a:ea typeface="Gochi Hand"/>
              <a:cs typeface="Gochi Hand"/>
              <a:sym typeface="Gochi Hand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5261875" y="1558625"/>
            <a:ext cx="3547800" cy="7719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ochi Hand"/>
                <a:ea typeface="Gochi Hand"/>
                <a:cs typeface="Gochi Hand"/>
                <a:sym typeface="Gochi Hand"/>
              </a:rPr>
              <a:t>Example</a:t>
            </a:r>
            <a:endParaRPr sz="3000">
              <a:latin typeface="Gochi Hand"/>
              <a:ea typeface="Gochi Hand"/>
              <a:cs typeface="Gochi Hand"/>
              <a:sym typeface="Gochi Hand"/>
            </a:endParaRPr>
          </a:p>
        </p:txBody>
      </p:sp>
      <p:pic>
        <p:nvPicPr>
          <p:cNvPr id="201" name="Google Shape;201;p3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143625"/>
            <a:ext cx="91440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4">
            <a:hlinkClick r:id="rId6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