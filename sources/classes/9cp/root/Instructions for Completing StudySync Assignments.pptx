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Amatic SC"/>
      <p:regular r:id="rId24"/>
      <p:bold r:id="rId25"/>
    </p:embeddedFont>
    <p:embeddedFont>
      <p:font typeface="Source Code Pr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EC9E3F-7A32-4282-A983-DA8D2AE66FEA}">
  <a:tblStyle styleId="{C1EC9E3F-7A32-4282-A983-DA8D2AE66FE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AmaticSC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SourceCodePro-regular.fntdata"/><Relationship Id="rId25" Type="http://schemas.openxmlformats.org/officeDocument/2006/relationships/font" Target="fonts/AmaticSC-bold.fntdata"/><Relationship Id="rId28" Type="http://schemas.openxmlformats.org/officeDocument/2006/relationships/font" Target="fonts/SourceCodePro-italic.fntdata"/><Relationship Id="rId27" Type="http://schemas.openxmlformats.org/officeDocument/2006/relationships/font" Target="fonts/SourceCodePro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SourceCodePro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827b15cc95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827b15cc95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Description: This is a title slide.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53f56c37f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53f56c37f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53f56c37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53f56c37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88626c3f4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88626c3f4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Description: This is an announcement slide.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8862b7cba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8862b7cba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8862b7cba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8862b7cba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8514478f1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8514478f1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Description: This is an announcement slide.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8862b7cba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8862b7cba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Description: This is an announcement slide.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8862b7cbad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8862b7cbad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Description: This is an announcement slide.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8862b7cbad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8862b7cbad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Description: This is an announcement slide.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8862b7cbad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8862b7cbad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Description: This is an announcement slide.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8862b7cbad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8862b7cbad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Description: This is an announcement slide.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" name="Google Shape;83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21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85" name="Google Shape;85;p21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" name="Google Shape;8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87" name="Google Shape;8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23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presentation/d/1PkGHxv-7ci7oQurSGZc4I9w_VSV6IxAwMsOCth4yRaU/edit?usp=sharing" TargetMode="External"/><Relationship Id="rId4" Type="http://schemas.openxmlformats.org/officeDocument/2006/relationships/hyperlink" Target="https://docs.google.com/presentation/d/1PkGHxv-7ci7oQurSGZc4I9w_VSV6IxAwMsOCth4yRaU/edit?usp=sharing" TargetMode="External"/><Relationship Id="rId5" Type="http://schemas.openxmlformats.org/officeDocument/2006/relationships/hyperlink" Target="https://docs.google.com/presentation/d/1zp_yDD_3YrhirJL59fYGWydLuqtPIbrzf8iYQ4gK6iA/edit?usp=sharing" TargetMode="External"/><Relationship Id="rId6" Type="http://schemas.openxmlformats.org/officeDocument/2006/relationships/hyperlink" Target="https://docs.google.com/presentation/d/1zp_yDD_3YrhirJL59fYGWydLuqtPIbrzf8iYQ4gK6iA/edit?usp=sharin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google.com/presentation/d/1PkGHxv-7ci7oQurSGZc4I9w_VSV6IxAwMsOCth4yRaU/edit?usp=sharing" TargetMode="External"/><Relationship Id="rId4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/>
              <a:t>Completing StudySync Assignments</a:t>
            </a:r>
            <a:endParaRPr sz="9300"/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Aguirre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>
            <a:hlinkClick r:id="rId3"/>
          </p:cNvPr>
          <p:cNvSpPr/>
          <p:nvPr/>
        </p:nvSpPr>
        <p:spPr>
          <a:xfrm>
            <a:off x="180250" y="1893100"/>
            <a:ext cx="2808000" cy="1119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 u="sng">
                <a:solidFill>
                  <a:schemeClr val="hlink"/>
                </a:solidFill>
                <a:highlight>
                  <a:schemeClr val="dk1"/>
                </a:highlight>
                <a:latin typeface="Amatic SC"/>
                <a:ea typeface="Amatic SC"/>
                <a:cs typeface="Amatic SC"/>
                <a:sym typeface="Amatic SC"/>
                <a:hlinkClick r:id="rId4"/>
              </a:rPr>
              <a:t>Setting Up &amp; Accessing StudySync</a:t>
            </a:r>
            <a:endParaRPr/>
          </a:p>
        </p:txBody>
      </p:sp>
      <p:sp>
        <p:nvSpPr>
          <p:cNvPr id="108" name="Google Shape;108;p26"/>
          <p:cNvSpPr/>
          <p:nvPr/>
        </p:nvSpPr>
        <p:spPr>
          <a:xfrm>
            <a:off x="3168000" y="1893100"/>
            <a:ext cx="2808000" cy="111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highlight>
                  <a:srgbClr val="B7B7B7"/>
                </a:highlight>
                <a:latin typeface="Amatic SC"/>
                <a:ea typeface="Amatic SC"/>
                <a:cs typeface="Amatic SC"/>
                <a:sym typeface="Amatic SC"/>
              </a:rPr>
              <a:t>Completing StudySync Assignments</a:t>
            </a:r>
            <a:endParaRPr>
              <a:solidFill>
                <a:schemeClr val="lt2"/>
              </a:solidFill>
              <a:highlight>
                <a:srgbClr val="B7B7B7"/>
              </a:highlight>
            </a:endParaRPr>
          </a:p>
        </p:txBody>
      </p:sp>
      <p:sp>
        <p:nvSpPr>
          <p:cNvPr id="109" name="Google Shape;109;p26">
            <a:hlinkClick r:id="rId5"/>
          </p:cNvPr>
          <p:cNvSpPr/>
          <p:nvPr/>
        </p:nvSpPr>
        <p:spPr>
          <a:xfrm>
            <a:off x="6155750" y="1893100"/>
            <a:ext cx="2808000" cy="11193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 u="sng">
                <a:solidFill>
                  <a:schemeClr val="hlink"/>
                </a:solidFill>
                <a:highlight>
                  <a:schemeClr val="dk1"/>
                </a:highlight>
                <a:latin typeface="Amatic SC"/>
                <a:ea typeface="Amatic SC"/>
                <a:cs typeface="Amatic SC"/>
                <a:sym typeface="Amatic SC"/>
                <a:hlinkClick r:id="rId6"/>
              </a:rPr>
              <a:t>Example StudySync Assignment Responses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7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Credit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Enable Google Integrations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"/>
          <p:cNvSpPr txBox="1"/>
          <p:nvPr>
            <p:ph type="title"/>
          </p:nvPr>
        </p:nvSpPr>
        <p:spPr>
          <a:xfrm>
            <a:off x="365425" y="193000"/>
            <a:ext cx="56556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up StudySync to Integrate with Google</a:t>
            </a:r>
            <a:endParaRPr b="0" sz="1400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28"/>
          <p:cNvSpPr txBox="1"/>
          <p:nvPr>
            <p:ph idx="1" type="body"/>
          </p:nvPr>
        </p:nvSpPr>
        <p:spPr>
          <a:xfrm>
            <a:off x="423275" y="948700"/>
            <a:ext cx="3258000" cy="36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If you have not already done so, please set up StudySync to integrate with Google by clicking on the link to the right.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Your grades will not import from StudySync to Google Classroom or Aeries without completing this step.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21" name="Google Shape;121;p28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6825" y="1372288"/>
            <a:ext cx="3998225" cy="2398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" name="Google Shape;122;p28"/>
          <p:cNvCxnSpPr/>
          <p:nvPr/>
        </p:nvCxnSpPr>
        <p:spPr>
          <a:xfrm>
            <a:off x="2910575" y="1921875"/>
            <a:ext cx="2255100" cy="54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>
            <p:ph type="title"/>
          </p:nvPr>
        </p:nvSpPr>
        <p:spPr>
          <a:xfrm>
            <a:off x="490250" y="526350"/>
            <a:ext cx="829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Although you will be accessing StudySync for materials, some of the work you complete will be through </a:t>
            </a:r>
            <a:r>
              <a:rPr lang="en">
                <a:solidFill>
                  <a:srgbClr val="FFFF00"/>
                </a:solidFill>
              </a:rPr>
              <a:t>Google Classroom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0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Walkthrough USING the </a:t>
            </a:r>
            <a:r>
              <a:rPr lang="en"/>
              <a:t>First Day </a:t>
            </a:r>
            <a:r>
              <a:rPr lang="en"/>
              <a:t>as an </a:t>
            </a:r>
            <a:r>
              <a:rPr lang="en"/>
              <a:t>Example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1"/>
          <p:cNvSpPr txBox="1"/>
          <p:nvPr>
            <p:ph type="title"/>
          </p:nvPr>
        </p:nvSpPr>
        <p:spPr>
          <a:xfrm>
            <a:off x="365425" y="193000"/>
            <a:ext cx="6933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Example Outline of StudySync-Related Assignments</a:t>
            </a:r>
            <a:endParaRPr b="0" sz="1300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31"/>
          <p:cNvSpPr txBox="1"/>
          <p:nvPr>
            <p:ph idx="1" type="body"/>
          </p:nvPr>
        </p:nvSpPr>
        <p:spPr>
          <a:xfrm>
            <a:off x="456600" y="948700"/>
            <a:ext cx="3761400" cy="36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39" name="Google Shape;139;p31"/>
          <p:cNvPicPr preferRelativeResize="0"/>
          <p:nvPr/>
        </p:nvPicPr>
        <p:blipFill rotWithShape="1">
          <a:blip r:embed="rId3">
            <a:alphaModFix/>
          </a:blip>
          <a:srcRect b="0" l="10093" r="6498" t="0"/>
          <a:stretch/>
        </p:blipFill>
        <p:spPr>
          <a:xfrm>
            <a:off x="1189125" y="1449650"/>
            <a:ext cx="5475300" cy="242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2"/>
          <p:cNvSpPr txBox="1"/>
          <p:nvPr>
            <p:ph type="title"/>
          </p:nvPr>
        </p:nvSpPr>
        <p:spPr>
          <a:xfrm>
            <a:off x="365425" y="193000"/>
            <a:ext cx="7647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tudySync-Related Assignments As They Appear in Google Classroom </a:t>
            </a:r>
            <a:endParaRPr b="0" sz="1400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32"/>
          <p:cNvSpPr txBox="1"/>
          <p:nvPr>
            <p:ph idx="1" type="body"/>
          </p:nvPr>
        </p:nvSpPr>
        <p:spPr>
          <a:xfrm>
            <a:off x="456600" y="948700"/>
            <a:ext cx="3761400" cy="36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46" name="Google Shape;14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375" y="1013604"/>
            <a:ext cx="7059600" cy="355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>
            <p:ph type="title"/>
          </p:nvPr>
        </p:nvSpPr>
        <p:spPr>
          <a:xfrm>
            <a:off x="365425" y="193000"/>
            <a:ext cx="7647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lang="en"/>
              <a:t>Marigolds”: First Read: Vocabulary (20) &amp; Think (50-200)</a:t>
            </a:r>
            <a:endParaRPr b="0" sz="1400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52" name="Google Shape;152;p33"/>
          <p:cNvGraphicFramePr/>
          <p:nvPr/>
        </p:nvGraphicFramePr>
        <p:xfrm>
          <a:off x="711475" y="145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{C1EC9E3F-7A32-4282-A983-DA8D2AE66FEA}</a:tableStyleId>
              </a:tblPr>
              <a:tblGrid>
                <a:gridCol w="1838475"/>
                <a:gridCol w="3180275"/>
                <a:gridCol w="2509375"/>
              </a:tblGrid>
              <a:tr h="105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Read</a:t>
                      </a:r>
                      <a:endParaRPr sz="1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Watch the video and read the material on StudySync.</a:t>
                      </a:r>
                      <a:endParaRPr sz="1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05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Vocabulary</a:t>
                      </a:r>
                      <a:endParaRPr sz="1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Complete the document entitled, “Vocabulary.”</a:t>
                      </a:r>
                      <a:endParaRPr sz="1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05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Think Questions</a:t>
                      </a:r>
                      <a:endParaRPr sz="1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Complete the document entitled, “Think Questions.”</a:t>
                      </a:r>
                      <a:endParaRPr sz="1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153" name="Google Shape;15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8188" y="2037125"/>
            <a:ext cx="3022375" cy="47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8200" y="3098500"/>
            <a:ext cx="2976325" cy="41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8200" y="4150750"/>
            <a:ext cx="2976325" cy="41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/>
          <p:nvPr>
            <p:ph type="title"/>
          </p:nvPr>
        </p:nvSpPr>
        <p:spPr>
          <a:xfrm>
            <a:off x="365425" y="193000"/>
            <a:ext cx="7647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“Marigolds”: </a:t>
            </a:r>
            <a:r>
              <a:rPr lang="en"/>
              <a:t>Skill (</a:t>
            </a:r>
            <a:r>
              <a:rPr lang="en"/>
              <a:t>Character) (20)</a:t>
            </a:r>
            <a:endParaRPr b="0" sz="1400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61" name="Google Shape;161;p34"/>
          <p:cNvGraphicFramePr/>
          <p:nvPr/>
        </p:nvGraphicFramePr>
        <p:xfrm>
          <a:off x="711475" y="145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{C1EC9E3F-7A32-4282-A983-DA8D2AE66FEA}</a:tableStyleId>
              </a:tblPr>
              <a:tblGrid>
                <a:gridCol w="1838475"/>
                <a:gridCol w="3180275"/>
                <a:gridCol w="2509375"/>
              </a:tblGrid>
              <a:tr h="105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Define Video</a:t>
                      </a:r>
                      <a:endParaRPr sz="1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Watch the video and read the material on StudySync.</a:t>
                      </a:r>
                      <a:endParaRPr sz="1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05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Model Video/Rdg Notes</a:t>
                      </a:r>
                      <a:endParaRPr sz="1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Complete the document entitled, “Define/Model Video &amp; Reading Notes.”</a:t>
                      </a:r>
                      <a:endParaRPr sz="1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05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Your Turn Questions</a:t>
                      </a:r>
                      <a:endParaRPr sz="1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Complete the “Your Turn” section on StudySync.</a:t>
                      </a:r>
                      <a:endParaRPr sz="1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162" name="Google Shape;16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0825" y="2038900"/>
            <a:ext cx="2991475" cy="3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0825" y="4179825"/>
            <a:ext cx="2991475" cy="3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0825" y="3086189"/>
            <a:ext cx="2991475" cy="405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5"/>
          <p:cNvSpPr txBox="1"/>
          <p:nvPr>
            <p:ph type="title"/>
          </p:nvPr>
        </p:nvSpPr>
        <p:spPr>
          <a:xfrm>
            <a:off x="365425" y="193000"/>
            <a:ext cx="7647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“Marigolds”: Close Read (Reading Quiz) (100) &amp; Write! (100-200) </a:t>
            </a:r>
            <a:endParaRPr/>
          </a:p>
        </p:txBody>
      </p:sp>
      <p:graphicFrame>
        <p:nvGraphicFramePr>
          <p:cNvPr id="170" name="Google Shape;170;p35"/>
          <p:cNvGraphicFramePr/>
          <p:nvPr/>
        </p:nvGraphicFramePr>
        <p:xfrm>
          <a:off x="711475" y="145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{C1EC9E3F-7A32-4282-A983-DA8D2AE66FEA}</a:tableStyleId>
              </a:tblPr>
              <a:tblGrid>
                <a:gridCol w="1838475"/>
                <a:gridCol w="3180275"/>
                <a:gridCol w="2509375"/>
              </a:tblGrid>
              <a:tr h="105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Re-read</a:t>
                      </a:r>
                      <a:endParaRPr sz="1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Watch the video and re-read the material on StudySync.</a:t>
                      </a:r>
                      <a:endParaRPr sz="1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05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Reading Comprehension Questions</a:t>
                      </a:r>
                      <a:endParaRPr sz="1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Complete the “Write” section on StudySync.</a:t>
                      </a:r>
                      <a:endParaRPr sz="1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171" name="Google Shape;171;p35"/>
          <p:cNvPicPr preferRelativeResize="0"/>
          <p:nvPr/>
        </p:nvPicPr>
        <p:blipFill rotWithShape="1">
          <a:blip r:embed="rId3">
            <a:alphaModFix/>
          </a:blip>
          <a:srcRect b="4832" l="0" r="0" t="4841"/>
          <a:stretch/>
        </p:blipFill>
        <p:spPr>
          <a:xfrm>
            <a:off x="2640825" y="2038900"/>
            <a:ext cx="2991475" cy="3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5"/>
          <p:cNvPicPr preferRelativeResize="0"/>
          <p:nvPr/>
        </p:nvPicPr>
        <p:blipFill rotWithShape="1">
          <a:blip r:embed="rId3">
            <a:alphaModFix/>
          </a:blip>
          <a:srcRect b="2588" l="0" r="0" t="2598"/>
          <a:stretch/>
        </p:blipFill>
        <p:spPr>
          <a:xfrm>
            <a:off x="2640825" y="3086189"/>
            <a:ext cx="2991475" cy="405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6"/>
          <p:cNvSpPr txBox="1"/>
          <p:nvPr>
            <p:ph type="title"/>
          </p:nvPr>
        </p:nvSpPr>
        <p:spPr>
          <a:xfrm>
            <a:off x="365425" y="193000"/>
            <a:ext cx="7647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Notes</a:t>
            </a:r>
            <a:endParaRPr/>
          </a:p>
        </p:txBody>
      </p:sp>
      <p:sp>
        <p:nvSpPr>
          <p:cNvPr id="178" name="Google Shape;178;p36"/>
          <p:cNvSpPr txBox="1"/>
          <p:nvPr>
            <p:ph idx="1" type="body"/>
          </p:nvPr>
        </p:nvSpPr>
        <p:spPr>
          <a:xfrm>
            <a:off x="456600" y="948700"/>
            <a:ext cx="3761400" cy="36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Complete all of the day’s assignments before the due date.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Make sure to complete work in the correct place (StudySync or Google Classroom).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For work completed in Google Classroom, make sure you have (1) completed all of the required documents; (2) attached all of the required documents; and (3) clicked “submit.” 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