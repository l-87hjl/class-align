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7a29f602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7a29f602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7a29f602e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7a29f602e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hyperlink" Target="https://www.lodiusd.net/uploaded/Board_of_Education/Board_Policies/Series_5000/Policy_5145.3_ada.pdf"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www.lodiusd.net/uploaded/Board_of_Education/Board_Policies/Series_5000/Policy_5131.3_ada.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6676325" y="4378525"/>
            <a:ext cx="1992900" cy="3987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eorgia"/>
                <a:ea typeface="Georgia"/>
                <a:cs typeface="Georgia"/>
                <a:sym typeface="Georgia"/>
              </a:rPr>
              <a:t>LUSD </a:t>
            </a:r>
            <a:r>
              <a:rPr lang="en">
                <a:latin typeface="Georgia"/>
                <a:ea typeface="Georgia"/>
                <a:cs typeface="Georgia"/>
                <a:sym typeface="Georgia"/>
              </a:rPr>
              <a:t>Policy 5145.3 </a:t>
            </a:r>
            <a:endParaRPr>
              <a:latin typeface="Georgia"/>
              <a:ea typeface="Georgia"/>
              <a:cs typeface="Georgia"/>
              <a:sym typeface="Georgia"/>
            </a:endParaRPr>
          </a:p>
        </p:txBody>
      </p:sp>
      <p:sp>
        <p:nvSpPr>
          <p:cNvPr id="55" name="Google Shape;55;p13"/>
          <p:cNvSpPr txBox="1"/>
          <p:nvPr/>
        </p:nvSpPr>
        <p:spPr>
          <a:xfrm>
            <a:off x="277700" y="796875"/>
            <a:ext cx="8645100" cy="5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latin typeface="Georgia"/>
                <a:ea typeface="Georgia"/>
                <a:cs typeface="Georgia"/>
                <a:sym typeface="Georgia"/>
              </a:rPr>
              <a:t>The Board of Education desires to provide a safe school environment that allows all students equal access and opportunities in the district’s academic and other educational support programs, services and activities. The Board prohibits, at any district school or school activity, </a:t>
            </a:r>
            <a:endParaRPr sz="1100">
              <a:latin typeface="Georgia"/>
              <a:ea typeface="Georgia"/>
              <a:cs typeface="Georgia"/>
              <a:sym typeface="Georgia"/>
            </a:endParaRPr>
          </a:p>
          <a:p>
            <a:pPr indent="0" lvl="0" marL="0" rtl="0" algn="l">
              <a:spcBef>
                <a:spcPts val="0"/>
              </a:spcBef>
              <a:spcAft>
                <a:spcPts val="0"/>
              </a:spcAft>
              <a:buNone/>
            </a:pPr>
            <a:r>
              <a:t/>
            </a:r>
            <a:endParaRPr>
              <a:latin typeface="Georgia"/>
              <a:ea typeface="Georgia"/>
              <a:cs typeface="Georgia"/>
              <a:sym typeface="Georgia"/>
            </a:endParaRPr>
          </a:p>
        </p:txBody>
      </p:sp>
      <p:sp>
        <p:nvSpPr>
          <p:cNvPr id="56" name="Google Shape;56;p13"/>
          <p:cNvSpPr txBox="1"/>
          <p:nvPr/>
        </p:nvSpPr>
        <p:spPr>
          <a:xfrm>
            <a:off x="362225" y="265625"/>
            <a:ext cx="8198100" cy="53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Georgia"/>
                <a:ea typeface="Georgia"/>
                <a:cs typeface="Georgia"/>
                <a:sym typeface="Georgia"/>
              </a:rPr>
              <a:t>Nondiscrimination | Prohibition of Harassment, Intimidation, and Bullying</a:t>
            </a:r>
            <a:endParaRPr b="1" sz="1600">
              <a:latin typeface="Georgia"/>
              <a:ea typeface="Georgia"/>
              <a:cs typeface="Georgia"/>
              <a:sym typeface="Georgia"/>
            </a:endParaRPr>
          </a:p>
        </p:txBody>
      </p:sp>
      <p:sp>
        <p:nvSpPr>
          <p:cNvPr id="57" name="Google Shape;57;p13"/>
          <p:cNvSpPr txBox="1"/>
          <p:nvPr/>
        </p:nvSpPr>
        <p:spPr>
          <a:xfrm>
            <a:off x="362225" y="4829575"/>
            <a:ext cx="8307000" cy="2295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Georgia"/>
                <a:ea typeface="Georgia"/>
                <a:cs typeface="Georgia"/>
                <a:sym typeface="Georgia"/>
              </a:rPr>
              <a:t>View the full District policy at </a:t>
            </a:r>
            <a:r>
              <a:rPr lang="en" sz="1000" u="sng">
                <a:solidFill>
                  <a:schemeClr val="hlink"/>
                </a:solidFill>
                <a:latin typeface="Georgia"/>
                <a:ea typeface="Georgia"/>
                <a:cs typeface="Georgia"/>
                <a:sym typeface="Georgia"/>
                <a:hlinkClick r:id="rId3"/>
              </a:rPr>
              <a:t>https://www.lodiusd.net/uploaded/Board_of_Education/Board_Policies/Series_5000/Policy_5145.3_ada.pdf</a:t>
            </a:r>
            <a:endParaRPr sz="1000">
              <a:latin typeface="Georgia"/>
              <a:ea typeface="Georgia"/>
              <a:cs typeface="Georgia"/>
              <a:sym typeface="Georgia"/>
            </a:endParaRPr>
          </a:p>
        </p:txBody>
      </p:sp>
      <p:sp>
        <p:nvSpPr>
          <p:cNvPr id="58" name="Google Shape;58;p13"/>
          <p:cNvSpPr txBox="1"/>
          <p:nvPr/>
        </p:nvSpPr>
        <p:spPr>
          <a:xfrm>
            <a:off x="277700" y="1328177"/>
            <a:ext cx="8645100" cy="9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Georgia"/>
                <a:ea typeface="Georgia"/>
                <a:cs typeface="Georgia"/>
                <a:sym typeface="Georgia"/>
              </a:rPr>
              <a:t>unlawful discrimination, including discriminatory harassment, intimidation, and bullying [including physical, verbal, nonverbal, or written conduct]</a:t>
            </a:r>
            <a:endParaRPr b="1" sz="1800">
              <a:latin typeface="Georgia"/>
              <a:ea typeface="Georgia"/>
              <a:cs typeface="Georgia"/>
              <a:sym typeface="Georgia"/>
            </a:endParaRPr>
          </a:p>
        </p:txBody>
      </p:sp>
      <p:sp>
        <p:nvSpPr>
          <p:cNvPr id="59" name="Google Shape;59;p13"/>
          <p:cNvSpPr txBox="1"/>
          <p:nvPr/>
        </p:nvSpPr>
        <p:spPr>
          <a:xfrm>
            <a:off x="277700" y="2287875"/>
            <a:ext cx="8282400" cy="29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Georgia"/>
                <a:ea typeface="Georgia"/>
                <a:cs typeface="Georgia"/>
                <a:sym typeface="Georgia"/>
              </a:rPr>
              <a:t>of any student based on the student’s actual or perceived</a:t>
            </a:r>
            <a:endParaRPr sz="1100">
              <a:latin typeface="Georgia"/>
              <a:ea typeface="Georgia"/>
              <a:cs typeface="Georgia"/>
              <a:sym typeface="Georgia"/>
            </a:endParaRPr>
          </a:p>
        </p:txBody>
      </p:sp>
      <p:sp>
        <p:nvSpPr>
          <p:cNvPr id="60" name="Google Shape;60;p13"/>
          <p:cNvSpPr txBox="1"/>
          <p:nvPr/>
        </p:nvSpPr>
        <p:spPr>
          <a:xfrm>
            <a:off x="362225" y="2581875"/>
            <a:ext cx="8560500" cy="112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latin typeface="Georgia"/>
                <a:ea typeface="Georgia"/>
                <a:cs typeface="Georgia"/>
                <a:sym typeface="Georgia"/>
              </a:rPr>
              <a:t>race, color, ancestry, national origin, nationality, ethnicity, ethnic group identification, age, religion, marital or parental status, physical or mental disability, sex, sexual orientation, gender, gender identity, or gender expression</a:t>
            </a:r>
            <a:endParaRPr b="1" sz="2200">
              <a:latin typeface="Georgia"/>
              <a:ea typeface="Georgia"/>
              <a:cs typeface="Georgia"/>
              <a:sym typeface="Georgia"/>
            </a:endParaRPr>
          </a:p>
        </p:txBody>
      </p:sp>
      <p:sp>
        <p:nvSpPr>
          <p:cNvPr id="61" name="Google Shape;61;p13"/>
          <p:cNvSpPr txBox="1"/>
          <p:nvPr/>
        </p:nvSpPr>
        <p:spPr>
          <a:xfrm>
            <a:off x="249450" y="4430875"/>
            <a:ext cx="6306600" cy="29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1100">
                <a:latin typeface="Georgia"/>
                <a:ea typeface="Georgia"/>
                <a:cs typeface="Georgia"/>
                <a:sym typeface="Georgia"/>
              </a:rPr>
              <a:t>or association with a person or group with one or more of these actual or perceived characteristics. </a:t>
            </a:r>
            <a:endParaRPr sz="1100">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p:nvPr/>
        </p:nvSpPr>
        <p:spPr>
          <a:xfrm>
            <a:off x="6676325" y="4378525"/>
            <a:ext cx="1992900" cy="398700"/>
          </a:xfrm>
          <a:prstGeom prst="rect">
            <a:avLst/>
          </a:prstGeom>
          <a:solidFill>
            <a:srgbClr val="E6B8A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Georgia"/>
                <a:ea typeface="Georgia"/>
                <a:cs typeface="Georgia"/>
                <a:sym typeface="Georgia"/>
              </a:rPr>
              <a:t>LUSD Policy 5131.3 </a:t>
            </a:r>
            <a:endParaRPr>
              <a:latin typeface="Georgia"/>
              <a:ea typeface="Georgia"/>
              <a:cs typeface="Georgia"/>
              <a:sym typeface="Georgia"/>
            </a:endParaRPr>
          </a:p>
        </p:txBody>
      </p:sp>
      <p:sp>
        <p:nvSpPr>
          <p:cNvPr id="67" name="Google Shape;67;p14"/>
          <p:cNvSpPr txBox="1"/>
          <p:nvPr/>
        </p:nvSpPr>
        <p:spPr>
          <a:xfrm>
            <a:off x="277700" y="664075"/>
            <a:ext cx="8645100" cy="61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Georgia"/>
                <a:ea typeface="Georgia"/>
                <a:cs typeface="Georgia"/>
                <a:sym typeface="Georgia"/>
              </a:rPr>
              <a:t>The Board of Education recognizes the harmful effects of bullying on student learning and school attendance and desires to provide safe school environments that protect students from physical and emotional harm. District employees shall establish student safety as a high priority and shall not tolerate bullying of any student. </a:t>
            </a:r>
            <a:endParaRPr sz="1100">
              <a:latin typeface="Georgia"/>
              <a:ea typeface="Georgia"/>
              <a:cs typeface="Georgia"/>
              <a:sym typeface="Georgia"/>
            </a:endParaRPr>
          </a:p>
          <a:p>
            <a:pPr indent="0" lvl="0" marL="0" rtl="0" algn="l">
              <a:spcBef>
                <a:spcPts val="0"/>
              </a:spcBef>
              <a:spcAft>
                <a:spcPts val="0"/>
              </a:spcAft>
              <a:buNone/>
            </a:pPr>
            <a:r>
              <a:t/>
            </a:r>
            <a:endParaRPr sz="1100">
              <a:latin typeface="Georgia"/>
              <a:ea typeface="Georgia"/>
              <a:cs typeface="Georgia"/>
              <a:sym typeface="Georgia"/>
            </a:endParaRPr>
          </a:p>
          <a:p>
            <a:pPr indent="0" lvl="0" marL="0" rtl="0" algn="l">
              <a:spcBef>
                <a:spcPts val="0"/>
              </a:spcBef>
              <a:spcAft>
                <a:spcPts val="0"/>
              </a:spcAft>
              <a:buNone/>
            </a:pPr>
            <a:r>
              <a:t/>
            </a:r>
            <a:endParaRPr>
              <a:latin typeface="Georgia"/>
              <a:ea typeface="Georgia"/>
              <a:cs typeface="Georgia"/>
              <a:sym typeface="Georgia"/>
            </a:endParaRPr>
          </a:p>
        </p:txBody>
      </p:sp>
      <p:sp>
        <p:nvSpPr>
          <p:cNvPr id="68" name="Google Shape;68;p14"/>
          <p:cNvSpPr txBox="1"/>
          <p:nvPr/>
        </p:nvSpPr>
        <p:spPr>
          <a:xfrm>
            <a:off x="362225" y="265625"/>
            <a:ext cx="8198100" cy="531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Georgia"/>
                <a:ea typeface="Georgia"/>
                <a:cs typeface="Georgia"/>
                <a:sym typeface="Georgia"/>
              </a:rPr>
              <a:t>Prohibition of Bullying (including Cyberbullying)</a:t>
            </a:r>
            <a:endParaRPr b="1" sz="1600">
              <a:latin typeface="Georgia"/>
              <a:ea typeface="Georgia"/>
              <a:cs typeface="Georgia"/>
              <a:sym typeface="Georgia"/>
            </a:endParaRPr>
          </a:p>
        </p:txBody>
      </p:sp>
      <p:sp>
        <p:nvSpPr>
          <p:cNvPr id="69" name="Google Shape;69;p14"/>
          <p:cNvSpPr txBox="1"/>
          <p:nvPr/>
        </p:nvSpPr>
        <p:spPr>
          <a:xfrm>
            <a:off x="362225" y="4829575"/>
            <a:ext cx="8307000" cy="2295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Georgia"/>
                <a:ea typeface="Georgia"/>
                <a:cs typeface="Georgia"/>
                <a:sym typeface="Georgia"/>
              </a:rPr>
              <a:t>View the full District policy at </a:t>
            </a:r>
            <a:r>
              <a:rPr lang="en" sz="1000" u="sng">
                <a:solidFill>
                  <a:schemeClr val="hlink"/>
                </a:solidFill>
                <a:latin typeface="Georgia"/>
                <a:ea typeface="Georgia"/>
                <a:cs typeface="Georgia"/>
                <a:sym typeface="Georgia"/>
                <a:hlinkClick r:id="rId3"/>
              </a:rPr>
              <a:t>https://www.lodiusd.net/uploaded/Board_of_Education/Board_Policies/Series_5000/Policy_5131.3_ada.pdf</a:t>
            </a:r>
            <a:endParaRPr sz="1000">
              <a:latin typeface="Georgia"/>
              <a:ea typeface="Georgia"/>
              <a:cs typeface="Georgia"/>
              <a:sym typeface="Georgia"/>
            </a:endParaRPr>
          </a:p>
        </p:txBody>
      </p:sp>
      <p:sp>
        <p:nvSpPr>
          <p:cNvPr id="70" name="Google Shape;70;p14"/>
          <p:cNvSpPr txBox="1"/>
          <p:nvPr/>
        </p:nvSpPr>
        <p:spPr>
          <a:xfrm>
            <a:off x="320000" y="1279975"/>
            <a:ext cx="8645100" cy="12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latin typeface="Georgia"/>
                <a:ea typeface="Georgia"/>
                <a:cs typeface="Georgia"/>
                <a:sym typeface="Georgia"/>
              </a:rPr>
              <a:t>No student or groups of students shall, through physical, written, verbal, or other means, harass, sexually harass, threaten, intimidate, cyberbully, cause bodily injury to, or commit hate violence against any other student or school personnel. </a:t>
            </a:r>
            <a:endParaRPr b="1" sz="1800">
              <a:latin typeface="Georgia"/>
              <a:ea typeface="Georgia"/>
              <a:cs typeface="Georgia"/>
              <a:sym typeface="Georgia"/>
            </a:endParaRPr>
          </a:p>
          <a:p>
            <a:pPr indent="0" lvl="0" marL="0" rtl="0" algn="l">
              <a:spcBef>
                <a:spcPts val="0"/>
              </a:spcBef>
              <a:spcAft>
                <a:spcPts val="0"/>
              </a:spcAft>
              <a:buNone/>
            </a:pPr>
            <a:r>
              <a:t/>
            </a:r>
            <a:endParaRPr b="1" sz="1800">
              <a:latin typeface="Georgia"/>
              <a:ea typeface="Georgia"/>
              <a:cs typeface="Georgia"/>
              <a:sym typeface="Georgia"/>
            </a:endParaRPr>
          </a:p>
        </p:txBody>
      </p:sp>
      <p:sp>
        <p:nvSpPr>
          <p:cNvPr id="71" name="Google Shape;71;p14"/>
          <p:cNvSpPr txBox="1"/>
          <p:nvPr/>
        </p:nvSpPr>
        <p:spPr>
          <a:xfrm>
            <a:off x="320000" y="2539975"/>
            <a:ext cx="8560500" cy="17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latin typeface="Georgia"/>
                <a:ea typeface="Georgia"/>
                <a:cs typeface="Georgia"/>
                <a:sym typeface="Georgia"/>
              </a:rPr>
              <a:t>Cyberbullying includes the creation and transmission of harassing communication, direct threats, or other harmful texts, sounds, or images on the Internet, social media, or other technologies using a telephone, computer, or any wireless communication device. Cyberbullying also includes breaking into another person’s electronic account and assuming that person’s identity in order to damage that person’s reputation. </a:t>
            </a:r>
            <a:endParaRPr b="1" sz="1800">
              <a:latin typeface="Georgia"/>
              <a:ea typeface="Georgia"/>
              <a:cs typeface="Georgia"/>
              <a:sym typeface="Georgia"/>
            </a:endParaRPr>
          </a:p>
          <a:p>
            <a:pPr indent="0" lvl="0" marL="0" rtl="0" algn="l">
              <a:spcBef>
                <a:spcPts val="0"/>
              </a:spcBef>
              <a:spcAft>
                <a:spcPts val="0"/>
              </a:spcAft>
              <a:buNone/>
            </a:pPr>
            <a:r>
              <a:t/>
            </a:r>
            <a:endParaRPr b="1">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