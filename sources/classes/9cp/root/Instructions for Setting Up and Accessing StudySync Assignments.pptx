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Amatic SC"/>
      <p:regular r:id="rId22"/>
      <p:bold r:id="rId23"/>
    </p:embeddedFont>
    <p:embeddedFont>
      <p:font typeface="Source Code Pr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AmaticSC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AmaticS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7" Type="http://schemas.openxmlformats.org/officeDocument/2006/relationships/font" Target="fonts/SourceCodePr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27b15cc9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27b15cc9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 title slide.</a:t>
            </a:r>
            <a:endParaRPr sz="14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42ad85a5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42ad85a5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8626c3f4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8626c3f4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514478f1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514478f1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42ad85a5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42ad85a5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88626c3f4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88626c3f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88626c3f4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88626c3f4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836140d0be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836140d0be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 subsection title slide.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88626c3f4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88626c3f4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88626c3f4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88626c3f4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Georgia"/>
                <a:ea typeface="Georgia"/>
                <a:cs typeface="Georgia"/>
                <a:sym typeface="Georgia"/>
              </a:rPr>
              <a:t>Description: This is an announcement slide.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8626c3f4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8626c3f4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WpBMmXqqCwzgcW3mXVzrMDuA-7nkF5gruk1ZCpRcEBw/edit?usp=sharing" TargetMode="External"/><Relationship Id="rId4" Type="http://schemas.openxmlformats.org/officeDocument/2006/relationships/hyperlink" Target="https://docs.google.com/presentation/d/1WpBMmXqqCwzgcW3mXVzrMDuA-7nkF5gruk1ZCpRcEBw/edit?usp=sharing" TargetMode="External"/><Relationship Id="rId5" Type="http://schemas.openxmlformats.org/officeDocument/2006/relationships/hyperlink" Target="https://docs.google.com/presentation/d/1zp_yDD_3YrhirJL59fYGWydLuqtPIbrzf8iYQ4gK6iA/edit?usp=sharing" TargetMode="External"/><Relationship Id="rId6" Type="http://schemas.openxmlformats.org/officeDocument/2006/relationships/hyperlink" Target="https://docs.google.com/presentation/d/1zp_yDD_3YrhirJL59fYGWydLuqtPIbrzf8iYQ4gK6iA/edit?usp=shar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hyperlink" Target="https://apps.studysync.com/#!/public/pd-video?pd=1462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5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102" name="Google Shape;102;p25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Aguirre</a:t>
            </a:r>
            <a:endParaRPr/>
          </a:p>
        </p:txBody>
      </p:sp>
      <p:sp>
        <p:nvSpPr>
          <p:cNvPr id="103" name="Google Shape;103;p25"/>
          <p:cNvSpPr txBox="1"/>
          <p:nvPr>
            <p:ph type="ctrTitle"/>
          </p:nvPr>
        </p:nvSpPr>
        <p:spPr>
          <a:xfrm>
            <a:off x="1116800" y="2250775"/>
            <a:ext cx="7055100" cy="123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Setting Up &amp; Accessing StudySync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180250" y="1893100"/>
            <a:ext cx="2808000" cy="1119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highlight>
                  <a:srgbClr val="B7B7B7"/>
                </a:highlight>
                <a:latin typeface="Amatic SC"/>
                <a:ea typeface="Amatic SC"/>
                <a:cs typeface="Amatic SC"/>
                <a:sym typeface="Amatic SC"/>
              </a:rPr>
              <a:t>Setting Up &amp; Accessing StudySync</a:t>
            </a:r>
            <a:endParaRPr>
              <a:solidFill>
                <a:schemeClr val="lt2"/>
              </a:solidFill>
              <a:highlight>
                <a:srgbClr val="B7B7B7"/>
              </a:highlight>
            </a:endParaRPr>
          </a:p>
        </p:txBody>
      </p:sp>
      <p:sp>
        <p:nvSpPr>
          <p:cNvPr id="109" name="Google Shape;109;p26">
            <a:hlinkClick r:id="rId3"/>
          </p:cNvPr>
          <p:cNvSpPr/>
          <p:nvPr/>
        </p:nvSpPr>
        <p:spPr>
          <a:xfrm>
            <a:off x="3168000" y="1893100"/>
            <a:ext cx="2808000" cy="11193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  <a:hlinkClick r:id="rId4"/>
              </a:rPr>
              <a:t>Completing StudySync Assignments</a:t>
            </a:r>
            <a:endParaRPr/>
          </a:p>
        </p:txBody>
      </p:sp>
      <p:sp>
        <p:nvSpPr>
          <p:cNvPr id="110" name="Google Shape;110;p26">
            <a:hlinkClick r:id="rId5"/>
          </p:cNvPr>
          <p:cNvSpPr/>
          <p:nvPr/>
        </p:nvSpPr>
        <p:spPr>
          <a:xfrm>
            <a:off x="6155750" y="1893100"/>
            <a:ext cx="2808000" cy="1119300"/>
          </a:xfrm>
          <a:prstGeom prst="rect">
            <a:avLst/>
          </a:prstGeom>
          <a:solidFill>
            <a:srgbClr val="99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hlink"/>
                </a:solidFill>
                <a:highlight>
                  <a:schemeClr val="dk1"/>
                </a:highlight>
                <a:latin typeface="Amatic SC"/>
                <a:ea typeface="Amatic SC"/>
                <a:cs typeface="Amatic SC"/>
                <a:sym typeface="Amatic SC"/>
                <a:hlinkClick r:id="rId6"/>
              </a:rPr>
              <a:t>Example StudySync Assignment Responses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StudySync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(Complete ONCE ONLY)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8"/>
          <p:cNvSpPr txBox="1"/>
          <p:nvPr>
            <p:ph type="title"/>
          </p:nvPr>
        </p:nvSpPr>
        <p:spPr>
          <a:xfrm>
            <a:off x="365425" y="193000"/>
            <a:ext cx="472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</a:t>
            </a:r>
            <a:r>
              <a:rPr lang="en"/>
              <a:t> StudySync from Clever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8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Sign in to Clever;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and click on the McGrawHill Education (ConnectEd) icon; and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Launch California StudySync ELA with ELD. This involves clicking multiple links in a row. Pretend the orange circle in the StudySync logo is a button, and just keep clicking that option until you see the StudySync dashboard.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22" name="Google Shape;12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7350" y="457950"/>
            <a:ext cx="755700" cy="7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8"/>
          <p:cNvPicPr preferRelativeResize="0"/>
          <p:nvPr/>
        </p:nvPicPr>
        <p:blipFill rotWithShape="1">
          <a:blip r:embed="rId4">
            <a:alphaModFix/>
          </a:blip>
          <a:srcRect b="0" l="0" r="0" t="-3082"/>
          <a:stretch/>
        </p:blipFill>
        <p:spPr>
          <a:xfrm>
            <a:off x="5664525" y="1133500"/>
            <a:ext cx="1430650" cy="1866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" name="Google Shape;124;p28"/>
          <p:cNvCxnSpPr>
            <a:stCxn id="122" idx="3"/>
            <a:endCxn id="123" idx="0"/>
          </p:cNvCxnSpPr>
          <p:nvPr/>
        </p:nvCxnSpPr>
        <p:spPr>
          <a:xfrm>
            <a:off x="5143050" y="835800"/>
            <a:ext cx="1236900" cy="29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5" name="Google Shape;12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5975" y="2818550"/>
            <a:ext cx="1581150" cy="166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6" name="Google Shape;126;p28"/>
          <p:cNvCxnSpPr>
            <a:stCxn id="123" idx="3"/>
            <a:endCxn id="125" idx="0"/>
          </p:cNvCxnSpPr>
          <p:nvPr/>
        </p:nvCxnSpPr>
        <p:spPr>
          <a:xfrm>
            <a:off x="7095175" y="2066512"/>
            <a:ext cx="911400" cy="75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8"/>
          <p:cNvCxnSpPr/>
          <p:nvPr/>
        </p:nvCxnSpPr>
        <p:spPr>
          <a:xfrm flipH="1" rot="10800000">
            <a:off x="3476625" y="3310050"/>
            <a:ext cx="4167300" cy="237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28"/>
          <p:cNvSpPr txBox="1"/>
          <p:nvPr/>
        </p:nvSpPr>
        <p:spPr>
          <a:xfrm>
            <a:off x="458275" y="4055125"/>
            <a:ext cx="2912700" cy="6906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6"/>
              </a:rPr>
              <a:t>Video Link</a:t>
            </a:r>
            <a:endParaRPr b="1" sz="2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65425" y="193000"/>
            <a:ext cx="472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StudySync from Clever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You will know you are at the dashboard when you see your name in the upper-right-hand corner and a greeting in the center part of the screen.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5425" y="452450"/>
            <a:ext cx="496250" cy="49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9"/>
          <p:cNvPicPr preferRelativeResize="0"/>
          <p:nvPr/>
        </p:nvPicPr>
        <p:blipFill rotWithShape="1">
          <a:blip r:embed="rId4">
            <a:alphaModFix/>
          </a:blip>
          <a:srcRect b="0" l="0" r="0" t="-3082"/>
          <a:stretch/>
        </p:blipFill>
        <p:spPr>
          <a:xfrm>
            <a:off x="5009675" y="322725"/>
            <a:ext cx="579382" cy="75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29"/>
          <p:cNvCxnSpPr>
            <a:stCxn id="135" idx="3"/>
            <a:endCxn id="136" idx="1"/>
          </p:cNvCxnSpPr>
          <p:nvPr/>
        </p:nvCxnSpPr>
        <p:spPr>
          <a:xfrm>
            <a:off x="4621675" y="700575"/>
            <a:ext cx="38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8" name="Google Shape;13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77050" y="322732"/>
            <a:ext cx="716835" cy="755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9"/>
          <p:cNvCxnSpPr>
            <a:stCxn id="136" idx="3"/>
            <a:endCxn id="138" idx="1"/>
          </p:cNvCxnSpPr>
          <p:nvPr/>
        </p:nvCxnSpPr>
        <p:spPr>
          <a:xfrm>
            <a:off x="5589057" y="700575"/>
            <a:ext cx="38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0" name="Google Shape;140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6600" y="2195593"/>
            <a:ext cx="8496300" cy="202293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/>
          <p:nvPr/>
        </p:nvSpPr>
        <p:spPr>
          <a:xfrm>
            <a:off x="7048500" y="2066075"/>
            <a:ext cx="1536000" cy="8511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9"/>
          <p:cNvSpPr/>
          <p:nvPr/>
        </p:nvSpPr>
        <p:spPr>
          <a:xfrm>
            <a:off x="1752400" y="3087475"/>
            <a:ext cx="4898400" cy="8511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65425" y="193000"/>
            <a:ext cx="472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</a:t>
            </a:r>
            <a:r>
              <a:rPr lang="en"/>
              <a:t>StudySync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456600" y="948700"/>
            <a:ext cx="32580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Once you are logged in to StudySync: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your name in the upper right-hand corner;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Click on the downward-pointing arrow;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Select “Settings”;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Select “Google” at the bottom of the list; and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Sign in to Google and enable Google integrations.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9" name="Google Shape;149;p30"/>
          <p:cNvPicPr preferRelativeResize="0"/>
          <p:nvPr/>
        </p:nvPicPr>
        <p:blipFill rotWithShape="1">
          <a:blip r:embed="rId3">
            <a:alphaModFix/>
          </a:blip>
          <a:srcRect b="5706" l="0" r="0" t="5697"/>
          <a:stretch/>
        </p:blipFill>
        <p:spPr>
          <a:xfrm>
            <a:off x="2878375" y="192988"/>
            <a:ext cx="1867550" cy="5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5425" y="838000"/>
            <a:ext cx="1661032" cy="321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4650" y="2571750"/>
            <a:ext cx="1335450" cy="2301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30"/>
          <p:cNvCxnSpPr>
            <a:stCxn id="149" idx="3"/>
            <a:endCxn id="150" idx="0"/>
          </p:cNvCxnSpPr>
          <p:nvPr/>
        </p:nvCxnSpPr>
        <p:spPr>
          <a:xfrm>
            <a:off x="4745925" y="453150"/>
            <a:ext cx="1299900" cy="38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30"/>
          <p:cNvCxnSpPr>
            <a:stCxn id="150" idx="3"/>
            <a:endCxn id="151" idx="0"/>
          </p:cNvCxnSpPr>
          <p:nvPr/>
        </p:nvCxnSpPr>
        <p:spPr>
          <a:xfrm>
            <a:off x="6876457" y="2447112"/>
            <a:ext cx="1195800" cy="12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490250" y="526350"/>
            <a:ext cx="8132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" sz="4000"/>
              <a:t>You will now be able to access studysync assignments by clicking on Assignments in Google Classroom.</a:t>
            </a:r>
            <a:endParaRPr sz="4000"/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SzPts val="4000"/>
              <a:buAutoNum type="arabicPeriod"/>
            </a:pPr>
            <a:r>
              <a:rPr lang="en" sz="4000"/>
              <a:t>Points earned in StudySync (such as through quizzes) will now sync with Google Classroom, which means you will receive credit.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Accessing</a:t>
            </a:r>
            <a:r>
              <a:rPr lang="en"/>
              <a:t> StudySync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(After Initial Setup)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365425" y="193000"/>
            <a:ext cx="47244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 Google Classroom from Clever</a:t>
            </a:r>
            <a:endParaRPr b="0" sz="1400">
              <a:solidFill>
                <a:srgbClr val="000000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456600" y="948700"/>
            <a:ext cx="3761400" cy="3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Sign in to Clever;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and click on the Google Classroom icon.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0" name="Google Shape;17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825" y="1148525"/>
            <a:ext cx="755700" cy="7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3"/>
          <p:cNvPicPr preferRelativeResize="0"/>
          <p:nvPr/>
        </p:nvPicPr>
        <p:blipFill rotWithShape="1">
          <a:blip r:embed="rId4">
            <a:alphaModFix/>
          </a:blip>
          <a:srcRect b="0" l="1466" r="1466" t="0"/>
          <a:stretch/>
        </p:blipFill>
        <p:spPr>
          <a:xfrm>
            <a:off x="6140775" y="2455100"/>
            <a:ext cx="1430650" cy="1866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33"/>
          <p:cNvCxnSpPr>
            <a:stCxn id="170" idx="3"/>
            <a:endCxn id="171" idx="0"/>
          </p:cNvCxnSpPr>
          <p:nvPr/>
        </p:nvCxnSpPr>
        <p:spPr>
          <a:xfrm>
            <a:off x="5845525" y="1526375"/>
            <a:ext cx="1010700" cy="9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365425" y="193000"/>
            <a:ext cx="4724400" cy="10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Access</a:t>
            </a:r>
            <a:r>
              <a:rPr lang="en"/>
              <a:t> StudySync Assignments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Google Classroom</a:t>
            </a:r>
            <a:endParaRPr/>
          </a:p>
        </p:txBody>
      </p:sp>
      <p:sp>
        <p:nvSpPr>
          <p:cNvPr id="178" name="Google Shape;178;p34"/>
          <p:cNvSpPr txBox="1"/>
          <p:nvPr>
            <p:ph idx="1" type="body"/>
          </p:nvPr>
        </p:nvSpPr>
        <p:spPr>
          <a:xfrm>
            <a:off x="456600" y="1254700"/>
            <a:ext cx="3258000" cy="331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Once you are logged in to Google Classroom: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and click on the “classwork” tab on the upper part of the screen;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Locate and click on the desired day in the left-hand menu;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●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Click on the assignment name; and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○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Click on the StudySync link; or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eorgia"/>
              <a:buChar char="○"/>
            </a:pP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Click on “view assignment” and then c</a:t>
            </a: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lick on the StudySync link.</a:t>
            </a:r>
            <a:r>
              <a:rPr lang="en" sz="140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endParaRPr sz="140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79" name="Google Shape;17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0975" y="272150"/>
            <a:ext cx="1060400" cy="62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9" y="1103801"/>
            <a:ext cx="1766718" cy="62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9" y="2129786"/>
            <a:ext cx="3519550" cy="88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3025" y="3553250"/>
            <a:ext cx="4958550" cy="14523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34"/>
          <p:cNvCxnSpPr>
            <a:endCxn id="180" idx="0"/>
          </p:cNvCxnSpPr>
          <p:nvPr/>
        </p:nvCxnSpPr>
        <p:spPr>
          <a:xfrm>
            <a:off x="4961258" y="893801"/>
            <a:ext cx="494100" cy="21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4" name="Google Shape;184;p34"/>
          <p:cNvCxnSpPr>
            <a:stCxn id="180" idx="2"/>
            <a:endCxn id="181" idx="0"/>
          </p:cNvCxnSpPr>
          <p:nvPr/>
        </p:nvCxnSpPr>
        <p:spPr>
          <a:xfrm>
            <a:off x="5455358" y="1725426"/>
            <a:ext cx="876300" cy="40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34"/>
          <p:cNvCxnSpPr>
            <a:stCxn id="181" idx="2"/>
            <a:endCxn id="182" idx="0"/>
          </p:cNvCxnSpPr>
          <p:nvPr/>
        </p:nvCxnSpPr>
        <p:spPr>
          <a:xfrm>
            <a:off x="6331774" y="3013711"/>
            <a:ext cx="210600" cy="539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433250" y="526350"/>
            <a:ext cx="83763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Provided you correctly set up StudySync, links will take you </a:t>
            </a:r>
            <a:r>
              <a:rPr i="1" lang="en"/>
              <a:t>directly  </a:t>
            </a:r>
            <a:r>
              <a:rPr lang="en"/>
              <a:t>to the assignment.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