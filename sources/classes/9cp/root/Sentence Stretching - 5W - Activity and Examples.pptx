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Tahoma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BEB852-6951-490B-BA8F-15BF014B92AB}">
  <a:tblStyle styleId="{B9BEB852-6951-490B-BA8F-15BF014B92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Tahoma-bold.fntdata"/><Relationship Id="rId10" Type="http://schemas.openxmlformats.org/officeDocument/2006/relationships/font" Target="fonts/Tahoma-regular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4f09cc96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4f09cc9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example 	including		(as an) illustration	one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(for) instance 	specifically		to illustrate 			once</a:t>
            </a:r>
            <a:endParaRPr sz="1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40"/>
              </a:buClr>
              <a:buSzPts val="1900"/>
              <a:buFont typeface="Tahoma"/>
              <a:buNone/>
            </a:pPr>
            <a:r>
              <a:rPr lang="en" sz="1900">
                <a:solidFill>
                  <a:srgbClr val="800040"/>
                </a:solidFill>
                <a:latin typeface="Tahoma"/>
                <a:ea typeface="Tahoma"/>
                <a:cs typeface="Tahoma"/>
                <a:sym typeface="Tahoma"/>
              </a:rPr>
              <a:t>	such as			to be specific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4f09cc96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4f09cc96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4f09cc96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4f09cc96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1341500" y="3559200"/>
            <a:ext cx="1291500" cy="15843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Drag and drop one transition to each minor detail.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" name="Google Shape;55;p13"/>
          <p:cNvCxnSpPr/>
          <p:nvPr/>
        </p:nvCxnSpPr>
        <p:spPr>
          <a:xfrm flipH="1" rot="10800000">
            <a:off x="-1324950" y="21750"/>
            <a:ext cx="1411800" cy="935700"/>
          </a:xfrm>
          <a:prstGeom prst="curvedConnector3">
            <a:avLst>
              <a:gd fmla="val -21444" name="adj1"/>
            </a:avLst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" name="Google Shape;56;p13"/>
          <p:cNvGraphicFramePr/>
          <p:nvPr/>
        </p:nvGraphicFramePr>
        <p:xfrm>
          <a:off x="4784275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{B9BEB852-6951-490B-BA8F-15BF014B92AB}</a:tableStyleId>
              </a:tblPr>
              <a:tblGrid>
                <a:gridCol w="4359725"/>
              </a:tblGrid>
              <a:tr h="64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__________</a:t>
                      </a:r>
                      <a:r>
                        <a:rPr lang="en"/>
                        <a:t> is someone I admire for several </a:t>
                      </a:r>
                      <a:r>
                        <a:rPr b="1" lang="en"/>
                        <a:t>reasons</a:t>
                      </a:r>
                      <a:r>
                        <a:rPr lang="en"/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39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9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Another reason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is because . . . 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9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89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These are a few reasons I admire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>
            <a:off x="-1358250" y="0"/>
            <a:ext cx="1291500" cy="698100"/>
          </a:xfrm>
          <a:prstGeom prst="rect">
            <a:avLst/>
          </a:prstGeom>
          <a:solidFill>
            <a:srgbClr val="9900FF">
              <a:alpha val="39870"/>
            </a:srgbClr>
          </a:solidFill>
          <a:ln cap="flat" cmpd="sng" w="9525">
            <a:solidFill>
              <a:srgbClr val="CC66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Word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Bank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-1324850" y="757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example,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-1341600" y="12168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For instance,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-1341600" y="16765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Specifically,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-1341600" y="259605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such as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-1324850" y="3077625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including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-1341600" y="2136300"/>
            <a:ext cx="1258200" cy="4008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To illustrate,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oogle Shape;68;p14"/>
          <p:cNvGraphicFramePr/>
          <p:nvPr/>
        </p:nvGraphicFramePr>
        <p:xfrm>
          <a:off x="21825" y="169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{B9BEB852-6951-490B-BA8F-15BF014B92AB}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14"/>
          <p:cNvSpPr txBox="1"/>
          <p:nvPr/>
        </p:nvSpPr>
        <p:spPr>
          <a:xfrm>
            <a:off x="165925" y="1213800"/>
            <a:ext cx="67239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Major Detail 1: One reason 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3675" y="69850"/>
            <a:ext cx="4882800" cy="916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Graphic Organizer</a:t>
            </a:r>
            <a:endParaRPr sz="4400"/>
          </a:p>
        </p:txBody>
      </p:sp>
      <p:graphicFrame>
        <p:nvGraphicFramePr>
          <p:cNvPr id="71" name="Google Shape;71;p14"/>
          <p:cNvGraphicFramePr/>
          <p:nvPr/>
        </p:nvGraphicFramePr>
        <p:xfrm>
          <a:off x="21825" y="351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{B9BEB852-6951-490B-BA8F-15BF014B92AB}</a:tableStyleId>
              </a:tblPr>
              <a:tblGrid>
                <a:gridCol w="1828800"/>
                <a:gridCol w="1828800"/>
                <a:gridCol w="1828800"/>
                <a:gridCol w="1828800"/>
                <a:gridCol w="1785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Who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What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When 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Where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</a:rPr>
                        <a:t>Why</a:t>
                      </a:r>
                      <a:endParaRPr b="1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/>
        </p:nvSpPr>
        <p:spPr>
          <a:xfrm>
            <a:off x="165925" y="3035225"/>
            <a:ext cx="6745800" cy="401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Major Detail 2: Another reason I admire </a:t>
            </a:r>
            <a:r>
              <a:rPr lang="en">
                <a:solidFill>
                  <a:schemeClr val="dk1"/>
                </a:solidFill>
              </a:rPr>
              <a:t>I admire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</a:t>
            </a:r>
            <a:r>
              <a:rPr lang="en">
                <a:solidFill>
                  <a:schemeClr val="dk1"/>
                </a:solidFill>
              </a:rPr>
              <a:t> is because . . .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" name="Google Shape;73;p14"/>
          <p:cNvCxnSpPr>
            <a:endCxn id="69" idx="3"/>
          </p:cNvCxnSpPr>
          <p:nvPr/>
        </p:nvCxnSpPr>
        <p:spPr>
          <a:xfrm flipH="1" rot="10800000">
            <a:off x="2672125" y="141465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flipH="1" rot="10800000">
            <a:off x="2693950" y="3235900"/>
            <a:ext cx="4217700" cy="279600"/>
          </a:xfrm>
          <a:prstGeom prst="bentConnector3">
            <a:avLst>
              <a:gd fmla="val 112634" name="adj1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