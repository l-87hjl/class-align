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bf07eb61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dbf07eb61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bf07eb6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dbf07eb6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712ecd2ff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12ecd2ff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3182138"/>
            <a:ext cx="6726062" cy="206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3787" y="3182884"/>
            <a:ext cx="2307831" cy="207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0" y="1942559"/>
            <a:ext cx="6726000" cy="12453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6833786" y="1942559"/>
            <a:ext cx="2307900" cy="124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510242" y="2050282"/>
            <a:ext cx="6108000" cy="10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10242" y="3295529"/>
            <a:ext cx="6108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941510" y="2062753"/>
            <a:ext cx="879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510241" y="1752655"/>
            <a:ext cx="72105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651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68" y="3065926"/>
            <a:ext cx="1202248" cy="10820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-1" y="20447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7939369" y="20447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510242" y="2152421"/>
            <a:ext cx="7210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510242" y="3174128"/>
            <a:ext cx="72105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047091" y="2152421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9" name="Google Shape;4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0" name="Google Shape;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510240" y="1752655"/>
            <a:ext cx="35238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4195592" y="1752655"/>
            <a:ext cx="35250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 txBox="1"/>
          <p:nvPr>
            <p:ph type="title"/>
          </p:nvPr>
        </p:nvSpPr>
        <p:spPr>
          <a:xfrm>
            <a:off x="510239" y="564922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" type="body"/>
          </p:nvPr>
        </p:nvSpPr>
        <p:spPr>
          <a:xfrm>
            <a:off x="679763" y="1752655"/>
            <a:ext cx="33543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6" name="Google Shape;66;p7"/>
          <p:cNvSpPr txBox="1"/>
          <p:nvPr>
            <p:ph idx="2" type="body"/>
          </p:nvPr>
        </p:nvSpPr>
        <p:spPr>
          <a:xfrm>
            <a:off x="510242" y="2272506"/>
            <a:ext cx="35238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3" type="body"/>
          </p:nvPr>
        </p:nvSpPr>
        <p:spPr>
          <a:xfrm>
            <a:off x="4365116" y="1752655"/>
            <a:ext cx="33555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8" name="Google Shape;68;p7"/>
          <p:cNvSpPr txBox="1"/>
          <p:nvPr>
            <p:ph idx="4" type="body"/>
          </p:nvPr>
        </p:nvSpPr>
        <p:spPr>
          <a:xfrm>
            <a:off x="4195592" y="2272506"/>
            <a:ext cx="35250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9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 txBox="1"/>
          <p:nvPr>
            <p:ph type="title"/>
          </p:nvPr>
        </p:nvSpPr>
        <p:spPr>
          <a:xfrm>
            <a:off x="510241" y="564920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" type="body"/>
          </p:nvPr>
        </p:nvSpPr>
        <p:spPr>
          <a:xfrm>
            <a:off x="3514385" y="1752655"/>
            <a:ext cx="42063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2" type="body"/>
          </p:nvPr>
        </p:nvSpPr>
        <p:spPr>
          <a:xfrm>
            <a:off x="510242" y="1752654"/>
            <a:ext cx="28425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9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 txBox="1"/>
          <p:nvPr>
            <p:ph type="title"/>
          </p:nvPr>
        </p:nvSpPr>
        <p:spPr>
          <a:xfrm>
            <a:off x="510242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0"/>
          <p:cNvSpPr/>
          <p:nvPr>
            <p:ph idx="2" type="pic"/>
          </p:nvPr>
        </p:nvSpPr>
        <p:spPr>
          <a:xfrm>
            <a:off x="3651250" y="1752656"/>
            <a:ext cx="4069500" cy="26994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510242" y="1752655"/>
            <a:ext cx="29073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0" name="Google Shape;100;p10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0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0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446471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4447216"/>
            <a:ext cx="1202248" cy="1082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0" y="3425991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7939370" y="3425991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 txBox="1"/>
          <p:nvPr>
            <p:ph type="title"/>
          </p:nvPr>
        </p:nvSpPr>
        <p:spPr>
          <a:xfrm>
            <a:off x="510242" y="3533712"/>
            <a:ext cx="72105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1"/>
          <p:cNvSpPr/>
          <p:nvPr>
            <p:ph idx="2" type="pic"/>
          </p:nvPr>
        </p:nvSpPr>
        <p:spPr>
          <a:xfrm>
            <a:off x="510242" y="457198"/>
            <a:ext cx="7210500" cy="26922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510239" y="3877187"/>
            <a:ext cx="7210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11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2" type="sldNum"/>
          </p:nvPr>
        </p:nvSpPr>
        <p:spPr>
          <a:xfrm>
            <a:off x="8047091" y="3533482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446471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4447216"/>
            <a:ext cx="1202248" cy="10820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0" y="3425991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7939370" y="3425991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510242" y="457198"/>
            <a:ext cx="72105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" type="body"/>
          </p:nvPr>
        </p:nvSpPr>
        <p:spPr>
          <a:xfrm>
            <a:off x="510242" y="3533711"/>
            <a:ext cx="7210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12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2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047091" y="3533711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446471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4447216"/>
            <a:ext cx="1202248" cy="10820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0" y="3425991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7939370" y="3425991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type="title"/>
          </p:nvPr>
        </p:nvSpPr>
        <p:spPr>
          <a:xfrm>
            <a:off x="845892" y="457199"/>
            <a:ext cx="6539100" cy="22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" type="body"/>
          </p:nvPr>
        </p:nvSpPr>
        <p:spPr>
          <a:xfrm>
            <a:off x="1051716" y="2740034"/>
            <a:ext cx="611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2" type="body"/>
          </p:nvPr>
        </p:nvSpPr>
        <p:spPr>
          <a:xfrm>
            <a:off x="510242" y="3533711"/>
            <a:ext cx="7210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047091" y="3532444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437679" y="56108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b="0" i="0" lang="en" sz="5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sz="1100"/>
          </a:p>
        </p:txBody>
      </p:sp>
      <p:sp>
        <p:nvSpPr>
          <p:cNvPr id="136" name="Google Shape;136;p13"/>
          <p:cNvSpPr txBox="1"/>
          <p:nvPr/>
        </p:nvSpPr>
        <p:spPr>
          <a:xfrm>
            <a:off x="7247107" y="2275143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b="0" i="0" lang="en" sz="5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446471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4447216"/>
            <a:ext cx="1202248" cy="10820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/>
          <p:nvPr/>
        </p:nvSpPr>
        <p:spPr>
          <a:xfrm>
            <a:off x="0" y="3425991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7939370" y="3425991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510239" y="3533711"/>
            <a:ext cx="72105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510240" y="3975112"/>
            <a:ext cx="72105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14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8047091" y="3532444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 txBox="1"/>
          <p:nvPr>
            <p:ph type="title"/>
          </p:nvPr>
        </p:nvSpPr>
        <p:spPr>
          <a:xfrm>
            <a:off x="501917" y="564921"/>
            <a:ext cx="7218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495710" y="1752655"/>
            <a:ext cx="2302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4" name="Google Shape;154;p15"/>
          <p:cNvSpPr txBox="1"/>
          <p:nvPr>
            <p:ph idx="2" type="body"/>
          </p:nvPr>
        </p:nvSpPr>
        <p:spPr>
          <a:xfrm>
            <a:off x="510242" y="2267005"/>
            <a:ext cx="2287200" cy="21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5" name="Google Shape;155;p15"/>
          <p:cNvSpPr txBox="1"/>
          <p:nvPr>
            <p:ph idx="3" type="body"/>
          </p:nvPr>
        </p:nvSpPr>
        <p:spPr>
          <a:xfrm>
            <a:off x="2967019" y="1752655"/>
            <a:ext cx="2297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6" name="Google Shape;156;p15"/>
          <p:cNvSpPr txBox="1"/>
          <p:nvPr>
            <p:ph idx="4" type="body"/>
          </p:nvPr>
        </p:nvSpPr>
        <p:spPr>
          <a:xfrm>
            <a:off x="2959103" y="2267005"/>
            <a:ext cx="2297400" cy="21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7" name="Google Shape;157;p15"/>
          <p:cNvSpPr txBox="1"/>
          <p:nvPr>
            <p:ph idx="5" type="body"/>
          </p:nvPr>
        </p:nvSpPr>
        <p:spPr>
          <a:xfrm>
            <a:off x="5418117" y="1752655"/>
            <a:ext cx="2302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8" name="Google Shape;158;p15"/>
          <p:cNvSpPr txBox="1"/>
          <p:nvPr>
            <p:ph idx="6" type="body"/>
          </p:nvPr>
        </p:nvSpPr>
        <p:spPr>
          <a:xfrm>
            <a:off x="5418117" y="2267005"/>
            <a:ext cx="2302500" cy="21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 txBox="1"/>
          <p:nvPr>
            <p:ph type="title"/>
          </p:nvPr>
        </p:nvSpPr>
        <p:spPr>
          <a:xfrm>
            <a:off x="510242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510239" y="3223127"/>
            <a:ext cx="2287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9" name="Google Shape;169;p16"/>
          <p:cNvSpPr/>
          <p:nvPr>
            <p:ph idx="2" type="pic"/>
          </p:nvPr>
        </p:nvSpPr>
        <p:spPr>
          <a:xfrm>
            <a:off x="510239" y="1752655"/>
            <a:ext cx="2287200" cy="1143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16"/>
          <p:cNvSpPr txBox="1"/>
          <p:nvPr>
            <p:ph idx="3" type="body"/>
          </p:nvPr>
        </p:nvSpPr>
        <p:spPr>
          <a:xfrm>
            <a:off x="510239" y="3655324"/>
            <a:ext cx="22872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1" name="Google Shape;171;p16"/>
          <p:cNvSpPr txBox="1"/>
          <p:nvPr>
            <p:ph idx="4" type="body"/>
          </p:nvPr>
        </p:nvSpPr>
        <p:spPr>
          <a:xfrm>
            <a:off x="2959103" y="3223127"/>
            <a:ext cx="2297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2" name="Google Shape;172;p16"/>
          <p:cNvSpPr/>
          <p:nvPr>
            <p:ph idx="5" type="pic"/>
          </p:nvPr>
        </p:nvSpPr>
        <p:spPr>
          <a:xfrm>
            <a:off x="2959103" y="1752655"/>
            <a:ext cx="2297400" cy="1143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16"/>
          <p:cNvSpPr txBox="1"/>
          <p:nvPr>
            <p:ph idx="6" type="body"/>
          </p:nvPr>
        </p:nvSpPr>
        <p:spPr>
          <a:xfrm>
            <a:off x="2958088" y="3655323"/>
            <a:ext cx="23004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4" name="Google Shape;174;p16"/>
          <p:cNvSpPr txBox="1"/>
          <p:nvPr>
            <p:ph idx="7" type="body"/>
          </p:nvPr>
        </p:nvSpPr>
        <p:spPr>
          <a:xfrm>
            <a:off x="5423008" y="3223127"/>
            <a:ext cx="22977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5" name="Google Shape;175;p16"/>
          <p:cNvSpPr/>
          <p:nvPr>
            <p:ph idx="8" type="pic"/>
          </p:nvPr>
        </p:nvSpPr>
        <p:spPr>
          <a:xfrm>
            <a:off x="5423008" y="1752655"/>
            <a:ext cx="2297700" cy="1143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16"/>
          <p:cNvSpPr txBox="1"/>
          <p:nvPr>
            <p:ph idx="9" type="body"/>
          </p:nvPr>
        </p:nvSpPr>
        <p:spPr>
          <a:xfrm>
            <a:off x="5422915" y="3655321"/>
            <a:ext cx="23007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7" name="Google Shape;177;p16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 rot="5400000">
            <a:off x="2765687" y="-502895"/>
            <a:ext cx="2699400" cy="7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17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17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 rot="5400000">
            <a:off x="6087300" y="1402050"/>
            <a:ext cx="38301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 rot="5400000">
            <a:off x="7401300" y="4029303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 txBox="1"/>
          <p:nvPr>
            <p:ph type="title"/>
          </p:nvPr>
        </p:nvSpPr>
        <p:spPr>
          <a:xfrm rot="5400000">
            <a:off x="6366925" y="1687048"/>
            <a:ext cx="32652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 rot="5400000">
            <a:off x="1839095" y="-871652"/>
            <a:ext cx="3994800" cy="6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18"/>
          <p:cNvSpPr txBox="1"/>
          <p:nvPr>
            <p:ph idx="10" type="dt"/>
          </p:nvPr>
        </p:nvSpPr>
        <p:spPr>
          <a:xfrm>
            <a:off x="5105344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18"/>
          <p:cNvSpPr txBox="1"/>
          <p:nvPr>
            <p:ph idx="11" type="ftr"/>
          </p:nvPr>
        </p:nvSpPr>
        <p:spPr>
          <a:xfrm>
            <a:off x="510241" y="4452141"/>
            <a:ext cx="459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18"/>
          <p:cNvSpPr txBox="1"/>
          <p:nvPr>
            <p:ph idx="12" type="sldNum"/>
          </p:nvPr>
        </p:nvSpPr>
        <p:spPr>
          <a:xfrm>
            <a:off x="7573163" y="4048975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23850" lvl="1" marL="9144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5pPr>
            <a:lvl6pPr indent="-298450" lvl="5" marL="27432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05" name="Google Shape;20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06" name="Google Shape;2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1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10241" y="1752655"/>
            <a:ext cx="72105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</a:t>
            </a:r>
            <a:endParaRPr/>
          </a:p>
        </p:txBody>
      </p:sp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900"/>
              <a:t>The word character derives from the Greek verb </a:t>
            </a:r>
            <a:r>
              <a:rPr i="1" lang="en" sz="2900"/>
              <a:t>charassein</a:t>
            </a:r>
            <a:r>
              <a:rPr lang="en" sz="2900"/>
              <a:t>, meaning “to mark with a cut.”</a:t>
            </a:r>
            <a:endParaRPr sz="2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900"/>
              <a:t>Characterization is the method used by an author to develop a character.</a:t>
            </a:r>
            <a:endParaRPr sz="2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/>
              <a:t>When an author introduces the reader to the characters within the work, he or she has two choices: to use direct and indirect characterization.</a:t>
            </a:r>
            <a:endParaRPr sz="2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V. INDIRECT CHARACTERIZATION</a:t>
            </a:r>
            <a:endParaRPr/>
          </a:p>
        </p:txBody>
      </p:sp>
      <p:sp>
        <p:nvSpPr>
          <p:cNvPr id="218" name="Google Shape;218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DIRECT -</a:t>
            </a:r>
            <a:r>
              <a:rPr lang="en" sz="1300"/>
              <a:t> the author makes direct statements about the character; he or she </a:t>
            </a:r>
            <a:r>
              <a:rPr i="1" lang="en" sz="1300"/>
              <a:t>tells </a:t>
            </a:r>
            <a:r>
              <a:rPr lang="en" sz="1300"/>
              <a:t>the reader about the character.</a:t>
            </a:r>
            <a:endParaRPr sz="13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Tara is a diligent student who completes all her homework assignments and studies for the tests.</a:t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 </a:t>
            </a:r>
            <a:r>
              <a:rPr i="1" lang="en" sz="1600"/>
              <a:t>author </a:t>
            </a:r>
            <a:r>
              <a:rPr lang="en" sz="1600"/>
              <a:t>tells us that Tara is diligent.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9" name="Google Shape;219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INDIRECT </a:t>
            </a:r>
            <a:r>
              <a:rPr lang="en" sz="1600"/>
              <a:t>- </a:t>
            </a:r>
            <a:r>
              <a:rPr lang="en" sz="1300"/>
              <a:t>the author reveals information about a character and his personality through that character's appearance, actions, speech, thoughts and reactions of others to the character; he or she shows the reader about the character. Indirect characterization can be tricky because the reader must analyze the supports closely to determine the character’s personality.</a:t>
            </a:r>
            <a:endParaRPr sz="13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Tara completes all her homework assignments and studies for the tests.</a:t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 author shows Tara’s actions (completes all her homework assignments and studies for the tests), so that the </a:t>
            </a:r>
            <a:r>
              <a:rPr i="1" lang="en" sz="1600"/>
              <a:t>reader </a:t>
            </a:r>
            <a:r>
              <a:rPr lang="en" sz="1600"/>
              <a:t>can conclude that Tara is diligent.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/>
          <p:nvPr/>
        </p:nvSpPr>
        <p:spPr>
          <a:xfrm>
            <a:off x="82375" y="59625"/>
            <a:ext cx="2917500" cy="24492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physical description, such as hair and eye color, height, weight, and age</a:t>
            </a:r>
            <a:endParaRPr sz="1100"/>
          </a:p>
          <a:p>
            <a:pPr indent="-29845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fashion traits, such as conservative trendy, eclectic, or classic</a:t>
            </a:r>
            <a:endParaRPr sz="1100"/>
          </a:p>
          <a:p>
            <a:pPr indent="-29845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body language, such as folding arms</a:t>
            </a:r>
            <a:endParaRPr sz="1100"/>
          </a:p>
          <a:p>
            <a:pPr indent="-29845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facial expressions, such as rolling his or her eyes, or smiling frequently</a:t>
            </a:r>
            <a:endParaRPr sz="1100"/>
          </a:p>
        </p:txBody>
      </p:sp>
      <p:sp>
        <p:nvSpPr>
          <p:cNvPr id="225" name="Google Shape;225;p23"/>
          <p:cNvSpPr/>
          <p:nvPr/>
        </p:nvSpPr>
        <p:spPr>
          <a:xfrm>
            <a:off x="3113250" y="122550"/>
            <a:ext cx="5948100" cy="20445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Interaction with his or her environment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Behavioral traits that reveal he or she is shy, confident, socially adept, or introverted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Body and facial language habits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Special talents such as playing music, singing, writing, dancing, or acting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82375" y="2644800"/>
            <a:ext cx="2917500" cy="24492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Dialect or style of speech: formal, use of slang, or sarcastic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Words he or she uses to communicate with the other characters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Frequency of speech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3113250" y="3049425"/>
            <a:ext cx="2917500" cy="20445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Internal thoughts and/or philosophical and religious outlook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Revelations about his or her past and/or a pivotal events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How he or she feels about other characters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Hobbies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Favorite music, food, films, or video games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6144000" y="2247075"/>
            <a:ext cx="2917500" cy="28965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interaction with other characters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family role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way other characters react to him or her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Living situation: lives alone, or with a family or friends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types of people the character knows</a:t>
            </a:r>
            <a:endParaRPr sz="1100"/>
          </a:p>
          <a:p>
            <a:pPr indent="-2984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character's name and/or nickname referenced by other characters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rli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