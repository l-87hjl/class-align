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Amatic SC"/>
      <p:regular r:id="rId22"/>
      <p:bold r:id="rId23"/>
    </p:embeddedFont>
    <p:embeddedFont>
      <p:font typeface="Source Code Pr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4AA296C-58AE-419C-90CA-87C61D5CDCF4}">
  <a:tblStyle styleId="{54AA296C-58AE-419C-90CA-87C61D5CDCF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AmaticSC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SourceCodePro-regular.fntdata"/><Relationship Id="rId23" Type="http://schemas.openxmlformats.org/officeDocument/2006/relationships/font" Target="fonts/AmaticSC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SourceCodePro-italic.fntdata"/><Relationship Id="rId25" Type="http://schemas.openxmlformats.org/officeDocument/2006/relationships/font" Target="fonts/SourceCodePro-bold.fntdata"/><Relationship Id="rId27" Type="http://schemas.openxmlformats.org/officeDocument/2006/relationships/font" Target="fonts/SourceCodePro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827b15cc95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827b15cc95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Description: This is a title slide.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542c63b0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542c63b0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8862b7cba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8862b7cba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8514478f1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8514478f1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Description: This is an announcement slide.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8862b7cba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8862b7cba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Description: This is an announcement slide.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899082d59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899082d59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Description: This is an announcement slide.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99082d5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99082d5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Description: This is an announcement slide.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899082d59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899082d59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Description: This is an announcement slide.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899082d59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899082d59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Description: This is an announcement slide.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899082d59b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899082d59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Description: This is an announcement slide.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" name="Google Shape;83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21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85" name="Google Shape;85;p21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" name="Google Shape;86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87" name="Google Shape;8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90" name="Google Shape;9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23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94" name="Google Shape;9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presentation/d/1PkGHxv-7ci7oQurSGZc4I9w_VSV6IxAwMsOCth4yRaU/edit?usp=sharing" TargetMode="External"/><Relationship Id="rId4" Type="http://schemas.openxmlformats.org/officeDocument/2006/relationships/hyperlink" Target="https://docs.google.com/presentation/d/1PkGHxv-7ci7oQurSGZc4I9w_VSV6IxAwMsOCth4yRaU/edit?usp=sharing" TargetMode="External"/><Relationship Id="rId5" Type="http://schemas.openxmlformats.org/officeDocument/2006/relationships/hyperlink" Target="https://docs.google.com/presentation/d/1WpBMmXqqCwzgcW3mXVzrMDuA-7nkF5gruk1ZCpRcEBw/edit?usp=sharing" TargetMode="External"/><Relationship Id="rId6" Type="http://schemas.openxmlformats.org/officeDocument/2006/relationships/hyperlink" Target="https://docs.google.com/presentation/d/1WpBMmXqqCwzgcW3mXVzrMDuA-7nkF5gruk1ZCpRcEBw/edit?usp=sharing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Assignment Responses</a:t>
            </a:r>
            <a:endParaRPr/>
          </a:p>
        </p:txBody>
      </p:sp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Aguirre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>
            <a:hlinkClick r:id="rId3"/>
          </p:cNvPr>
          <p:cNvSpPr/>
          <p:nvPr/>
        </p:nvSpPr>
        <p:spPr>
          <a:xfrm>
            <a:off x="180250" y="1893100"/>
            <a:ext cx="2808000" cy="1119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 u="sng">
                <a:solidFill>
                  <a:schemeClr val="hlink"/>
                </a:solidFill>
                <a:highlight>
                  <a:schemeClr val="dk1"/>
                </a:highlight>
                <a:latin typeface="Amatic SC"/>
                <a:ea typeface="Amatic SC"/>
                <a:cs typeface="Amatic SC"/>
                <a:sym typeface="Amatic SC"/>
                <a:hlinkClick r:id="rId4"/>
              </a:rPr>
              <a:t>Setting Up &amp; Accessing StudySync</a:t>
            </a:r>
            <a:endParaRPr/>
          </a:p>
        </p:txBody>
      </p:sp>
      <p:sp>
        <p:nvSpPr>
          <p:cNvPr id="108" name="Google Shape;108;p26">
            <a:hlinkClick r:id="rId5"/>
          </p:cNvPr>
          <p:cNvSpPr/>
          <p:nvPr/>
        </p:nvSpPr>
        <p:spPr>
          <a:xfrm>
            <a:off x="3168000" y="1893100"/>
            <a:ext cx="2808000" cy="1119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 u="sng">
                <a:solidFill>
                  <a:schemeClr val="hlink"/>
                </a:solidFill>
                <a:highlight>
                  <a:schemeClr val="dk1"/>
                </a:highlight>
                <a:latin typeface="Amatic SC"/>
                <a:ea typeface="Amatic SC"/>
                <a:cs typeface="Amatic SC"/>
                <a:sym typeface="Amatic SC"/>
                <a:hlinkClick r:id="rId6"/>
              </a:rPr>
              <a:t>Completing StudySync Assignments</a:t>
            </a:r>
            <a:endParaRPr/>
          </a:p>
        </p:txBody>
      </p:sp>
      <p:sp>
        <p:nvSpPr>
          <p:cNvPr id="109" name="Google Shape;109;p26"/>
          <p:cNvSpPr/>
          <p:nvPr/>
        </p:nvSpPr>
        <p:spPr>
          <a:xfrm>
            <a:off x="6155750" y="1893100"/>
            <a:ext cx="2808000" cy="111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highlight>
                  <a:srgbClr val="B7B7B7"/>
                </a:highlight>
                <a:latin typeface="Amatic SC"/>
                <a:ea typeface="Amatic SC"/>
                <a:cs typeface="Amatic SC"/>
                <a:sym typeface="Amatic SC"/>
              </a:rPr>
              <a:t>Example StudySync Assignment Responses</a:t>
            </a:r>
            <a:endParaRPr>
              <a:solidFill>
                <a:schemeClr val="lt2"/>
              </a:solidFill>
              <a:highlight>
                <a:srgbClr val="B7B7B7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7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Day Examples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8"/>
          <p:cNvSpPr txBox="1"/>
          <p:nvPr>
            <p:ph type="title"/>
          </p:nvPr>
        </p:nvSpPr>
        <p:spPr>
          <a:xfrm>
            <a:off x="365425" y="193000"/>
            <a:ext cx="6933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Outline of StudySync-Related Assignments</a:t>
            </a:r>
            <a:endParaRPr b="0" sz="1400">
              <a:solidFill>
                <a:srgbClr val="00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28"/>
          <p:cNvSpPr txBox="1"/>
          <p:nvPr>
            <p:ph idx="1" type="body"/>
          </p:nvPr>
        </p:nvSpPr>
        <p:spPr>
          <a:xfrm>
            <a:off x="456600" y="948700"/>
            <a:ext cx="3761400" cy="36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21" name="Google Shape;121;p28"/>
          <p:cNvPicPr preferRelativeResize="0"/>
          <p:nvPr/>
        </p:nvPicPr>
        <p:blipFill rotWithShape="1">
          <a:blip r:embed="rId3">
            <a:alphaModFix/>
          </a:blip>
          <a:srcRect b="0" l="10089" r="6389" t="0"/>
          <a:stretch/>
        </p:blipFill>
        <p:spPr>
          <a:xfrm>
            <a:off x="1511725" y="1440400"/>
            <a:ext cx="5482825" cy="242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type="title"/>
          </p:nvPr>
        </p:nvSpPr>
        <p:spPr>
          <a:xfrm>
            <a:off x="365425" y="193000"/>
            <a:ext cx="76479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r>
              <a:rPr lang="en"/>
              <a:t>tudySync-Related Assignments As They Appear in Google Classroom </a:t>
            </a:r>
            <a:endParaRPr b="0" sz="1400">
              <a:solidFill>
                <a:srgbClr val="00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456600" y="948700"/>
            <a:ext cx="3761400" cy="36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28" name="Google Shape;12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375" y="1013604"/>
            <a:ext cx="7059600" cy="355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>
            <p:ph type="title"/>
          </p:nvPr>
        </p:nvSpPr>
        <p:spPr>
          <a:xfrm>
            <a:off x="365425" y="193000"/>
            <a:ext cx="76479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Read: Marigolds: Vocabulary Examples</a:t>
            </a:r>
            <a:endParaRPr b="0" sz="1400">
              <a:solidFill>
                <a:srgbClr val="00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34" name="Google Shape;134;p30"/>
          <p:cNvGraphicFramePr/>
          <p:nvPr/>
        </p:nvGraphicFramePr>
        <p:xfrm>
          <a:off x="430675" y="153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{54AA296C-58AE-419C-90CA-87C61D5CDCF4}</a:tableStyleId>
              </a:tblPr>
              <a:tblGrid>
                <a:gridCol w="1037025"/>
                <a:gridCol w="7177275"/>
              </a:tblGrid>
              <a:tr h="101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Excellent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1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Average +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1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Average 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35" name="Google Shape;13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700" y="1688520"/>
            <a:ext cx="7590000" cy="622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7700" y="3832114"/>
            <a:ext cx="7590000" cy="550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7700" y="2796475"/>
            <a:ext cx="7590000" cy="62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1"/>
          <p:cNvSpPr txBox="1"/>
          <p:nvPr>
            <p:ph type="title"/>
          </p:nvPr>
        </p:nvSpPr>
        <p:spPr>
          <a:xfrm>
            <a:off x="365425" y="193000"/>
            <a:ext cx="76479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Read: Marigolds: Think Questions Examples: Excellent</a:t>
            </a:r>
            <a:endParaRPr b="0" sz="1400">
              <a:solidFill>
                <a:srgbClr val="00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3" name="Google Shape;14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575" y="1051400"/>
            <a:ext cx="6891950" cy="368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2"/>
          <p:cNvSpPr txBox="1"/>
          <p:nvPr>
            <p:ph type="title"/>
          </p:nvPr>
        </p:nvSpPr>
        <p:spPr>
          <a:xfrm>
            <a:off x="365425" y="193000"/>
            <a:ext cx="76479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Read: Marigolds: </a:t>
            </a:r>
            <a:r>
              <a:rPr lang="en"/>
              <a:t>Think Questions</a:t>
            </a:r>
            <a:r>
              <a:rPr lang="en"/>
              <a:t> Examples: Average +</a:t>
            </a:r>
            <a:endParaRPr b="0" sz="1400">
              <a:solidFill>
                <a:srgbClr val="00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9" name="Google Shape;14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275" y="1374425"/>
            <a:ext cx="8007850" cy="275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"/>
          <p:cNvSpPr txBox="1"/>
          <p:nvPr>
            <p:ph type="title"/>
          </p:nvPr>
        </p:nvSpPr>
        <p:spPr>
          <a:xfrm>
            <a:off x="365425" y="193000"/>
            <a:ext cx="76479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Read: Marigolds: </a:t>
            </a:r>
            <a:r>
              <a:rPr lang="en"/>
              <a:t>Think Questions</a:t>
            </a:r>
            <a:r>
              <a:rPr lang="en"/>
              <a:t> Examples: </a:t>
            </a:r>
            <a:r>
              <a:rPr lang="en"/>
              <a:t>Average -</a:t>
            </a:r>
            <a:endParaRPr/>
          </a:p>
        </p:txBody>
      </p:sp>
      <p:pic>
        <p:nvPicPr>
          <p:cNvPr id="155" name="Google Shape;15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425" y="1411700"/>
            <a:ext cx="8327301" cy="173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4"/>
          <p:cNvSpPr txBox="1"/>
          <p:nvPr>
            <p:ph type="title"/>
          </p:nvPr>
        </p:nvSpPr>
        <p:spPr>
          <a:xfrm>
            <a:off x="365425" y="193000"/>
            <a:ext cx="85674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 - “Marigolds” - Define/Model Video &amp; Reading Notes</a:t>
            </a:r>
            <a:r>
              <a:rPr lang="en"/>
              <a:t> Examples</a:t>
            </a:r>
            <a:endParaRPr b="0" sz="1400">
              <a:solidFill>
                <a:srgbClr val="00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61" name="Google Shape;161;p34"/>
          <p:cNvGraphicFramePr/>
          <p:nvPr/>
        </p:nvGraphicFramePr>
        <p:xfrm>
          <a:off x="430675" y="153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{54AA296C-58AE-419C-90CA-87C61D5CDCF4}</a:tableStyleId>
              </a:tblPr>
              <a:tblGrid>
                <a:gridCol w="1037025"/>
                <a:gridCol w="7177275"/>
              </a:tblGrid>
              <a:tr h="101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Excellent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1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Average +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16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Average -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62" name="Google Shape;16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640" y="1183965"/>
            <a:ext cx="7478127" cy="137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3650" y="2972239"/>
            <a:ext cx="7478125" cy="595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3650" y="3850667"/>
            <a:ext cx="7478124" cy="419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